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3" r:id="rId3"/>
    <p:sldId id="275" r:id="rId4"/>
    <p:sldId id="274" r:id="rId5"/>
    <p:sldId id="257" r:id="rId6"/>
    <p:sldId id="258" r:id="rId7"/>
    <p:sldId id="259" r:id="rId8"/>
    <p:sldId id="260" r:id="rId9"/>
    <p:sldId id="261" r:id="rId10"/>
    <p:sldId id="262" r:id="rId11"/>
    <p:sldId id="263" r:id="rId12"/>
    <p:sldId id="264" r:id="rId13"/>
    <p:sldId id="265" r:id="rId14"/>
    <p:sldId id="266" r:id="rId15"/>
    <p:sldId id="277" r:id="rId16"/>
    <p:sldId id="390" r:id="rId17"/>
    <p:sldId id="403" r:id="rId18"/>
    <p:sldId id="272" r:id="rId19"/>
    <p:sldId id="267" r:id="rId20"/>
    <p:sldId id="276" r:id="rId21"/>
    <p:sldId id="278" r:id="rId22"/>
    <p:sldId id="424" r:id="rId23"/>
    <p:sldId id="426" r:id="rId24"/>
    <p:sldId id="433" r:id="rId25"/>
    <p:sldId id="434" r:id="rId26"/>
    <p:sldId id="435" r:id="rId27"/>
    <p:sldId id="436" r:id="rId28"/>
    <p:sldId id="437" r:id="rId29"/>
    <p:sldId id="438" r:id="rId30"/>
    <p:sldId id="440" r:id="rId31"/>
    <p:sldId id="439" r:id="rId32"/>
    <p:sldId id="542" r:id="rId33"/>
    <p:sldId id="578" r:id="rId34"/>
    <p:sldId id="579" r:id="rId35"/>
    <p:sldId id="580" r:id="rId36"/>
    <p:sldId id="581" r:id="rId37"/>
    <p:sldId id="408" r:id="rId38"/>
    <p:sldId id="410" r:id="rId39"/>
    <p:sldId id="583" r:id="rId40"/>
    <p:sldId id="293" r:id="rId41"/>
    <p:sldId id="295" r:id="rId42"/>
    <p:sldId id="297" r:id="rId43"/>
    <p:sldId id="361" r:id="rId44"/>
    <p:sldId id="296" r:id="rId45"/>
    <p:sldId id="362" r:id="rId46"/>
    <p:sldId id="363" r:id="rId47"/>
    <p:sldId id="364" r:id="rId48"/>
    <p:sldId id="365" r:id="rId49"/>
    <p:sldId id="298" r:id="rId50"/>
    <p:sldId id="366" r:id="rId51"/>
    <p:sldId id="299" r:id="rId52"/>
    <p:sldId id="369" r:id="rId53"/>
    <p:sldId id="367" r:id="rId54"/>
    <p:sldId id="368" r:id="rId55"/>
    <p:sldId id="582" r:id="rId56"/>
    <p:sldId id="584" r:id="rId57"/>
    <p:sldId id="585" r:id="rId58"/>
    <p:sldId id="586" r:id="rId59"/>
    <p:sldId id="587" r:id="rId60"/>
    <p:sldId id="588" r:id="rId61"/>
    <p:sldId id="589" r:id="rId62"/>
    <p:sldId id="590" r:id="rId63"/>
    <p:sldId id="307" r:id="rId64"/>
    <p:sldId id="591" r:id="rId65"/>
    <p:sldId id="592" r:id="rId66"/>
    <p:sldId id="593" r:id="rId67"/>
    <p:sldId id="594" r:id="rId68"/>
    <p:sldId id="595" r:id="rId69"/>
    <p:sldId id="596" r:id="rId70"/>
    <p:sldId id="597" r:id="rId71"/>
    <p:sldId id="598" r:id="rId72"/>
    <p:sldId id="599" r:id="rId73"/>
    <p:sldId id="600" r:id="rId74"/>
    <p:sldId id="422" r:id="rId75"/>
    <p:sldId id="601" r:id="rId76"/>
    <p:sldId id="609" r:id="rId77"/>
    <p:sldId id="610" r:id="rId78"/>
    <p:sldId id="611" r:id="rId79"/>
    <p:sldId id="612" r:id="rId80"/>
    <p:sldId id="613" r:id="rId81"/>
    <p:sldId id="614" r:id="rId82"/>
    <p:sldId id="615" r:id="rId83"/>
    <p:sldId id="634" r:id="rId84"/>
    <p:sldId id="616" r:id="rId85"/>
    <p:sldId id="617" r:id="rId86"/>
    <p:sldId id="618" r:id="rId87"/>
    <p:sldId id="635" r:id="rId88"/>
    <p:sldId id="620" r:id="rId89"/>
    <p:sldId id="621" r:id="rId90"/>
    <p:sldId id="622" r:id="rId91"/>
    <p:sldId id="411" r:id="rId92"/>
    <p:sldId id="412" r:id="rId93"/>
    <p:sldId id="413" r:id="rId94"/>
    <p:sldId id="414" r:id="rId95"/>
    <p:sldId id="415" r:id="rId96"/>
    <p:sldId id="432" r:id="rId97"/>
    <p:sldId id="602" r:id="rId98"/>
    <p:sldId id="425" r:id="rId99"/>
    <p:sldId id="603" r:id="rId100"/>
    <p:sldId id="604" r:id="rId101"/>
    <p:sldId id="606" r:id="rId102"/>
    <p:sldId id="605" r:id="rId103"/>
    <p:sldId id="623" r:id="rId104"/>
    <p:sldId id="625" r:id="rId105"/>
    <p:sldId id="624" r:id="rId106"/>
    <p:sldId id="626" r:id="rId107"/>
    <p:sldId id="627" r:id="rId108"/>
    <p:sldId id="628" r:id="rId109"/>
    <p:sldId id="629" r:id="rId110"/>
    <p:sldId id="636" r:id="rId111"/>
    <p:sldId id="637" r:id="rId112"/>
    <p:sldId id="638" r:id="rId113"/>
    <p:sldId id="639" r:id="rId1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6" d="100"/>
          <a:sy n="96" d="100"/>
        </p:scale>
        <p:origin x="1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heme" Target="theme/theme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sikumar Janarthanan" userId="296ae2378136960a" providerId="LiveId" clId="{54DC0CE3-E777-4C34-BFDA-37F2D7FB8F35}"/>
    <pc:docChg chg="custSel modSld">
      <pc:chgData name="Sasikumar Janarthanan" userId="296ae2378136960a" providerId="LiveId" clId="{54DC0CE3-E777-4C34-BFDA-37F2D7FB8F35}" dt="2023-07-22T07:35:11.667" v="9" actId="113"/>
      <pc:docMkLst>
        <pc:docMk/>
      </pc:docMkLst>
      <pc:sldChg chg="delSp modSp mod">
        <pc:chgData name="Sasikumar Janarthanan" userId="296ae2378136960a" providerId="LiveId" clId="{54DC0CE3-E777-4C34-BFDA-37F2D7FB8F35}" dt="2023-07-22T07:35:11.667" v="9" actId="113"/>
        <pc:sldMkLst>
          <pc:docMk/>
          <pc:sldMk cId="2520747833" sldId="593"/>
        </pc:sldMkLst>
        <pc:spChg chg="del mod">
          <ac:chgData name="Sasikumar Janarthanan" userId="296ae2378136960a" providerId="LiveId" clId="{54DC0CE3-E777-4C34-BFDA-37F2D7FB8F35}" dt="2023-07-22T07:34:45.179" v="2" actId="478"/>
          <ac:spMkLst>
            <pc:docMk/>
            <pc:sldMk cId="2520747833" sldId="593"/>
            <ac:spMk id="2" creationId="{38C805D9-FD29-CEB1-DD2E-035CF147B66C}"/>
          </ac:spMkLst>
        </pc:spChg>
        <pc:spChg chg="mod">
          <ac:chgData name="Sasikumar Janarthanan" userId="296ae2378136960a" providerId="LiveId" clId="{54DC0CE3-E777-4C34-BFDA-37F2D7FB8F35}" dt="2023-07-22T07:35:11.667" v="9" actId="113"/>
          <ac:spMkLst>
            <pc:docMk/>
            <pc:sldMk cId="2520747833" sldId="593"/>
            <ac:spMk id="3" creationId="{2DA88DD5-9DF4-70B8-2228-008E92B382AD}"/>
          </ac:spMkLst>
        </pc:spChg>
      </pc:sldChg>
    </pc:docChg>
  </pc:docChgLst>
  <pc:docChgLst>
    <pc:chgData name="Sasikumar Janarthanan" userId="296ae2378136960a" providerId="LiveId" clId="{F839DDCC-8BEA-438E-83EE-26ED482D6429}"/>
    <pc:docChg chg="delSld">
      <pc:chgData name="Sasikumar Janarthanan" userId="296ae2378136960a" providerId="LiveId" clId="{F839DDCC-8BEA-438E-83EE-26ED482D6429}" dt="2023-10-07T03:58:47.480" v="1" actId="47"/>
      <pc:docMkLst>
        <pc:docMk/>
      </pc:docMkLst>
      <pc:sldChg chg="del">
        <pc:chgData name="Sasikumar Janarthanan" userId="296ae2378136960a" providerId="LiveId" clId="{F839DDCC-8BEA-438E-83EE-26ED482D6429}" dt="2023-10-07T03:58:46.366" v="0" actId="47"/>
        <pc:sldMkLst>
          <pc:docMk/>
          <pc:sldMk cId="2275399633" sldId="416"/>
        </pc:sldMkLst>
      </pc:sldChg>
      <pc:sldChg chg="del">
        <pc:chgData name="Sasikumar Janarthanan" userId="296ae2378136960a" providerId="LiveId" clId="{F839DDCC-8BEA-438E-83EE-26ED482D6429}" dt="2023-10-07T03:58:47.480" v="1" actId="47"/>
        <pc:sldMkLst>
          <pc:docMk/>
          <pc:sldMk cId="1976886464" sldId="423"/>
        </pc:sldMkLst>
      </pc:sldChg>
    </pc:docChg>
  </pc:docChgLst>
  <pc:docChgLst>
    <pc:chgData name="Sasikumar Janarthanan" userId="296ae2378136960a" providerId="LiveId" clId="{16C430CD-1CD1-4498-83D7-32D839F3F1F8}"/>
    <pc:docChg chg="modSld">
      <pc:chgData name="Sasikumar Janarthanan" userId="296ae2378136960a" providerId="LiveId" clId="{16C430CD-1CD1-4498-83D7-32D839F3F1F8}" dt="2023-07-26T11:49:54.935" v="0" actId="1076"/>
      <pc:docMkLst>
        <pc:docMk/>
      </pc:docMkLst>
      <pc:sldChg chg="modSp mod">
        <pc:chgData name="Sasikumar Janarthanan" userId="296ae2378136960a" providerId="LiveId" clId="{16C430CD-1CD1-4498-83D7-32D839F3F1F8}" dt="2023-07-26T11:49:54.935" v="0" actId="1076"/>
        <pc:sldMkLst>
          <pc:docMk/>
          <pc:sldMk cId="2332945818" sldId="425"/>
        </pc:sldMkLst>
        <pc:spChg chg="mod">
          <ac:chgData name="Sasikumar Janarthanan" userId="296ae2378136960a" providerId="LiveId" clId="{16C430CD-1CD1-4498-83D7-32D839F3F1F8}" dt="2023-07-26T11:49:54.935" v="0" actId="1076"/>
          <ac:spMkLst>
            <pc:docMk/>
            <pc:sldMk cId="2332945818" sldId="425"/>
            <ac:spMk id="3" creationId="{2ED8F5D1-19E3-5C1C-C41C-6C17B35EF0F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02539-F869-9C27-2F4C-61F7525AB5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11F08F8-CF94-2A06-D5AC-63C1D3B381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A0CD244-2373-E636-3AFC-F634566C9EF3}"/>
              </a:ext>
            </a:extLst>
          </p:cNvPr>
          <p:cNvSpPr>
            <a:spLocks noGrp="1"/>
          </p:cNvSpPr>
          <p:nvPr>
            <p:ph type="dt" sz="half" idx="10"/>
          </p:nvPr>
        </p:nvSpPr>
        <p:spPr/>
        <p:txBody>
          <a:bodyPr/>
          <a:lstStyle/>
          <a:p>
            <a:fld id="{19BC9A33-2B21-45B1-B715-0B084C44A8B9}" type="datetimeFigureOut">
              <a:rPr lang="en-IN" smtClean="0"/>
              <a:t>24-04-2026</a:t>
            </a:fld>
            <a:endParaRPr lang="en-IN"/>
          </a:p>
        </p:txBody>
      </p:sp>
      <p:sp>
        <p:nvSpPr>
          <p:cNvPr id="5" name="Footer Placeholder 4">
            <a:extLst>
              <a:ext uri="{FF2B5EF4-FFF2-40B4-BE49-F238E27FC236}">
                <a16:creationId xmlns:a16="http://schemas.microsoft.com/office/drawing/2014/main" id="{07496FD1-89BD-4DB3-0039-5E84E71A50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1F6AB3-2F1A-D156-D73C-BF023AAAC4EA}"/>
              </a:ext>
            </a:extLst>
          </p:cNvPr>
          <p:cNvSpPr>
            <a:spLocks noGrp="1"/>
          </p:cNvSpPr>
          <p:nvPr>
            <p:ph type="sldNum" sz="quarter" idx="12"/>
          </p:nvPr>
        </p:nvSpPr>
        <p:spPr/>
        <p:txBody>
          <a:bodyPr/>
          <a:lstStyle/>
          <a:p>
            <a:fld id="{7423C19E-82DB-4727-9C7D-61BCAC72EA80}" type="slidenum">
              <a:rPr lang="en-IN" smtClean="0"/>
              <a:t>‹#›</a:t>
            </a:fld>
            <a:endParaRPr lang="en-IN"/>
          </a:p>
        </p:txBody>
      </p:sp>
    </p:spTree>
    <p:extLst>
      <p:ext uri="{BB962C8B-B14F-4D97-AF65-F5344CB8AC3E}">
        <p14:creationId xmlns:p14="http://schemas.microsoft.com/office/powerpoint/2010/main" val="268874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E809C-D106-BB8D-AC22-3506CB47877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3E9C893-82B6-DC51-87F9-58751E0A03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AD206E-B760-55D5-2A81-5CC550AB9C27}"/>
              </a:ext>
            </a:extLst>
          </p:cNvPr>
          <p:cNvSpPr>
            <a:spLocks noGrp="1"/>
          </p:cNvSpPr>
          <p:nvPr>
            <p:ph type="dt" sz="half" idx="10"/>
          </p:nvPr>
        </p:nvSpPr>
        <p:spPr/>
        <p:txBody>
          <a:bodyPr/>
          <a:lstStyle/>
          <a:p>
            <a:fld id="{19BC9A33-2B21-45B1-B715-0B084C44A8B9}" type="datetimeFigureOut">
              <a:rPr lang="en-IN" smtClean="0"/>
              <a:t>24-04-2026</a:t>
            </a:fld>
            <a:endParaRPr lang="en-IN"/>
          </a:p>
        </p:txBody>
      </p:sp>
      <p:sp>
        <p:nvSpPr>
          <p:cNvPr id="5" name="Footer Placeholder 4">
            <a:extLst>
              <a:ext uri="{FF2B5EF4-FFF2-40B4-BE49-F238E27FC236}">
                <a16:creationId xmlns:a16="http://schemas.microsoft.com/office/drawing/2014/main" id="{F3AED0C5-2266-81A7-F708-28C9B24CBF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2D7BFF-731B-8D9E-274B-BA71C7FADDF6}"/>
              </a:ext>
            </a:extLst>
          </p:cNvPr>
          <p:cNvSpPr>
            <a:spLocks noGrp="1"/>
          </p:cNvSpPr>
          <p:nvPr>
            <p:ph type="sldNum" sz="quarter" idx="12"/>
          </p:nvPr>
        </p:nvSpPr>
        <p:spPr/>
        <p:txBody>
          <a:bodyPr/>
          <a:lstStyle/>
          <a:p>
            <a:fld id="{7423C19E-82DB-4727-9C7D-61BCAC72EA80}" type="slidenum">
              <a:rPr lang="en-IN" smtClean="0"/>
              <a:t>‹#›</a:t>
            </a:fld>
            <a:endParaRPr lang="en-IN"/>
          </a:p>
        </p:txBody>
      </p:sp>
    </p:spTree>
    <p:extLst>
      <p:ext uri="{BB962C8B-B14F-4D97-AF65-F5344CB8AC3E}">
        <p14:creationId xmlns:p14="http://schemas.microsoft.com/office/powerpoint/2010/main" val="34666619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3698D-8345-AE55-5226-F6ED2511A3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56E00E5-3B67-DEBD-7758-ED787DE0572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BBCCDB0-CB44-147C-472F-C35B87902598}"/>
              </a:ext>
            </a:extLst>
          </p:cNvPr>
          <p:cNvSpPr>
            <a:spLocks noGrp="1"/>
          </p:cNvSpPr>
          <p:nvPr>
            <p:ph type="dt" sz="half" idx="10"/>
          </p:nvPr>
        </p:nvSpPr>
        <p:spPr/>
        <p:txBody>
          <a:bodyPr/>
          <a:lstStyle/>
          <a:p>
            <a:fld id="{19BC9A33-2B21-45B1-B715-0B084C44A8B9}" type="datetimeFigureOut">
              <a:rPr lang="en-IN" smtClean="0"/>
              <a:t>24-04-2026</a:t>
            </a:fld>
            <a:endParaRPr lang="en-IN"/>
          </a:p>
        </p:txBody>
      </p:sp>
      <p:sp>
        <p:nvSpPr>
          <p:cNvPr id="5" name="Footer Placeholder 4">
            <a:extLst>
              <a:ext uri="{FF2B5EF4-FFF2-40B4-BE49-F238E27FC236}">
                <a16:creationId xmlns:a16="http://schemas.microsoft.com/office/drawing/2014/main" id="{35B4CFDA-DDE2-C14A-6137-ABC0D184DE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1FFC22-C758-1288-1A64-A3025FC7147A}"/>
              </a:ext>
            </a:extLst>
          </p:cNvPr>
          <p:cNvSpPr>
            <a:spLocks noGrp="1"/>
          </p:cNvSpPr>
          <p:nvPr>
            <p:ph type="sldNum" sz="quarter" idx="12"/>
          </p:nvPr>
        </p:nvSpPr>
        <p:spPr/>
        <p:txBody>
          <a:bodyPr/>
          <a:lstStyle/>
          <a:p>
            <a:fld id="{7423C19E-82DB-4727-9C7D-61BCAC72EA80}" type="slidenum">
              <a:rPr lang="en-IN" smtClean="0"/>
              <a:t>‹#›</a:t>
            </a:fld>
            <a:endParaRPr lang="en-IN"/>
          </a:p>
        </p:txBody>
      </p:sp>
    </p:spTree>
    <p:extLst>
      <p:ext uri="{BB962C8B-B14F-4D97-AF65-F5344CB8AC3E}">
        <p14:creationId xmlns:p14="http://schemas.microsoft.com/office/powerpoint/2010/main" val="1547043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DEDB2-DF52-A408-102B-6D78228840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68E4D96-10D2-505B-EE73-BBAB602C853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FD285FA-B9B2-32F7-A8E8-09D81A7DB9B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BABB6E6-61F0-DEE7-734F-2329CF95CBB4}"/>
              </a:ext>
            </a:extLst>
          </p:cNvPr>
          <p:cNvSpPr>
            <a:spLocks noGrp="1"/>
          </p:cNvSpPr>
          <p:nvPr>
            <p:ph type="dt" sz="half" idx="10"/>
          </p:nvPr>
        </p:nvSpPr>
        <p:spPr/>
        <p:txBody>
          <a:bodyPr/>
          <a:lstStyle/>
          <a:p>
            <a:fld id="{19BC9A33-2B21-45B1-B715-0B084C44A8B9}" type="datetimeFigureOut">
              <a:rPr lang="en-IN" smtClean="0"/>
              <a:t>24-04-2026</a:t>
            </a:fld>
            <a:endParaRPr lang="en-IN"/>
          </a:p>
        </p:txBody>
      </p:sp>
      <p:sp>
        <p:nvSpPr>
          <p:cNvPr id="6" name="Footer Placeholder 5">
            <a:extLst>
              <a:ext uri="{FF2B5EF4-FFF2-40B4-BE49-F238E27FC236}">
                <a16:creationId xmlns:a16="http://schemas.microsoft.com/office/drawing/2014/main" id="{9D8CC5E5-1997-45E0-C833-938D1EECC7F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6199DD8-A69A-6CE1-43F9-629C38E8E936}"/>
              </a:ext>
            </a:extLst>
          </p:cNvPr>
          <p:cNvSpPr>
            <a:spLocks noGrp="1"/>
          </p:cNvSpPr>
          <p:nvPr>
            <p:ph type="sldNum" sz="quarter" idx="12"/>
          </p:nvPr>
        </p:nvSpPr>
        <p:spPr/>
        <p:txBody>
          <a:bodyPr/>
          <a:lstStyle/>
          <a:p>
            <a:fld id="{7423C19E-82DB-4727-9C7D-61BCAC72EA80}" type="slidenum">
              <a:rPr lang="en-IN" smtClean="0"/>
              <a:t>‹#›</a:t>
            </a:fld>
            <a:endParaRPr lang="en-IN"/>
          </a:p>
        </p:txBody>
      </p:sp>
    </p:spTree>
    <p:extLst>
      <p:ext uri="{BB962C8B-B14F-4D97-AF65-F5344CB8AC3E}">
        <p14:creationId xmlns:p14="http://schemas.microsoft.com/office/powerpoint/2010/main" val="3712915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43BCA-04B8-146C-CED2-D6EF9DD81D0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2664E50-52E4-59EC-9AB8-FFF48D293E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67EB1C-37F8-F465-7A15-E57175CC9C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014F672-8061-3720-CFEA-46918C967A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9ED00AF-2C37-C28F-2DB3-740E30E67C3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AB665F8-5980-F447-0D44-D3E36C25D0BB}"/>
              </a:ext>
            </a:extLst>
          </p:cNvPr>
          <p:cNvSpPr>
            <a:spLocks noGrp="1"/>
          </p:cNvSpPr>
          <p:nvPr>
            <p:ph type="dt" sz="half" idx="10"/>
          </p:nvPr>
        </p:nvSpPr>
        <p:spPr/>
        <p:txBody>
          <a:bodyPr/>
          <a:lstStyle/>
          <a:p>
            <a:fld id="{19BC9A33-2B21-45B1-B715-0B084C44A8B9}" type="datetimeFigureOut">
              <a:rPr lang="en-IN" smtClean="0"/>
              <a:t>24-04-2026</a:t>
            </a:fld>
            <a:endParaRPr lang="en-IN"/>
          </a:p>
        </p:txBody>
      </p:sp>
      <p:sp>
        <p:nvSpPr>
          <p:cNvPr id="8" name="Footer Placeholder 7">
            <a:extLst>
              <a:ext uri="{FF2B5EF4-FFF2-40B4-BE49-F238E27FC236}">
                <a16:creationId xmlns:a16="http://schemas.microsoft.com/office/drawing/2014/main" id="{6EA9B8E6-DE52-D088-4CEC-F74146A1E2E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926D24E-F877-5A7A-C1AE-1BB2F8492FBB}"/>
              </a:ext>
            </a:extLst>
          </p:cNvPr>
          <p:cNvSpPr>
            <a:spLocks noGrp="1"/>
          </p:cNvSpPr>
          <p:nvPr>
            <p:ph type="sldNum" sz="quarter" idx="12"/>
          </p:nvPr>
        </p:nvSpPr>
        <p:spPr/>
        <p:txBody>
          <a:bodyPr/>
          <a:lstStyle/>
          <a:p>
            <a:fld id="{7423C19E-82DB-4727-9C7D-61BCAC72EA80}" type="slidenum">
              <a:rPr lang="en-IN" smtClean="0"/>
              <a:t>‹#›</a:t>
            </a:fld>
            <a:endParaRPr lang="en-IN"/>
          </a:p>
        </p:txBody>
      </p:sp>
    </p:spTree>
    <p:extLst>
      <p:ext uri="{BB962C8B-B14F-4D97-AF65-F5344CB8AC3E}">
        <p14:creationId xmlns:p14="http://schemas.microsoft.com/office/powerpoint/2010/main" val="40372706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2DC58-14C6-0CE0-23C5-0BE920F17CE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4F465DA-80AB-A41D-E236-AFC2BC40D65C}"/>
              </a:ext>
            </a:extLst>
          </p:cNvPr>
          <p:cNvSpPr>
            <a:spLocks noGrp="1"/>
          </p:cNvSpPr>
          <p:nvPr>
            <p:ph type="dt" sz="half" idx="10"/>
          </p:nvPr>
        </p:nvSpPr>
        <p:spPr/>
        <p:txBody>
          <a:bodyPr/>
          <a:lstStyle/>
          <a:p>
            <a:fld id="{19BC9A33-2B21-45B1-B715-0B084C44A8B9}" type="datetimeFigureOut">
              <a:rPr lang="en-IN" smtClean="0"/>
              <a:t>24-04-2026</a:t>
            </a:fld>
            <a:endParaRPr lang="en-IN"/>
          </a:p>
        </p:txBody>
      </p:sp>
      <p:sp>
        <p:nvSpPr>
          <p:cNvPr id="4" name="Footer Placeholder 3">
            <a:extLst>
              <a:ext uri="{FF2B5EF4-FFF2-40B4-BE49-F238E27FC236}">
                <a16:creationId xmlns:a16="http://schemas.microsoft.com/office/drawing/2014/main" id="{F4EF53B0-A98F-7BBE-2686-4058E919569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F522684-9043-EC41-E90E-FEC350A5D20E}"/>
              </a:ext>
            </a:extLst>
          </p:cNvPr>
          <p:cNvSpPr>
            <a:spLocks noGrp="1"/>
          </p:cNvSpPr>
          <p:nvPr>
            <p:ph type="sldNum" sz="quarter" idx="12"/>
          </p:nvPr>
        </p:nvSpPr>
        <p:spPr/>
        <p:txBody>
          <a:bodyPr/>
          <a:lstStyle/>
          <a:p>
            <a:fld id="{7423C19E-82DB-4727-9C7D-61BCAC72EA80}" type="slidenum">
              <a:rPr lang="en-IN" smtClean="0"/>
              <a:t>‹#›</a:t>
            </a:fld>
            <a:endParaRPr lang="en-IN"/>
          </a:p>
        </p:txBody>
      </p:sp>
    </p:spTree>
    <p:extLst>
      <p:ext uri="{BB962C8B-B14F-4D97-AF65-F5344CB8AC3E}">
        <p14:creationId xmlns:p14="http://schemas.microsoft.com/office/powerpoint/2010/main" val="26171398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14B0B8-8C8B-F623-278D-DE815DB62B59}"/>
              </a:ext>
            </a:extLst>
          </p:cNvPr>
          <p:cNvSpPr>
            <a:spLocks noGrp="1"/>
          </p:cNvSpPr>
          <p:nvPr>
            <p:ph type="dt" sz="half" idx="10"/>
          </p:nvPr>
        </p:nvSpPr>
        <p:spPr/>
        <p:txBody>
          <a:bodyPr/>
          <a:lstStyle/>
          <a:p>
            <a:fld id="{19BC9A33-2B21-45B1-B715-0B084C44A8B9}" type="datetimeFigureOut">
              <a:rPr lang="en-IN" smtClean="0"/>
              <a:t>24-04-2026</a:t>
            </a:fld>
            <a:endParaRPr lang="en-IN"/>
          </a:p>
        </p:txBody>
      </p:sp>
      <p:sp>
        <p:nvSpPr>
          <p:cNvPr id="3" name="Footer Placeholder 2">
            <a:extLst>
              <a:ext uri="{FF2B5EF4-FFF2-40B4-BE49-F238E27FC236}">
                <a16:creationId xmlns:a16="http://schemas.microsoft.com/office/drawing/2014/main" id="{E36B95E9-27EF-6BBD-C6D6-5F92CAC865D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1C458D7-49D6-7A93-34F8-A16DF71C140B}"/>
              </a:ext>
            </a:extLst>
          </p:cNvPr>
          <p:cNvSpPr>
            <a:spLocks noGrp="1"/>
          </p:cNvSpPr>
          <p:nvPr>
            <p:ph type="sldNum" sz="quarter" idx="12"/>
          </p:nvPr>
        </p:nvSpPr>
        <p:spPr/>
        <p:txBody>
          <a:bodyPr/>
          <a:lstStyle/>
          <a:p>
            <a:fld id="{7423C19E-82DB-4727-9C7D-61BCAC72EA80}" type="slidenum">
              <a:rPr lang="en-IN" smtClean="0"/>
              <a:t>‹#›</a:t>
            </a:fld>
            <a:endParaRPr lang="en-IN"/>
          </a:p>
        </p:txBody>
      </p:sp>
    </p:spTree>
    <p:extLst>
      <p:ext uri="{BB962C8B-B14F-4D97-AF65-F5344CB8AC3E}">
        <p14:creationId xmlns:p14="http://schemas.microsoft.com/office/powerpoint/2010/main" val="4294884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84FDC-3957-BFA6-FA94-6B88E29A1D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3A788E8-0BD9-54A5-CF9A-9085E7699C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6337000-869A-ED7F-C432-BE3BF1E5D0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9CFF85-4655-431B-ACF6-7AE8DF680C5E}"/>
              </a:ext>
            </a:extLst>
          </p:cNvPr>
          <p:cNvSpPr>
            <a:spLocks noGrp="1"/>
          </p:cNvSpPr>
          <p:nvPr>
            <p:ph type="dt" sz="half" idx="10"/>
          </p:nvPr>
        </p:nvSpPr>
        <p:spPr/>
        <p:txBody>
          <a:bodyPr/>
          <a:lstStyle/>
          <a:p>
            <a:fld id="{19BC9A33-2B21-45B1-B715-0B084C44A8B9}" type="datetimeFigureOut">
              <a:rPr lang="en-IN" smtClean="0"/>
              <a:t>24-04-2026</a:t>
            </a:fld>
            <a:endParaRPr lang="en-IN"/>
          </a:p>
        </p:txBody>
      </p:sp>
      <p:sp>
        <p:nvSpPr>
          <p:cNvPr id="6" name="Footer Placeholder 5">
            <a:extLst>
              <a:ext uri="{FF2B5EF4-FFF2-40B4-BE49-F238E27FC236}">
                <a16:creationId xmlns:a16="http://schemas.microsoft.com/office/drawing/2014/main" id="{E0CDD128-A9C4-286C-B131-8A1232EFC56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F5F077C-793E-4F8D-030B-8D6EE549760D}"/>
              </a:ext>
            </a:extLst>
          </p:cNvPr>
          <p:cNvSpPr>
            <a:spLocks noGrp="1"/>
          </p:cNvSpPr>
          <p:nvPr>
            <p:ph type="sldNum" sz="quarter" idx="12"/>
          </p:nvPr>
        </p:nvSpPr>
        <p:spPr/>
        <p:txBody>
          <a:bodyPr/>
          <a:lstStyle/>
          <a:p>
            <a:fld id="{7423C19E-82DB-4727-9C7D-61BCAC72EA80}" type="slidenum">
              <a:rPr lang="en-IN" smtClean="0"/>
              <a:t>‹#›</a:t>
            </a:fld>
            <a:endParaRPr lang="en-IN"/>
          </a:p>
        </p:txBody>
      </p:sp>
    </p:spTree>
    <p:extLst>
      <p:ext uri="{BB962C8B-B14F-4D97-AF65-F5344CB8AC3E}">
        <p14:creationId xmlns:p14="http://schemas.microsoft.com/office/powerpoint/2010/main" val="884812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FDA20-A052-8990-C33D-F7E8A8C4B8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B672159-A2FD-D0E4-930C-1149EFDB46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A77C672-2B7D-F575-2F2F-47760F13E6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E9E1E3-9824-9977-C7F1-657D85F48F38}"/>
              </a:ext>
            </a:extLst>
          </p:cNvPr>
          <p:cNvSpPr>
            <a:spLocks noGrp="1"/>
          </p:cNvSpPr>
          <p:nvPr>
            <p:ph type="dt" sz="half" idx="10"/>
          </p:nvPr>
        </p:nvSpPr>
        <p:spPr/>
        <p:txBody>
          <a:bodyPr/>
          <a:lstStyle/>
          <a:p>
            <a:fld id="{19BC9A33-2B21-45B1-B715-0B084C44A8B9}" type="datetimeFigureOut">
              <a:rPr lang="en-IN" smtClean="0"/>
              <a:t>24-04-2026</a:t>
            </a:fld>
            <a:endParaRPr lang="en-IN"/>
          </a:p>
        </p:txBody>
      </p:sp>
      <p:sp>
        <p:nvSpPr>
          <p:cNvPr id="6" name="Footer Placeholder 5">
            <a:extLst>
              <a:ext uri="{FF2B5EF4-FFF2-40B4-BE49-F238E27FC236}">
                <a16:creationId xmlns:a16="http://schemas.microsoft.com/office/drawing/2014/main" id="{D94409C6-6E4D-3FF3-2C10-F7B9EC3780E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71F2C49-0991-CBF7-ED8E-8ABC428DF396}"/>
              </a:ext>
            </a:extLst>
          </p:cNvPr>
          <p:cNvSpPr>
            <a:spLocks noGrp="1"/>
          </p:cNvSpPr>
          <p:nvPr>
            <p:ph type="sldNum" sz="quarter" idx="12"/>
          </p:nvPr>
        </p:nvSpPr>
        <p:spPr/>
        <p:txBody>
          <a:bodyPr/>
          <a:lstStyle/>
          <a:p>
            <a:fld id="{7423C19E-82DB-4727-9C7D-61BCAC72EA80}" type="slidenum">
              <a:rPr lang="en-IN" smtClean="0"/>
              <a:t>‹#›</a:t>
            </a:fld>
            <a:endParaRPr lang="en-IN"/>
          </a:p>
        </p:txBody>
      </p:sp>
    </p:spTree>
    <p:extLst>
      <p:ext uri="{BB962C8B-B14F-4D97-AF65-F5344CB8AC3E}">
        <p14:creationId xmlns:p14="http://schemas.microsoft.com/office/powerpoint/2010/main" val="3174283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B93A3-94D8-AB1C-A9D6-F6BBE2E398A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859D281-EFBE-800E-DA58-5792E616076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1AE44C-014D-7677-24A6-75B894861959}"/>
              </a:ext>
            </a:extLst>
          </p:cNvPr>
          <p:cNvSpPr>
            <a:spLocks noGrp="1"/>
          </p:cNvSpPr>
          <p:nvPr>
            <p:ph type="dt" sz="half" idx="10"/>
          </p:nvPr>
        </p:nvSpPr>
        <p:spPr/>
        <p:txBody>
          <a:bodyPr/>
          <a:lstStyle/>
          <a:p>
            <a:fld id="{19BC9A33-2B21-45B1-B715-0B084C44A8B9}" type="datetimeFigureOut">
              <a:rPr lang="en-IN" smtClean="0"/>
              <a:t>24-04-2026</a:t>
            </a:fld>
            <a:endParaRPr lang="en-IN"/>
          </a:p>
        </p:txBody>
      </p:sp>
      <p:sp>
        <p:nvSpPr>
          <p:cNvPr id="5" name="Footer Placeholder 4">
            <a:extLst>
              <a:ext uri="{FF2B5EF4-FFF2-40B4-BE49-F238E27FC236}">
                <a16:creationId xmlns:a16="http://schemas.microsoft.com/office/drawing/2014/main" id="{FDAB74EA-434C-1651-04B7-A879B2A3B6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91163C-FD0A-868C-22FC-64AF0ECF57A9}"/>
              </a:ext>
            </a:extLst>
          </p:cNvPr>
          <p:cNvSpPr>
            <a:spLocks noGrp="1"/>
          </p:cNvSpPr>
          <p:nvPr>
            <p:ph type="sldNum" sz="quarter" idx="12"/>
          </p:nvPr>
        </p:nvSpPr>
        <p:spPr/>
        <p:txBody>
          <a:bodyPr/>
          <a:lstStyle/>
          <a:p>
            <a:fld id="{7423C19E-82DB-4727-9C7D-61BCAC72EA80}" type="slidenum">
              <a:rPr lang="en-IN" smtClean="0"/>
              <a:t>‹#›</a:t>
            </a:fld>
            <a:endParaRPr lang="en-IN"/>
          </a:p>
        </p:txBody>
      </p:sp>
    </p:spTree>
    <p:extLst>
      <p:ext uri="{BB962C8B-B14F-4D97-AF65-F5344CB8AC3E}">
        <p14:creationId xmlns:p14="http://schemas.microsoft.com/office/powerpoint/2010/main" val="87887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055A73-4C3B-C525-940D-AF8C75B4D77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585AF65-23C1-55D7-0715-805CEA9F4B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8916A4-4AF2-BD1E-152A-F6D6CCD20308}"/>
              </a:ext>
            </a:extLst>
          </p:cNvPr>
          <p:cNvSpPr>
            <a:spLocks noGrp="1"/>
          </p:cNvSpPr>
          <p:nvPr>
            <p:ph type="dt" sz="half" idx="10"/>
          </p:nvPr>
        </p:nvSpPr>
        <p:spPr/>
        <p:txBody>
          <a:bodyPr/>
          <a:lstStyle/>
          <a:p>
            <a:fld id="{19BC9A33-2B21-45B1-B715-0B084C44A8B9}" type="datetimeFigureOut">
              <a:rPr lang="en-IN" smtClean="0"/>
              <a:t>24-04-2026</a:t>
            </a:fld>
            <a:endParaRPr lang="en-IN"/>
          </a:p>
        </p:txBody>
      </p:sp>
      <p:sp>
        <p:nvSpPr>
          <p:cNvPr id="5" name="Footer Placeholder 4">
            <a:extLst>
              <a:ext uri="{FF2B5EF4-FFF2-40B4-BE49-F238E27FC236}">
                <a16:creationId xmlns:a16="http://schemas.microsoft.com/office/drawing/2014/main" id="{AC43F3F8-DC44-CA96-1CEA-E856304CA01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A0DE81-812E-B4AF-EACE-3EC25E785EE7}"/>
              </a:ext>
            </a:extLst>
          </p:cNvPr>
          <p:cNvSpPr>
            <a:spLocks noGrp="1"/>
          </p:cNvSpPr>
          <p:nvPr>
            <p:ph type="sldNum" sz="quarter" idx="12"/>
          </p:nvPr>
        </p:nvSpPr>
        <p:spPr/>
        <p:txBody>
          <a:bodyPr/>
          <a:lstStyle/>
          <a:p>
            <a:fld id="{7423C19E-82DB-4727-9C7D-61BCAC72EA80}" type="slidenum">
              <a:rPr lang="en-IN" smtClean="0"/>
              <a:t>‹#›</a:t>
            </a:fld>
            <a:endParaRPr lang="en-IN"/>
          </a:p>
        </p:txBody>
      </p:sp>
    </p:spTree>
    <p:extLst>
      <p:ext uri="{BB962C8B-B14F-4D97-AF65-F5344CB8AC3E}">
        <p14:creationId xmlns:p14="http://schemas.microsoft.com/office/powerpoint/2010/main" val="40834185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ACCF38-161D-EB83-1AD1-ECA4E3BBEF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1665673-712F-E3D0-7966-A75A3804BA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D49931-6531-D7CD-CBD4-AE38E03DFA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BC9A33-2B21-45B1-B715-0B084C44A8B9}" type="datetimeFigureOut">
              <a:rPr lang="en-IN" smtClean="0"/>
              <a:t>24-04-2026</a:t>
            </a:fld>
            <a:endParaRPr lang="en-IN"/>
          </a:p>
        </p:txBody>
      </p:sp>
      <p:sp>
        <p:nvSpPr>
          <p:cNvPr id="5" name="Footer Placeholder 4">
            <a:extLst>
              <a:ext uri="{FF2B5EF4-FFF2-40B4-BE49-F238E27FC236}">
                <a16:creationId xmlns:a16="http://schemas.microsoft.com/office/drawing/2014/main" id="{2177FB3D-94AF-013A-8668-57EB15D7A6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B1EA9EB-E4AE-D26E-BB10-7C4F1E91AA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23C19E-82DB-4727-9C7D-61BCAC72EA80}" type="slidenum">
              <a:rPr lang="en-IN" smtClean="0"/>
              <a:t>‹#›</a:t>
            </a:fld>
            <a:endParaRPr lang="en-IN"/>
          </a:p>
        </p:txBody>
      </p:sp>
    </p:spTree>
    <p:extLst>
      <p:ext uri="{BB962C8B-B14F-4D97-AF65-F5344CB8AC3E}">
        <p14:creationId xmlns:p14="http://schemas.microsoft.com/office/powerpoint/2010/main" val="40480335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mailto:!@#$%^&amp;*)-+:&#8221;&lt;&gt;?*/.,;&#8217;[]{}|"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www.javatpoint.com/java-if-else"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hyperlink" Target="https://www.javatpoint.com/java-switch"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hyperlink" Target="https://www.javatpoint.com/c-programs" TargetMode="Externa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5ABEC-F95B-C298-FDC6-CC33D2C764CE}"/>
              </a:ext>
            </a:extLst>
          </p:cNvPr>
          <p:cNvSpPr>
            <a:spLocks noGrp="1"/>
          </p:cNvSpPr>
          <p:nvPr>
            <p:ph type="ctrTitle"/>
          </p:nvPr>
        </p:nvSpPr>
        <p:spPr/>
        <p:txBody>
          <a:bodyPr/>
          <a:lstStyle/>
          <a:p>
            <a:r>
              <a:rPr lang="en-US" dirty="0"/>
              <a:t>C programming</a:t>
            </a:r>
            <a:endParaRPr lang="en-IN" dirty="0"/>
          </a:p>
        </p:txBody>
      </p:sp>
    </p:spTree>
    <p:extLst>
      <p:ext uri="{BB962C8B-B14F-4D97-AF65-F5344CB8AC3E}">
        <p14:creationId xmlns:p14="http://schemas.microsoft.com/office/powerpoint/2010/main" val="2456026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PROGRAMMING LANGUAGE</a:t>
            </a:r>
            <a:endParaRPr lang="en-IN" dirty="0"/>
          </a:p>
        </p:txBody>
      </p:sp>
    </p:spTree>
    <p:extLst>
      <p:ext uri="{BB962C8B-B14F-4D97-AF65-F5344CB8AC3E}">
        <p14:creationId xmlns:p14="http://schemas.microsoft.com/office/powerpoint/2010/main" val="3977216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3E3857-4699-52EB-11DF-A75AE0F42381}"/>
              </a:ext>
            </a:extLst>
          </p:cNvPr>
          <p:cNvSpPr>
            <a:spLocks noGrp="1"/>
          </p:cNvSpPr>
          <p:nvPr>
            <p:ph idx="1"/>
          </p:nvPr>
        </p:nvSpPr>
        <p:spPr>
          <a:xfrm>
            <a:off x="763555" y="718458"/>
            <a:ext cx="10515600" cy="5542481"/>
          </a:xfrm>
        </p:spPr>
        <p:txBody>
          <a:bodyPr/>
          <a:lstStyle/>
          <a:p>
            <a:pPr marL="0" indent="0">
              <a:lnSpc>
                <a:spcPct val="150000"/>
              </a:lnSpc>
              <a:buNone/>
            </a:pPr>
            <a:r>
              <a:rPr lang="en-IN" b="1" dirty="0">
                <a:solidFill>
                  <a:srgbClr val="7030A0"/>
                </a:solidFill>
              </a:rPr>
              <a:t>What is Program?</a:t>
            </a:r>
          </a:p>
          <a:p>
            <a:pPr>
              <a:lnSpc>
                <a:spcPct val="150000"/>
              </a:lnSpc>
            </a:pPr>
            <a:r>
              <a:rPr lang="en-US" b="0" i="0" dirty="0">
                <a:effectLst/>
              </a:rPr>
              <a:t>A computer program consists of code that is executed on a computer to perform particular tasks. This code is written by programmers.</a:t>
            </a:r>
          </a:p>
          <a:p>
            <a:pPr>
              <a:lnSpc>
                <a:spcPct val="150000"/>
              </a:lnSpc>
            </a:pPr>
            <a:endParaRPr lang="en-IN" dirty="0"/>
          </a:p>
        </p:txBody>
      </p:sp>
      <p:pic>
        <p:nvPicPr>
          <p:cNvPr id="1026" name="Picture 2" descr="Types and Differences between Programming Languages">
            <a:extLst>
              <a:ext uri="{FF2B5EF4-FFF2-40B4-BE49-F238E27FC236}">
                <a16:creationId xmlns:a16="http://schemas.microsoft.com/office/drawing/2014/main" id="{E6862329-365C-5D33-BD8C-3D6944371D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6216" y="3279710"/>
            <a:ext cx="6135812" cy="2556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0625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7030A0"/>
                </a:solidFill>
              </a:rPr>
              <a:t>Types of languages:</a:t>
            </a:r>
            <a:endParaRPr lang="en-IN" dirty="0">
              <a:solidFill>
                <a:srgbClr val="7030A0"/>
              </a:solidFill>
            </a:endParaRPr>
          </a:p>
        </p:txBody>
      </p:sp>
      <p:sp>
        <p:nvSpPr>
          <p:cNvPr id="3" name="Content Placeholder 2"/>
          <p:cNvSpPr>
            <a:spLocks noGrp="1"/>
          </p:cNvSpPr>
          <p:nvPr>
            <p:ph idx="1"/>
          </p:nvPr>
        </p:nvSpPr>
        <p:spPr/>
        <p:txBody>
          <a:bodyPr>
            <a:normAutofit/>
          </a:bodyPr>
          <a:lstStyle/>
          <a:p>
            <a:pPr>
              <a:buFont typeface="Wingdings" pitchFamily="2" charset="2"/>
              <a:buChar char="§"/>
            </a:pPr>
            <a:r>
              <a:rPr lang="en-US" b="1" dirty="0">
                <a:solidFill>
                  <a:srgbClr val="7030A0"/>
                </a:solidFill>
              </a:rPr>
              <a:t>Low level or machine level language  </a:t>
            </a:r>
            <a:r>
              <a:rPr lang="en-US" dirty="0">
                <a:sym typeface="Wingdings" pitchFamily="2" charset="2"/>
              </a:rPr>
              <a:t>--&gt;</a:t>
            </a:r>
            <a:r>
              <a:rPr lang="en-US" b="1" dirty="0">
                <a:sym typeface="Wingdings" pitchFamily="2" charset="2"/>
              </a:rPr>
              <a:t> 0’</a:t>
            </a:r>
            <a:r>
              <a:rPr lang="en-US" dirty="0"/>
              <a:t>s, </a:t>
            </a:r>
            <a:r>
              <a:rPr lang="en-US" b="1" dirty="0"/>
              <a:t>1</a:t>
            </a:r>
            <a:r>
              <a:rPr lang="en-US" dirty="0"/>
              <a:t>’s 							(binary)</a:t>
            </a:r>
          </a:p>
          <a:p>
            <a:pPr>
              <a:buFont typeface="Wingdings" pitchFamily="2" charset="2"/>
              <a:buChar char="§"/>
            </a:pPr>
            <a:r>
              <a:rPr lang="en-US" b="1" dirty="0">
                <a:solidFill>
                  <a:srgbClr val="7030A0"/>
                </a:solidFill>
              </a:rPr>
              <a:t>Middle</a:t>
            </a:r>
            <a:r>
              <a:rPr lang="en-US" b="1" dirty="0"/>
              <a:t> </a:t>
            </a:r>
            <a:r>
              <a:rPr lang="en-US" b="1" dirty="0">
                <a:solidFill>
                  <a:srgbClr val="7030A0"/>
                </a:solidFill>
              </a:rPr>
              <a:t>level  or assembly language  </a:t>
            </a:r>
            <a:r>
              <a:rPr lang="en-US" dirty="0">
                <a:sym typeface="Wingdings" pitchFamily="2" charset="2"/>
              </a:rPr>
              <a:t>--&gt;</a:t>
            </a:r>
          </a:p>
          <a:p>
            <a:pPr marL="0" indent="0">
              <a:buNone/>
            </a:pPr>
            <a:r>
              <a:rPr lang="en-US" dirty="0">
                <a:sym typeface="Wingdings" pitchFamily="2" charset="2"/>
              </a:rPr>
              <a:t>         C </a:t>
            </a:r>
            <a:r>
              <a:rPr lang="en-US" dirty="0"/>
              <a:t>language 					</a:t>
            </a:r>
          </a:p>
          <a:p>
            <a:pPr>
              <a:buNone/>
            </a:pPr>
            <a:r>
              <a:rPr lang="en-US" dirty="0"/>
              <a:t>	( It also known as the intermediate programming language )</a:t>
            </a:r>
          </a:p>
          <a:p>
            <a:pPr>
              <a:buFont typeface="Wingdings" pitchFamily="2" charset="2"/>
              <a:buChar char="§"/>
            </a:pPr>
            <a:r>
              <a:rPr lang="en-US" b="1" dirty="0">
                <a:solidFill>
                  <a:srgbClr val="7030A0"/>
                </a:solidFill>
              </a:rPr>
              <a:t>High level language </a:t>
            </a:r>
            <a:r>
              <a:rPr lang="en-US" dirty="0"/>
              <a:t>--&gt; human friendly language </a:t>
            </a:r>
          </a:p>
          <a:p>
            <a:pPr>
              <a:buFont typeface="Wingdings" pitchFamily="2" charset="2"/>
              <a:buChar char="§"/>
            </a:pPr>
            <a:endParaRPr lang="en-US" dirty="0"/>
          </a:p>
          <a:p>
            <a:endParaRPr lang="en-IN" dirty="0"/>
          </a:p>
        </p:txBody>
      </p:sp>
    </p:spTree>
    <p:extLst>
      <p:ext uri="{BB962C8B-B14F-4D97-AF65-F5344CB8AC3E}">
        <p14:creationId xmlns:p14="http://schemas.microsoft.com/office/powerpoint/2010/main" val="20378037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EBD568-3FD2-8B07-4E1F-E6C7754C644A}"/>
              </a:ext>
            </a:extLst>
          </p:cNvPr>
          <p:cNvSpPr>
            <a:spLocks noGrp="1"/>
          </p:cNvSpPr>
          <p:nvPr>
            <p:ph idx="1"/>
          </p:nvPr>
        </p:nvSpPr>
        <p:spPr>
          <a:xfrm>
            <a:off x="838200" y="401216"/>
            <a:ext cx="10515600" cy="5775747"/>
          </a:xfrm>
        </p:spPr>
        <p:txBody>
          <a:bodyPr/>
          <a:lstStyle/>
          <a:p>
            <a:pPr marL="0" indent="0" algn="just">
              <a:lnSpc>
                <a:spcPct val="150000"/>
              </a:lnSpc>
              <a:buNone/>
            </a:pPr>
            <a:r>
              <a:rPr lang="en-IN" b="1" i="0" dirty="0">
                <a:solidFill>
                  <a:srgbClr val="7030A0"/>
                </a:solidFill>
                <a:effectLst/>
              </a:rPr>
              <a:t>History of C Language</a:t>
            </a:r>
            <a:endParaRPr lang="en-US" b="1" i="0" dirty="0">
              <a:solidFill>
                <a:srgbClr val="7030A0"/>
              </a:solidFill>
              <a:effectLst/>
            </a:endParaRPr>
          </a:p>
          <a:p>
            <a:pPr algn="just">
              <a:lnSpc>
                <a:spcPct val="150000"/>
              </a:lnSpc>
            </a:pPr>
            <a:r>
              <a:rPr lang="en-US" b="1" i="0" dirty="0">
                <a:solidFill>
                  <a:srgbClr val="7030A0"/>
                </a:solidFill>
                <a:effectLst/>
              </a:rPr>
              <a:t>C programming language</a:t>
            </a:r>
            <a:r>
              <a:rPr lang="en-US" b="0" i="0" dirty="0">
                <a:solidFill>
                  <a:srgbClr val="7030A0"/>
                </a:solidFill>
                <a:effectLst/>
              </a:rPr>
              <a:t> </a:t>
            </a:r>
            <a:r>
              <a:rPr lang="en-US" b="0" i="0" dirty="0">
                <a:solidFill>
                  <a:srgbClr val="333333"/>
                </a:solidFill>
                <a:effectLst/>
              </a:rPr>
              <a:t>was developed </a:t>
            </a:r>
            <a:r>
              <a:rPr lang="en-US" b="1" i="0" dirty="0">
                <a:solidFill>
                  <a:srgbClr val="7030A0"/>
                </a:solidFill>
                <a:effectLst/>
              </a:rPr>
              <a:t>in 1972 by Dennis Ritchie</a:t>
            </a:r>
            <a:r>
              <a:rPr lang="en-US" b="0" i="0" dirty="0">
                <a:solidFill>
                  <a:srgbClr val="333333"/>
                </a:solidFill>
                <a:effectLst/>
              </a:rPr>
              <a:t> at bell laboratories of AT&amp;T (American Telephone &amp; Telegraph), located in the U.S.A.</a:t>
            </a:r>
          </a:p>
          <a:p>
            <a:pPr algn="just">
              <a:lnSpc>
                <a:spcPct val="150000"/>
              </a:lnSpc>
            </a:pPr>
            <a:r>
              <a:rPr lang="en-US" b="1" i="0" dirty="0">
                <a:solidFill>
                  <a:srgbClr val="7030A0"/>
                </a:solidFill>
                <a:effectLst/>
              </a:rPr>
              <a:t>Dennis Ritchie</a:t>
            </a:r>
            <a:r>
              <a:rPr lang="en-US" b="0" i="0" dirty="0">
                <a:solidFill>
                  <a:srgbClr val="7030A0"/>
                </a:solidFill>
                <a:effectLst/>
              </a:rPr>
              <a:t> </a:t>
            </a:r>
            <a:r>
              <a:rPr lang="en-US" b="0" i="0" dirty="0">
                <a:solidFill>
                  <a:srgbClr val="333333"/>
                </a:solidFill>
                <a:effectLst/>
              </a:rPr>
              <a:t>is known as the </a:t>
            </a:r>
            <a:r>
              <a:rPr lang="en-US" b="1" i="0" dirty="0">
                <a:solidFill>
                  <a:srgbClr val="7030A0"/>
                </a:solidFill>
                <a:effectLst/>
              </a:rPr>
              <a:t>founder of the c language</a:t>
            </a:r>
            <a:r>
              <a:rPr lang="en-US" b="0" i="0" dirty="0">
                <a:solidFill>
                  <a:srgbClr val="7030A0"/>
                </a:solidFill>
                <a:effectLst/>
              </a:rPr>
              <a:t>.</a:t>
            </a:r>
          </a:p>
          <a:p>
            <a:pPr algn="just">
              <a:lnSpc>
                <a:spcPct val="150000"/>
              </a:lnSpc>
            </a:pPr>
            <a:r>
              <a:rPr lang="en-US" b="0" i="0" dirty="0">
                <a:solidFill>
                  <a:srgbClr val="333333"/>
                </a:solidFill>
                <a:effectLst/>
              </a:rPr>
              <a:t>It was developed to overcome the problems of previous languages such as B, BCPL, etc.</a:t>
            </a:r>
          </a:p>
          <a:p>
            <a:endParaRPr lang="en-IN" dirty="0"/>
          </a:p>
        </p:txBody>
      </p:sp>
    </p:spTree>
    <p:extLst>
      <p:ext uri="{BB962C8B-B14F-4D97-AF65-F5344CB8AC3E}">
        <p14:creationId xmlns:p14="http://schemas.microsoft.com/office/powerpoint/2010/main" val="2177845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70FACA-9D25-75C6-8557-B46F4A08FD8A}"/>
              </a:ext>
            </a:extLst>
          </p:cNvPr>
          <p:cNvSpPr>
            <a:spLocks noGrp="1"/>
          </p:cNvSpPr>
          <p:nvPr>
            <p:ph idx="1"/>
          </p:nvPr>
        </p:nvSpPr>
        <p:spPr>
          <a:xfrm>
            <a:off x="838200" y="438539"/>
            <a:ext cx="10515600" cy="5738424"/>
          </a:xfrm>
        </p:spPr>
        <p:txBody>
          <a:bodyPr/>
          <a:lstStyle/>
          <a:p>
            <a:pPr marL="0" indent="0">
              <a:lnSpc>
                <a:spcPct val="150000"/>
              </a:lnSpc>
              <a:buNone/>
            </a:pPr>
            <a:r>
              <a:rPr lang="en-US" b="1" dirty="0">
                <a:solidFill>
                  <a:srgbClr val="7030A0"/>
                </a:solidFill>
              </a:rPr>
              <a:t>About C</a:t>
            </a:r>
          </a:p>
          <a:p>
            <a:pPr algn="just">
              <a:lnSpc>
                <a:spcPct val="150000"/>
              </a:lnSpc>
              <a:buFont typeface="+mj-lt"/>
              <a:buAutoNum type="arabicPeriod"/>
            </a:pPr>
            <a:r>
              <a:rPr lang="en-US" b="0" i="0" dirty="0">
                <a:solidFill>
                  <a:srgbClr val="000000"/>
                </a:solidFill>
                <a:effectLst/>
              </a:rPr>
              <a:t>Mother language</a:t>
            </a:r>
          </a:p>
          <a:p>
            <a:pPr algn="just">
              <a:lnSpc>
                <a:spcPct val="150000"/>
              </a:lnSpc>
              <a:buFont typeface="+mj-lt"/>
              <a:buAutoNum type="arabicPeriod"/>
            </a:pPr>
            <a:r>
              <a:rPr lang="en-US" b="0" i="0" dirty="0">
                <a:solidFill>
                  <a:srgbClr val="000000"/>
                </a:solidFill>
                <a:effectLst/>
              </a:rPr>
              <a:t>System programming language</a:t>
            </a:r>
          </a:p>
          <a:p>
            <a:pPr algn="just">
              <a:lnSpc>
                <a:spcPct val="150000"/>
              </a:lnSpc>
              <a:buFont typeface="+mj-lt"/>
              <a:buAutoNum type="arabicPeriod"/>
            </a:pPr>
            <a:r>
              <a:rPr lang="en-US" b="0" i="0" dirty="0">
                <a:solidFill>
                  <a:srgbClr val="000000"/>
                </a:solidFill>
                <a:effectLst/>
              </a:rPr>
              <a:t>Procedure-oriented programming language</a:t>
            </a:r>
          </a:p>
          <a:p>
            <a:pPr algn="just">
              <a:lnSpc>
                <a:spcPct val="150000"/>
              </a:lnSpc>
              <a:buFont typeface="+mj-lt"/>
              <a:buAutoNum type="arabicPeriod"/>
            </a:pPr>
            <a:r>
              <a:rPr lang="en-US" b="0" i="0" dirty="0">
                <a:solidFill>
                  <a:srgbClr val="000000"/>
                </a:solidFill>
                <a:effectLst/>
              </a:rPr>
              <a:t>Structured programming language</a:t>
            </a:r>
          </a:p>
          <a:p>
            <a:pPr algn="just">
              <a:lnSpc>
                <a:spcPct val="150000"/>
              </a:lnSpc>
              <a:buFont typeface="+mj-lt"/>
              <a:buAutoNum type="arabicPeriod"/>
            </a:pPr>
            <a:r>
              <a:rPr lang="en-US" b="0" i="0" dirty="0">
                <a:solidFill>
                  <a:srgbClr val="000000"/>
                </a:solidFill>
                <a:effectLst/>
              </a:rPr>
              <a:t>Mid-level programming language</a:t>
            </a:r>
          </a:p>
          <a:p>
            <a:endParaRPr lang="en-IN" dirty="0"/>
          </a:p>
        </p:txBody>
      </p:sp>
    </p:spTree>
    <p:extLst>
      <p:ext uri="{BB962C8B-B14F-4D97-AF65-F5344CB8AC3E}">
        <p14:creationId xmlns:p14="http://schemas.microsoft.com/office/powerpoint/2010/main" val="16656199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03BCCB-1A7D-A1CB-1C11-B068D591B0F1}"/>
              </a:ext>
            </a:extLst>
          </p:cNvPr>
          <p:cNvSpPr>
            <a:spLocks noGrp="1"/>
          </p:cNvSpPr>
          <p:nvPr>
            <p:ph idx="1"/>
          </p:nvPr>
        </p:nvSpPr>
        <p:spPr>
          <a:xfrm>
            <a:off x="698241" y="410547"/>
            <a:ext cx="10515600" cy="5645118"/>
          </a:xfrm>
        </p:spPr>
        <p:txBody>
          <a:bodyPr/>
          <a:lstStyle/>
          <a:p>
            <a:r>
              <a:rPr lang="en-IN" b="1" i="0" dirty="0">
                <a:solidFill>
                  <a:srgbClr val="7030A0"/>
                </a:solidFill>
                <a:effectLst/>
              </a:rPr>
              <a:t>Features of C Language</a:t>
            </a:r>
          </a:p>
          <a:p>
            <a:endParaRPr lang="en-IN" b="1" i="0" dirty="0">
              <a:solidFill>
                <a:srgbClr val="7030A0"/>
              </a:solidFill>
              <a:effectLst/>
            </a:endParaRPr>
          </a:p>
          <a:p>
            <a:endParaRPr lang="en-IN" dirty="0"/>
          </a:p>
        </p:txBody>
      </p:sp>
      <p:pic>
        <p:nvPicPr>
          <p:cNvPr id="1026" name="Picture 2" descr="C features">
            <a:extLst>
              <a:ext uri="{FF2B5EF4-FFF2-40B4-BE49-F238E27FC236}">
                <a16:creationId xmlns:a16="http://schemas.microsoft.com/office/drawing/2014/main" id="{A1D7D22B-93AB-8643-AEE9-6F725533E3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7251" y="1002458"/>
            <a:ext cx="6372225" cy="462915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E8E09B11-FA07-917F-2617-8927C1273F61}"/>
              </a:ext>
            </a:extLst>
          </p:cNvPr>
          <p:cNvSpPr/>
          <p:nvPr/>
        </p:nvSpPr>
        <p:spPr>
          <a:xfrm>
            <a:off x="7604449" y="5365102"/>
            <a:ext cx="1922106" cy="41054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66719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888DA4-EB19-DDB5-16F9-5058C5D2F154}"/>
              </a:ext>
            </a:extLst>
          </p:cNvPr>
          <p:cNvSpPr>
            <a:spLocks noGrp="1"/>
          </p:cNvSpPr>
          <p:nvPr>
            <p:ph idx="1"/>
          </p:nvPr>
        </p:nvSpPr>
        <p:spPr>
          <a:xfrm>
            <a:off x="838200" y="569167"/>
            <a:ext cx="10515600" cy="5607796"/>
          </a:xfrm>
        </p:spPr>
        <p:txBody>
          <a:bodyPr/>
          <a:lstStyle/>
          <a:p>
            <a:pPr marL="0" indent="0">
              <a:lnSpc>
                <a:spcPct val="150000"/>
              </a:lnSpc>
              <a:buNone/>
            </a:pPr>
            <a:r>
              <a:rPr lang="en-IN" b="1" dirty="0">
                <a:solidFill>
                  <a:srgbClr val="7030A0"/>
                </a:solidFill>
              </a:rPr>
              <a:t>C</a:t>
            </a:r>
            <a:r>
              <a:rPr lang="en-IN" b="1" i="0" dirty="0">
                <a:solidFill>
                  <a:srgbClr val="7030A0"/>
                </a:solidFill>
                <a:effectLst/>
              </a:rPr>
              <a:t>ompiler in C</a:t>
            </a:r>
          </a:p>
          <a:p>
            <a:pPr>
              <a:lnSpc>
                <a:spcPct val="150000"/>
              </a:lnSpc>
            </a:pPr>
            <a:r>
              <a:rPr lang="en-US" b="0" i="0" dirty="0">
                <a:solidFill>
                  <a:srgbClr val="4D5156"/>
                </a:solidFill>
                <a:effectLst/>
              </a:rPr>
              <a:t>A compiler is </a:t>
            </a:r>
            <a:r>
              <a:rPr lang="en-US" b="0" i="0" dirty="0">
                <a:solidFill>
                  <a:srgbClr val="040C28"/>
                </a:solidFill>
                <a:effectLst/>
              </a:rPr>
              <a:t>a special program that translates a programming language's source code into machine code, bytecode or another programming language</a:t>
            </a:r>
            <a:r>
              <a:rPr lang="en-US" b="0" i="0" dirty="0">
                <a:solidFill>
                  <a:srgbClr val="4D5156"/>
                </a:solidFill>
                <a:effectLst/>
              </a:rPr>
              <a:t>.</a:t>
            </a:r>
            <a:endParaRPr lang="en-IN" dirty="0">
              <a:solidFill>
                <a:srgbClr val="202124"/>
              </a:solidFill>
            </a:endParaRPr>
          </a:p>
          <a:p>
            <a:endParaRPr lang="en-IN" dirty="0"/>
          </a:p>
        </p:txBody>
      </p:sp>
    </p:spTree>
    <p:extLst>
      <p:ext uri="{BB962C8B-B14F-4D97-AF65-F5344CB8AC3E}">
        <p14:creationId xmlns:p14="http://schemas.microsoft.com/office/powerpoint/2010/main" val="42348663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7F1F8C-B3D9-B8F1-2F9D-48EEFBEE38F7}"/>
              </a:ext>
            </a:extLst>
          </p:cNvPr>
          <p:cNvSpPr>
            <a:spLocks noGrp="1"/>
          </p:cNvSpPr>
          <p:nvPr>
            <p:ph idx="1"/>
          </p:nvPr>
        </p:nvSpPr>
        <p:spPr>
          <a:xfrm>
            <a:off x="1279499" y="438539"/>
            <a:ext cx="9980994" cy="5617126"/>
          </a:xfrm>
        </p:spPr>
        <p:txBody>
          <a:bodyPr/>
          <a:lstStyle/>
          <a:p>
            <a:r>
              <a:rPr lang="en-IN" dirty="0"/>
              <a:t>compile stages in c</a:t>
            </a:r>
          </a:p>
          <a:p>
            <a:endParaRPr lang="en-IN" dirty="0"/>
          </a:p>
        </p:txBody>
      </p:sp>
      <p:pic>
        <p:nvPicPr>
          <p:cNvPr id="2050" name="Picture 2" descr="Compilation Process in C - javatpoint">
            <a:extLst>
              <a:ext uri="{FF2B5EF4-FFF2-40B4-BE49-F238E27FC236}">
                <a16:creationId xmlns:a16="http://schemas.microsoft.com/office/drawing/2014/main" id="{11C74C4F-1237-1ACD-A565-CA35359BB1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4112" y="890297"/>
            <a:ext cx="5515609" cy="5165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28742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03CC26-AEBE-915D-CA9C-B275CC3A41F8}"/>
              </a:ext>
            </a:extLst>
          </p:cNvPr>
          <p:cNvSpPr>
            <a:spLocks noGrp="1"/>
          </p:cNvSpPr>
          <p:nvPr>
            <p:ph idx="1"/>
          </p:nvPr>
        </p:nvSpPr>
        <p:spPr>
          <a:xfrm>
            <a:off x="632927" y="279918"/>
            <a:ext cx="10515600" cy="5607796"/>
          </a:xfrm>
        </p:spPr>
        <p:txBody>
          <a:bodyPr>
            <a:noAutofit/>
          </a:bodyPr>
          <a:lstStyle/>
          <a:p>
            <a:pPr marL="0" indent="0">
              <a:lnSpc>
                <a:spcPct val="150000"/>
              </a:lnSpc>
              <a:buNone/>
            </a:pPr>
            <a:r>
              <a:rPr lang="en-IN" b="1" dirty="0">
                <a:solidFill>
                  <a:srgbClr val="7030A0"/>
                </a:solidFill>
              </a:rPr>
              <a:t>RUNNING A C PROGRAM</a:t>
            </a:r>
          </a:p>
          <a:p>
            <a:pPr>
              <a:lnSpc>
                <a:spcPct val="150000"/>
              </a:lnSpc>
            </a:pPr>
            <a:r>
              <a:rPr lang="en-IN" dirty="0"/>
              <a:t>Compiler</a:t>
            </a:r>
          </a:p>
          <a:p>
            <a:pPr marL="0" indent="0">
              <a:lnSpc>
                <a:spcPct val="150000"/>
              </a:lnSpc>
              <a:buNone/>
            </a:pPr>
            <a:r>
              <a:rPr lang="en-IN" dirty="0" err="1"/>
              <a:t>Eg</a:t>
            </a:r>
            <a:r>
              <a:rPr lang="en-IN" dirty="0"/>
              <a:t>: </a:t>
            </a:r>
            <a:r>
              <a:rPr lang="en-IN" dirty="0" err="1"/>
              <a:t>gcc</a:t>
            </a:r>
            <a:r>
              <a:rPr lang="en-IN" dirty="0"/>
              <a:t>, cc, </a:t>
            </a:r>
            <a:r>
              <a:rPr lang="en-IN" dirty="0" err="1"/>
              <a:t>tcc</a:t>
            </a:r>
            <a:r>
              <a:rPr lang="en-IN" dirty="0"/>
              <a:t> etc</a:t>
            </a:r>
          </a:p>
          <a:p>
            <a:pPr>
              <a:lnSpc>
                <a:spcPct val="150000"/>
              </a:lnSpc>
            </a:pPr>
            <a:r>
              <a:rPr lang="en-IN" dirty="0"/>
              <a:t> Integrated Development Environment- IDE (editor, compiler, Debugger)</a:t>
            </a:r>
          </a:p>
          <a:p>
            <a:pPr marL="0" indent="0">
              <a:lnSpc>
                <a:spcPct val="150000"/>
              </a:lnSpc>
              <a:buNone/>
            </a:pPr>
            <a:r>
              <a:rPr lang="en-IN" dirty="0" err="1"/>
              <a:t>Eg</a:t>
            </a:r>
            <a:r>
              <a:rPr lang="en-IN" dirty="0"/>
              <a:t>: visual studio, code blocks etc</a:t>
            </a:r>
          </a:p>
          <a:p>
            <a:pPr>
              <a:lnSpc>
                <a:spcPct val="150000"/>
              </a:lnSpc>
            </a:pPr>
            <a:r>
              <a:rPr lang="en-IN" dirty="0"/>
              <a:t> Online compilers</a:t>
            </a:r>
          </a:p>
          <a:p>
            <a:pPr marL="0" indent="0">
              <a:lnSpc>
                <a:spcPct val="150000"/>
              </a:lnSpc>
              <a:buNone/>
            </a:pPr>
            <a:r>
              <a:rPr lang="en-IN" dirty="0" err="1"/>
              <a:t>Eg</a:t>
            </a:r>
            <a:r>
              <a:rPr lang="en-IN" dirty="0"/>
              <a:t>: codechef.com, jdoodle.com etc</a:t>
            </a:r>
          </a:p>
        </p:txBody>
      </p:sp>
    </p:spTree>
    <p:extLst>
      <p:ext uri="{BB962C8B-B14F-4D97-AF65-F5344CB8AC3E}">
        <p14:creationId xmlns:p14="http://schemas.microsoft.com/office/powerpoint/2010/main" val="36925664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20CCBD-6EA8-8F5E-978C-116C50769DFD}"/>
              </a:ext>
            </a:extLst>
          </p:cNvPr>
          <p:cNvSpPr>
            <a:spLocks noGrp="1"/>
          </p:cNvSpPr>
          <p:nvPr>
            <p:ph idx="1"/>
          </p:nvPr>
        </p:nvSpPr>
        <p:spPr>
          <a:xfrm>
            <a:off x="838200" y="503853"/>
            <a:ext cx="10515600" cy="5673110"/>
          </a:xfrm>
        </p:spPr>
        <p:txBody>
          <a:bodyPr/>
          <a:lstStyle/>
          <a:p>
            <a:pPr marL="0" indent="0">
              <a:lnSpc>
                <a:spcPct val="100000"/>
              </a:lnSpc>
              <a:buNone/>
            </a:pPr>
            <a:r>
              <a:rPr lang="en-IN" b="1" dirty="0">
                <a:solidFill>
                  <a:srgbClr val="7030A0"/>
                </a:solidFill>
              </a:rPr>
              <a:t>C Program Structure</a:t>
            </a:r>
          </a:p>
          <a:p>
            <a:pPr>
              <a:lnSpc>
                <a:spcPct val="100000"/>
              </a:lnSpc>
            </a:pPr>
            <a:r>
              <a:rPr lang="en-US" dirty="0"/>
              <a:t> Documentations</a:t>
            </a:r>
          </a:p>
          <a:p>
            <a:pPr>
              <a:lnSpc>
                <a:spcPct val="100000"/>
              </a:lnSpc>
            </a:pPr>
            <a:r>
              <a:rPr lang="en-US" dirty="0"/>
              <a:t> Pre-processor Statements</a:t>
            </a:r>
          </a:p>
          <a:p>
            <a:pPr>
              <a:lnSpc>
                <a:spcPct val="100000"/>
              </a:lnSpc>
            </a:pPr>
            <a:r>
              <a:rPr lang="en-US" dirty="0"/>
              <a:t> Global Declarations</a:t>
            </a:r>
          </a:p>
          <a:p>
            <a:pPr>
              <a:lnSpc>
                <a:spcPct val="100000"/>
              </a:lnSpc>
            </a:pPr>
            <a:r>
              <a:rPr lang="en-US" dirty="0"/>
              <a:t> The main() Function</a:t>
            </a:r>
          </a:p>
          <a:p>
            <a:pPr>
              <a:lnSpc>
                <a:spcPct val="100000"/>
              </a:lnSpc>
            </a:pPr>
            <a:r>
              <a:rPr lang="en-US" dirty="0"/>
              <a:t> Local Declarations</a:t>
            </a:r>
          </a:p>
          <a:p>
            <a:pPr>
              <a:lnSpc>
                <a:spcPct val="100000"/>
              </a:lnSpc>
            </a:pPr>
            <a:r>
              <a:rPr lang="en-US" dirty="0"/>
              <a:t> Program Statements And expressions</a:t>
            </a:r>
          </a:p>
          <a:p>
            <a:pPr>
              <a:lnSpc>
                <a:spcPct val="100000"/>
              </a:lnSpc>
            </a:pPr>
            <a:r>
              <a:rPr lang="en-US" dirty="0"/>
              <a:t> User Defined Functions</a:t>
            </a:r>
            <a:endParaRPr lang="en-IN" dirty="0"/>
          </a:p>
        </p:txBody>
      </p:sp>
    </p:spTree>
    <p:extLst>
      <p:ext uri="{BB962C8B-B14F-4D97-AF65-F5344CB8AC3E}">
        <p14:creationId xmlns:p14="http://schemas.microsoft.com/office/powerpoint/2010/main" val="2720183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25DAD0-85DA-B766-8561-EA01366D82CA}"/>
              </a:ext>
            </a:extLst>
          </p:cNvPr>
          <p:cNvSpPr>
            <a:spLocks noGrp="1"/>
          </p:cNvSpPr>
          <p:nvPr>
            <p:ph idx="1"/>
          </p:nvPr>
        </p:nvSpPr>
        <p:spPr>
          <a:xfrm>
            <a:off x="838200" y="447869"/>
            <a:ext cx="10515600" cy="5729094"/>
          </a:xfrm>
        </p:spPr>
        <p:txBody>
          <a:bodyPr>
            <a:normAutofit/>
          </a:bodyPr>
          <a:lstStyle/>
          <a:p>
            <a:pPr marL="0" indent="0">
              <a:buNone/>
            </a:pPr>
            <a:r>
              <a:rPr lang="en-US" b="1" dirty="0">
                <a:solidFill>
                  <a:srgbClr val="7030A0"/>
                </a:solidFill>
              </a:rPr>
              <a:t>Program Example</a:t>
            </a:r>
          </a:p>
          <a:p>
            <a:pPr marL="0" indent="0">
              <a:buNone/>
            </a:pPr>
            <a:r>
              <a:rPr lang="en-US" dirty="0"/>
              <a:t>Example:</a:t>
            </a:r>
          </a:p>
          <a:p>
            <a:pPr marL="0" indent="0">
              <a:buNone/>
            </a:pPr>
            <a:r>
              <a:rPr lang="en-US" dirty="0"/>
              <a:t>/* description: writes the words "hello world" on the screen */</a:t>
            </a:r>
          </a:p>
          <a:p>
            <a:pPr marL="0" indent="0">
              <a:buNone/>
            </a:pPr>
            <a:r>
              <a:rPr lang="en-US" dirty="0"/>
              <a:t>#include&lt;stdio.h&gt;</a:t>
            </a:r>
          </a:p>
          <a:p>
            <a:pPr marL="0" indent="0">
              <a:buNone/>
            </a:pPr>
            <a:r>
              <a:rPr lang="en-US" dirty="0"/>
              <a:t>int main()</a:t>
            </a:r>
          </a:p>
          <a:p>
            <a:pPr marL="0" indent="0">
              <a:buNone/>
            </a:pPr>
            <a:r>
              <a:rPr lang="en-US" dirty="0"/>
              <a:t>{</a:t>
            </a:r>
          </a:p>
          <a:p>
            <a:pPr marL="0" indent="0">
              <a:buNone/>
            </a:pPr>
            <a:r>
              <a:rPr lang="en-US" dirty="0"/>
              <a:t>/* first c program */</a:t>
            </a:r>
          </a:p>
          <a:p>
            <a:pPr marL="0" indent="0">
              <a:buNone/>
            </a:pPr>
            <a:r>
              <a:rPr lang="en-US" dirty="0" err="1"/>
              <a:t>printf</a:t>
            </a:r>
            <a:r>
              <a:rPr lang="en-US" dirty="0"/>
              <a:t>("hello, world!\n");</a:t>
            </a:r>
          </a:p>
          <a:p>
            <a:pPr marL="0" indent="0">
              <a:buNone/>
            </a:pPr>
            <a:r>
              <a:rPr lang="en-US" dirty="0"/>
              <a:t>return 0;</a:t>
            </a:r>
          </a:p>
          <a:p>
            <a:pPr marL="0" indent="0">
              <a:buNone/>
            </a:pPr>
            <a:r>
              <a:rPr lang="en-US" dirty="0"/>
              <a:t>}</a:t>
            </a:r>
            <a:endParaRPr lang="en-IN" dirty="0"/>
          </a:p>
        </p:txBody>
      </p:sp>
    </p:spTree>
    <p:extLst>
      <p:ext uri="{BB962C8B-B14F-4D97-AF65-F5344CB8AC3E}">
        <p14:creationId xmlns:p14="http://schemas.microsoft.com/office/powerpoint/2010/main" val="10360226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9949F9-82D1-DF12-D5F1-D62B35DD0D3F}"/>
              </a:ext>
            </a:extLst>
          </p:cNvPr>
          <p:cNvSpPr>
            <a:spLocks noGrp="1"/>
          </p:cNvSpPr>
          <p:nvPr>
            <p:ph idx="1"/>
          </p:nvPr>
        </p:nvSpPr>
        <p:spPr>
          <a:xfrm>
            <a:off x="838200" y="475861"/>
            <a:ext cx="10515600" cy="5701102"/>
          </a:xfrm>
        </p:spPr>
        <p:txBody>
          <a:bodyPr/>
          <a:lstStyle/>
          <a:p>
            <a:pPr marL="0" indent="0">
              <a:buNone/>
            </a:pPr>
            <a:r>
              <a:rPr lang="en-US" b="1" dirty="0">
                <a:solidFill>
                  <a:srgbClr val="7030A0"/>
                </a:solidFill>
              </a:rPr>
              <a:t>Explanation</a:t>
            </a:r>
          </a:p>
          <a:p>
            <a:pPr marL="0" indent="0">
              <a:buNone/>
            </a:pPr>
            <a:endParaRPr lang="en-US" dirty="0"/>
          </a:p>
          <a:p>
            <a:pPr marL="0" indent="0">
              <a:buNone/>
            </a:pPr>
            <a:r>
              <a:rPr lang="en-US" dirty="0"/>
              <a:t>• /*......*/ - comments</a:t>
            </a:r>
          </a:p>
          <a:p>
            <a:pPr marL="0" indent="0">
              <a:buNone/>
            </a:pPr>
            <a:r>
              <a:rPr lang="en-US" dirty="0"/>
              <a:t>• #include&lt;stdio.h&gt; - pre-processor directive.</a:t>
            </a:r>
          </a:p>
          <a:p>
            <a:pPr marL="0" indent="0">
              <a:buNone/>
            </a:pPr>
            <a:r>
              <a:rPr lang="en-US" dirty="0"/>
              <a:t>• int/void – return value</a:t>
            </a:r>
          </a:p>
          <a:p>
            <a:pPr marL="0" indent="0">
              <a:buNone/>
            </a:pPr>
            <a:r>
              <a:rPr lang="en-US" dirty="0"/>
              <a:t>• main() – main function</a:t>
            </a:r>
          </a:p>
          <a:p>
            <a:pPr marL="0" indent="0">
              <a:buNone/>
            </a:pPr>
            <a:r>
              <a:rPr lang="en-US" dirty="0"/>
              <a:t>• {....} – block</a:t>
            </a:r>
          </a:p>
          <a:p>
            <a:pPr marL="0" indent="0">
              <a:buNone/>
            </a:pPr>
            <a:r>
              <a:rPr lang="en-US" dirty="0"/>
              <a:t>• </a:t>
            </a:r>
            <a:r>
              <a:rPr lang="en-US" dirty="0" err="1"/>
              <a:t>printf</a:t>
            </a:r>
            <a:r>
              <a:rPr lang="en-US" dirty="0"/>
              <a:t> – function to print text to screen</a:t>
            </a:r>
          </a:p>
          <a:p>
            <a:pPr marL="0" indent="0">
              <a:buNone/>
            </a:pPr>
            <a:r>
              <a:rPr lang="en-US" dirty="0"/>
              <a:t>• return 0 – returns value 0 at the end of the main function.</a:t>
            </a:r>
            <a:endParaRPr lang="en-IN" dirty="0"/>
          </a:p>
        </p:txBody>
      </p:sp>
    </p:spTree>
    <p:extLst>
      <p:ext uri="{BB962C8B-B14F-4D97-AF65-F5344CB8AC3E}">
        <p14:creationId xmlns:p14="http://schemas.microsoft.com/office/powerpoint/2010/main" val="40494454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34E65D-9318-5C17-E254-634A589A408E}"/>
              </a:ext>
            </a:extLst>
          </p:cNvPr>
          <p:cNvSpPr>
            <a:spLocks noGrp="1"/>
          </p:cNvSpPr>
          <p:nvPr>
            <p:ph idx="1"/>
          </p:nvPr>
        </p:nvSpPr>
        <p:spPr>
          <a:xfrm>
            <a:off x="838200" y="531845"/>
            <a:ext cx="10515600" cy="5645118"/>
          </a:xfrm>
        </p:spPr>
        <p:txBody>
          <a:bodyPr/>
          <a:lstStyle/>
          <a:p>
            <a:pPr marL="0" indent="0">
              <a:lnSpc>
                <a:spcPct val="150000"/>
              </a:lnSpc>
              <a:buNone/>
            </a:pPr>
            <a:r>
              <a:rPr lang="en-US" b="1" dirty="0">
                <a:solidFill>
                  <a:srgbClr val="7030A0"/>
                </a:solidFill>
              </a:rPr>
              <a:t>Note</a:t>
            </a:r>
          </a:p>
          <a:p>
            <a:pPr marL="0" indent="0">
              <a:lnSpc>
                <a:spcPct val="150000"/>
              </a:lnSpc>
              <a:buNone/>
            </a:pPr>
            <a:r>
              <a:rPr lang="en-US" dirty="0"/>
              <a:t>• C requires a semicolon at the end of every statement.</a:t>
            </a:r>
          </a:p>
          <a:p>
            <a:pPr marL="0" indent="0">
              <a:lnSpc>
                <a:spcPct val="150000"/>
              </a:lnSpc>
              <a:buNone/>
            </a:pPr>
            <a:r>
              <a:rPr lang="en-US" dirty="0"/>
              <a:t>• </a:t>
            </a:r>
            <a:r>
              <a:rPr lang="en-US" dirty="0" err="1"/>
              <a:t>printf</a:t>
            </a:r>
            <a:r>
              <a:rPr lang="en-US" dirty="0"/>
              <a:t>() is a standard C function</a:t>
            </a:r>
          </a:p>
          <a:p>
            <a:pPr marL="0" indent="0">
              <a:lnSpc>
                <a:spcPct val="150000"/>
              </a:lnSpc>
              <a:buNone/>
            </a:pPr>
            <a:r>
              <a:rPr lang="en-US" dirty="0"/>
              <a:t>• \n signifies newline.</a:t>
            </a:r>
            <a:endParaRPr lang="en-IN" dirty="0"/>
          </a:p>
        </p:txBody>
      </p:sp>
    </p:spTree>
    <p:extLst>
      <p:ext uri="{BB962C8B-B14F-4D97-AF65-F5344CB8AC3E}">
        <p14:creationId xmlns:p14="http://schemas.microsoft.com/office/powerpoint/2010/main" val="15285485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D550BD-E6FA-62D8-B3CE-5D29E4DE048A}"/>
              </a:ext>
            </a:extLst>
          </p:cNvPr>
          <p:cNvSpPr>
            <a:spLocks noGrp="1"/>
          </p:cNvSpPr>
          <p:nvPr>
            <p:ph idx="1"/>
          </p:nvPr>
        </p:nvSpPr>
        <p:spPr>
          <a:xfrm>
            <a:off x="838200" y="485192"/>
            <a:ext cx="10515600" cy="5831731"/>
          </a:xfrm>
        </p:spPr>
        <p:txBody>
          <a:bodyPr/>
          <a:lstStyle/>
          <a:p>
            <a:pPr marL="0" indent="0">
              <a:buNone/>
            </a:pPr>
            <a:r>
              <a:rPr lang="en-IN" b="1" dirty="0">
                <a:solidFill>
                  <a:srgbClr val="7030A0"/>
                </a:solidFill>
              </a:rPr>
              <a:t>Variables</a:t>
            </a:r>
          </a:p>
          <a:p>
            <a:pPr marL="0" indent="0">
              <a:buNone/>
            </a:pPr>
            <a:r>
              <a:rPr lang="en-US" dirty="0"/>
              <a:t>Variables are Names (identifiers) Associated with locations in memory for storing   Variable data.</a:t>
            </a:r>
          </a:p>
          <a:p>
            <a:pPr marL="0" indent="0">
              <a:buNone/>
            </a:pPr>
            <a:r>
              <a:rPr lang="en-US" dirty="0"/>
              <a:t>• Every variable has</a:t>
            </a:r>
          </a:p>
          <a:p>
            <a:pPr marL="0" indent="0">
              <a:buNone/>
            </a:pPr>
            <a:r>
              <a:rPr lang="en-US" dirty="0"/>
              <a:t>Name</a:t>
            </a:r>
          </a:p>
          <a:p>
            <a:pPr marL="0" indent="0">
              <a:buNone/>
            </a:pPr>
            <a:r>
              <a:rPr lang="en-US" dirty="0"/>
              <a:t> Type</a:t>
            </a:r>
          </a:p>
          <a:p>
            <a:pPr marL="0" indent="0">
              <a:buNone/>
            </a:pPr>
            <a:r>
              <a:rPr lang="en-US" dirty="0"/>
              <a:t> Size</a:t>
            </a:r>
          </a:p>
          <a:p>
            <a:pPr marL="0" indent="0">
              <a:buNone/>
            </a:pPr>
            <a:r>
              <a:rPr lang="en-US" dirty="0"/>
              <a:t> Value</a:t>
            </a:r>
          </a:p>
          <a:p>
            <a:pPr marL="0" indent="0">
              <a:buNone/>
            </a:pPr>
            <a:r>
              <a:rPr lang="en-US" dirty="0"/>
              <a:t>Datatype variable=value;</a:t>
            </a:r>
            <a:endParaRPr lang="en-IN" dirty="0"/>
          </a:p>
        </p:txBody>
      </p:sp>
    </p:spTree>
    <p:extLst>
      <p:ext uri="{BB962C8B-B14F-4D97-AF65-F5344CB8AC3E}">
        <p14:creationId xmlns:p14="http://schemas.microsoft.com/office/powerpoint/2010/main" val="32440863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11EAC6-A067-9284-E4E5-2876082172EF}"/>
              </a:ext>
            </a:extLst>
          </p:cNvPr>
          <p:cNvSpPr>
            <a:spLocks noGrp="1"/>
          </p:cNvSpPr>
          <p:nvPr>
            <p:ph idx="1"/>
          </p:nvPr>
        </p:nvSpPr>
        <p:spPr>
          <a:xfrm>
            <a:off x="838200" y="774441"/>
            <a:ext cx="10515600" cy="5402522"/>
          </a:xfrm>
        </p:spPr>
        <p:txBody>
          <a:bodyPr/>
          <a:lstStyle/>
          <a:p>
            <a:pPr marL="355600" marR="5080" indent="-343535">
              <a:lnSpc>
                <a:spcPct val="150000"/>
              </a:lnSpc>
              <a:spcBef>
                <a:spcPts val="265"/>
              </a:spcBef>
              <a:buFont typeface="Arial"/>
              <a:buChar char="•"/>
              <a:tabLst>
                <a:tab pos="355600" algn="l"/>
                <a:tab pos="356235" algn="l"/>
              </a:tabLst>
            </a:pPr>
            <a:r>
              <a:rPr lang="en-IN" sz="2800" dirty="0">
                <a:latin typeface="Carlito"/>
                <a:cs typeface="Carlito"/>
                <a:sym typeface="Wingdings" pitchFamily="2" charset="2"/>
              </a:rPr>
              <a:t>Do’s</a:t>
            </a:r>
          </a:p>
          <a:p>
            <a:pPr marL="12065" marR="5080" indent="0">
              <a:lnSpc>
                <a:spcPct val="150000"/>
              </a:lnSpc>
              <a:spcBef>
                <a:spcPts val="265"/>
              </a:spcBef>
              <a:buNone/>
              <a:tabLst>
                <a:tab pos="355600" algn="l"/>
                <a:tab pos="356235" algn="l"/>
              </a:tabLst>
            </a:pPr>
            <a:r>
              <a:rPr lang="en-IN" sz="2800" dirty="0">
                <a:latin typeface="Carlito"/>
                <a:cs typeface="Carlito"/>
                <a:sym typeface="Wingdings" pitchFamily="2" charset="2"/>
              </a:rPr>
              <a:t>1.lower case  ex: </a:t>
            </a:r>
            <a:r>
              <a:rPr lang="en-IN" sz="2800" dirty="0" err="1">
                <a:latin typeface="Carlito"/>
                <a:cs typeface="Carlito"/>
                <a:sym typeface="Wingdings" pitchFamily="2" charset="2"/>
              </a:rPr>
              <a:t>a,..,z</a:t>
            </a:r>
            <a:r>
              <a:rPr lang="en-IN" sz="2800" dirty="0">
                <a:latin typeface="Carlito"/>
                <a:cs typeface="Carlito"/>
                <a:sym typeface="Wingdings" pitchFamily="2" charset="2"/>
              </a:rPr>
              <a:t> or </a:t>
            </a:r>
            <a:r>
              <a:rPr lang="en-IN" dirty="0">
                <a:latin typeface="Carlito"/>
                <a:cs typeface="Carlito"/>
                <a:sym typeface="Wingdings" pitchFamily="2" charset="2"/>
              </a:rPr>
              <a:t>name</a:t>
            </a:r>
            <a:r>
              <a:rPr lang="en-IN" sz="2800" dirty="0">
                <a:latin typeface="Carlito"/>
                <a:cs typeface="Carlito"/>
                <a:sym typeface="Wingdings" pitchFamily="2" charset="2"/>
              </a:rPr>
              <a:t>=10</a:t>
            </a:r>
          </a:p>
          <a:p>
            <a:pPr marL="12065" marR="5080" indent="0">
              <a:lnSpc>
                <a:spcPct val="150000"/>
              </a:lnSpc>
              <a:spcBef>
                <a:spcPts val="265"/>
              </a:spcBef>
              <a:buNone/>
              <a:tabLst>
                <a:tab pos="355600" algn="l"/>
                <a:tab pos="356235" algn="l"/>
              </a:tabLst>
            </a:pPr>
            <a:r>
              <a:rPr lang="en-IN" sz="2800" dirty="0">
                <a:latin typeface="Carlito"/>
                <a:cs typeface="Carlito"/>
                <a:sym typeface="Wingdings" pitchFamily="2" charset="2"/>
              </a:rPr>
              <a:t>2. uppercase  </a:t>
            </a:r>
            <a:r>
              <a:rPr lang="en-IN" sz="2800" dirty="0" err="1">
                <a:latin typeface="Carlito"/>
                <a:cs typeface="Carlito"/>
                <a:sym typeface="Wingdings" pitchFamily="2" charset="2"/>
              </a:rPr>
              <a:t>ex:A</a:t>
            </a:r>
            <a:r>
              <a:rPr lang="en-IN" sz="2800" dirty="0">
                <a:latin typeface="Carlito"/>
                <a:cs typeface="Carlito"/>
                <a:sym typeface="Wingdings" pitchFamily="2" charset="2"/>
              </a:rPr>
              <a:t>,..,Z or </a:t>
            </a:r>
            <a:r>
              <a:rPr lang="en-IN" dirty="0">
                <a:latin typeface="Carlito"/>
                <a:cs typeface="Carlito"/>
                <a:sym typeface="Wingdings" pitchFamily="2" charset="2"/>
              </a:rPr>
              <a:t>NAME</a:t>
            </a:r>
            <a:r>
              <a:rPr lang="en-IN" sz="2800" dirty="0">
                <a:latin typeface="Carlito"/>
                <a:cs typeface="Carlito"/>
                <a:sym typeface="Wingdings" pitchFamily="2" charset="2"/>
              </a:rPr>
              <a:t>=2</a:t>
            </a:r>
          </a:p>
          <a:p>
            <a:pPr marL="12065" marR="5080" indent="0">
              <a:lnSpc>
                <a:spcPct val="150000"/>
              </a:lnSpc>
              <a:spcBef>
                <a:spcPts val="265"/>
              </a:spcBef>
              <a:buNone/>
              <a:tabLst>
                <a:tab pos="355600" algn="l"/>
                <a:tab pos="356235" algn="l"/>
              </a:tabLst>
            </a:pPr>
            <a:r>
              <a:rPr lang="en-IN" sz="2800" dirty="0">
                <a:latin typeface="Carlito"/>
                <a:cs typeface="Carlito"/>
                <a:sym typeface="Wingdings" pitchFamily="2" charset="2"/>
              </a:rPr>
              <a:t>3. Both upper and lower  ex: </a:t>
            </a:r>
            <a:r>
              <a:rPr lang="en-IN" dirty="0">
                <a:latin typeface="Carlito"/>
                <a:cs typeface="Carlito"/>
                <a:sym typeface="Wingdings" pitchFamily="2" charset="2"/>
              </a:rPr>
              <a:t>Name</a:t>
            </a:r>
            <a:r>
              <a:rPr lang="en-IN" sz="2800" dirty="0">
                <a:latin typeface="Carlito"/>
                <a:cs typeface="Carlito"/>
                <a:sym typeface="Wingdings" pitchFamily="2" charset="2"/>
              </a:rPr>
              <a:t>=9</a:t>
            </a:r>
          </a:p>
          <a:p>
            <a:pPr marL="12065" marR="5080" indent="0">
              <a:lnSpc>
                <a:spcPct val="150000"/>
              </a:lnSpc>
              <a:spcBef>
                <a:spcPts val="265"/>
              </a:spcBef>
              <a:buNone/>
              <a:tabLst>
                <a:tab pos="355600" algn="l"/>
                <a:tab pos="356235" algn="l"/>
              </a:tabLst>
            </a:pPr>
            <a:r>
              <a:rPr lang="en-IN" sz="2800" dirty="0">
                <a:latin typeface="Carlito"/>
                <a:cs typeface="Carlito"/>
                <a:sym typeface="Wingdings" pitchFamily="2" charset="2"/>
              </a:rPr>
              <a:t>4. Underscore (_) </a:t>
            </a:r>
            <a:r>
              <a:rPr lang="en-IN" dirty="0" err="1">
                <a:latin typeface="Carlito"/>
                <a:cs typeface="Carlito"/>
                <a:sym typeface="Wingdings" pitchFamily="2" charset="2"/>
              </a:rPr>
              <a:t>max_value</a:t>
            </a:r>
            <a:r>
              <a:rPr lang="en-IN" sz="2800" dirty="0">
                <a:latin typeface="Carlito"/>
                <a:cs typeface="Carlito"/>
                <a:sym typeface="Wingdings" pitchFamily="2" charset="2"/>
              </a:rPr>
              <a:t>=1</a:t>
            </a:r>
          </a:p>
          <a:p>
            <a:pPr marL="12065" marR="5080" indent="0">
              <a:lnSpc>
                <a:spcPct val="150000"/>
              </a:lnSpc>
              <a:spcBef>
                <a:spcPts val="265"/>
              </a:spcBef>
              <a:buNone/>
              <a:tabLst>
                <a:tab pos="355600" algn="l"/>
                <a:tab pos="356235" algn="l"/>
              </a:tabLst>
            </a:pPr>
            <a:r>
              <a:rPr lang="en-IN" sz="2800" dirty="0">
                <a:latin typeface="Carlito"/>
                <a:cs typeface="Carlito"/>
                <a:sym typeface="Wingdings" pitchFamily="2" charset="2"/>
              </a:rPr>
              <a:t>5. Variable after number  a=10, a1=3</a:t>
            </a:r>
          </a:p>
          <a:p>
            <a:endParaRPr lang="en-IN" dirty="0"/>
          </a:p>
        </p:txBody>
      </p:sp>
    </p:spTree>
    <p:extLst>
      <p:ext uri="{BB962C8B-B14F-4D97-AF65-F5344CB8AC3E}">
        <p14:creationId xmlns:p14="http://schemas.microsoft.com/office/powerpoint/2010/main" val="28355333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602738" y="858416"/>
            <a:ext cx="9398053" cy="4440948"/>
          </a:xfrm>
        </p:spPr>
        <p:txBody>
          <a:bodyPr>
            <a:normAutofit fontScale="92500"/>
          </a:bodyPr>
          <a:lstStyle/>
          <a:p>
            <a:r>
              <a:rPr lang="en-IN" sz="3900" dirty="0"/>
              <a:t>Don’ts</a:t>
            </a:r>
          </a:p>
          <a:p>
            <a:pPr marL="0" indent="0">
              <a:lnSpc>
                <a:spcPct val="150000"/>
              </a:lnSpc>
              <a:buNone/>
            </a:pPr>
            <a:r>
              <a:rPr lang="en-IN" sz="3600" dirty="0"/>
              <a:t>1.Blank/white space not allowed</a:t>
            </a:r>
          </a:p>
          <a:p>
            <a:pPr marL="0" indent="0">
              <a:lnSpc>
                <a:spcPct val="150000"/>
              </a:lnSpc>
              <a:buNone/>
            </a:pPr>
            <a:r>
              <a:rPr lang="en-IN" sz="3600" dirty="0"/>
              <a:t>2. Keywords not allowed if=10</a:t>
            </a:r>
          </a:p>
          <a:p>
            <a:pPr marL="0" indent="0">
              <a:lnSpc>
                <a:spcPct val="150000"/>
              </a:lnSpc>
              <a:buNone/>
            </a:pPr>
            <a:r>
              <a:rPr lang="en-IN" sz="3600" dirty="0"/>
              <a:t>3.Special symbols (</a:t>
            </a:r>
            <a:r>
              <a:rPr lang="en-IN" sz="3600" dirty="0">
                <a:hlinkClick r:id="rId2"/>
              </a:rPr>
              <a:t>!@#$%^&amp;*)-+:”&lt;&gt;?*/.,;’[]{}|</a:t>
            </a:r>
            <a:r>
              <a:rPr lang="en-IN" sz="3600" dirty="0"/>
              <a:t> @=3</a:t>
            </a:r>
          </a:p>
          <a:p>
            <a:pPr marL="0" indent="0">
              <a:lnSpc>
                <a:spcPct val="150000"/>
              </a:lnSpc>
              <a:buNone/>
            </a:pPr>
            <a:r>
              <a:rPr lang="en-IN" sz="3600" dirty="0"/>
              <a:t>4.can’t start with digit ex: 1=10, 2agcd=9</a:t>
            </a:r>
          </a:p>
        </p:txBody>
      </p:sp>
    </p:spTree>
    <p:extLst>
      <p:ext uri="{BB962C8B-B14F-4D97-AF65-F5344CB8AC3E}">
        <p14:creationId xmlns:p14="http://schemas.microsoft.com/office/powerpoint/2010/main" val="39230449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E7FDD2-A07D-50D2-F648-6DF35C8ADFAC}"/>
              </a:ext>
            </a:extLst>
          </p:cNvPr>
          <p:cNvSpPr>
            <a:spLocks noGrp="1"/>
          </p:cNvSpPr>
          <p:nvPr>
            <p:ph idx="1"/>
          </p:nvPr>
        </p:nvSpPr>
        <p:spPr>
          <a:xfrm>
            <a:off x="838200" y="513184"/>
            <a:ext cx="10515600" cy="5663779"/>
          </a:xfrm>
        </p:spPr>
        <p:txBody>
          <a:bodyPr/>
          <a:lstStyle/>
          <a:p>
            <a:pPr marL="0" indent="0">
              <a:buNone/>
            </a:pPr>
            <a:r>
              <a:rPr lang="en-IN" b="1" dirty="0">
                <a:solidFill>
                  <a:srgbClr val="7030A0"/>
                </a:solidFill>
              </a:rPr>
              <a:t>Type Modifiers</a:t>
            </a:r>
          </a:p>
          <a:p>
            <a:pPr marL="0" indent="0">
              <a:buNone/>
            </a:pPr>
            <a:r>
              <a:rPr lang="en-IN" dirty="0"/>
              <a:t> </a:t>
            </a:r>
            <a:r>
              <a:rPr lang="en-IN" b="1" dirty="0">
                <a:solidFill>
                  <a:schemeClr val="accent2">
                    <a:lumMod val="75000"/>
                  </a:schemeClr>
                </a:solidFill>
              </a:rPr>
              <a:t>Size qualifiers</a:t>
            </a:r>
          </a:p>
          <a:p>
            <a:pPr marL="0" indent="0">
              <a:buNone/>
            </a:pPr>
            <a:r>
              <a:rPr lang="en-IN" dirty="0"/>
              <a:t>• long</a:t>
            </a:r>
          </a:p>
          <a:p>
            <a:pPr marL="0" indent="0">
              <a:buNone/>
            </a:pPr>
            <a:r>
              <a:rPr lang="en-IN" dirty="0"/>
              <a:t>• Short</a:t>
            </a:r>
          </a:p>
          <a:p>
            <a:pPr marL="0" indent="0">
              <a:buNone/>
            </a:pPr>
            <a:r>
              <a:rPr lang="en-IN" b="1" dirty="0">
                <a:solidFill>
                  <a:schemeClr val="accent2">
                    <a:lumMod val="75000"/>
                  </a:schemeClr>
                </a:solidFill>
              </a:rPr>
              <a:t>Sign qualifiers</a:t>
            </a:r>
          </a:p>
          <a:p>
            <a:pPr marL="0" indent="0">
              <a:buNone/>
            </a:pPr>
            <a:r>
              <a:rPr lang="en-IN" dirty="0"/>
              <a:t>• Signed</a:t>
            </a:r>
          </a:p>
          <a:p>
            <a:pPr marL="0" indent="0">
              <a:buNone/>
            </a:pPr>
            <a:r>
              <a:rPr lang="en-IN" dirty="0"/>
              <a:t>• Unsigned</a:t>
            </a:r>
          </a:p>
        </p:txBody>
      </p:sp>
    </p:spTree>
    <p:extLst>
      <p:ext uri="{BB962C8B-B14F-4D97-AF65-F5344CB8AC3E}">
        <p14:creationId xmlns:p14="http://schemas.microsoft.com/office/powerpoint/2010/main" val="40372207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752EF1-5AEF-AF05-A891-7EBE166FE6CF}"/>
              </a:ext>
            </a:extLst>
          </p:cNvPr>
          <p:cNvSpPr>
            <a:spLocks noGrp="1"/>
          </p:cNvSpPr>
          <p:nvPr>
            <p:ph idx="1"/>
          </p:nvPr>
        </p:nvSpPr>
        <p:spPr>
          <a:xfrm>
            <a:off x="838200" y="550506"/>
            <a:ext cx="10515600" cy="5626457"/>
          </a:xfrm>
        </p:spPr>
        <p:txBody>
          <a:bodyPr>
            <a:normAutofit/>
          </a:bodyPr>
          <a:lstStyle/>
          <a:p>
            <a:pPr marL="0" indent="0">
              <a:buNone/>
            </a:pPr>
            <a:r>
              <a:rPr lang="en-IN" b="1" dirty="0">
                <a:solidFill>
                  <a:srgbClr val="7030A0"/>
                </a:solidFill>
              </a:rPr>
              <a:t>Data Types</a:t>
            </a:r>
          </a:p>
          <a:p>
            <a:pPr marL="0" indent="0">
              <a:buNone/>
            </a:pPr>
            <a:r>
              <a:rPr lang="en-IN" dirty="0"/>
              <a:t> </a:t>
            </a:r>
            <a:r>
              <a:rPr lang="en-IN" b="1" dirty="0">
                <a:solidFill>
                  <a:srgbClr val="7030A0"/>
                </a:solidFill>
              </a:rPr>
              <a:t>Fundamental Datatypes</a:t>
            </a:r>
          </a:p>
          <a:p>
            <a:pPr marL="0" indent="0">
              <a:buNone/>
            </a:pPr>
            <a:r>
              <a:rPr lang="en-IN" dirty="0"/>
              <a:t>• Integer (int)</a:t>
            </a:r>
          </a:p>
          <a:p>
            <a:pPr marL="0" indent="0">
              <a:buNone/>
            </a:pPr>
            <a:r>
              <a:rPr lang="en-IN" dirty="0"/>
              <a:t>• Character (char)</a:t>
            </a:r>
          </a:p>
          <a:p>
            <a:pPr marL="0" indent="0">
              <a:buNone/>
            </a:pPr>
            <a:r>
              <a:rPr lang="en-IN" dirty="0"/>
              <a:t>• Floating Point (float, double)</a:t>
            </a:r>
          </a:p>
          <a:p>
            <a:pPr marL="0" indent="0">
              <a:buNone/>
            </a:pPr>
            <a:r>
              <a:rPr lang="en-IN" dirty="0"/>
              <a:t> </a:t>
            </a:r>
            <a:r>
              <a:rPr lang="en-IN" b="1" dirty="0">
                <a:solidFill>
                  <a:srgbClr val="7030A0"/>
                </a:solidFill>
              </a:rPr>
              <a:t>User Defined</a:t>
            </a:r>
          </a:p>
          <a:p>
            <a:pPr marL="0" indent="0">
              <a:buNone/>
            </a:pPr>
            <a:r>
              <a:rPr lang="en-IN" dirty="0"/>
              <a:t>• </a:t>
            </a:r>
            <a:r>
              <a:rPr lang="en-IN" dirty="0" err="1"/>
              <a:t>TypeDef</a:t>
            </a:r>
            <a:endParaRPr lang="en-IN" dirty="0"/>
          </a:p>
          <a:p>
            <a:pPr marL="0" indent="0">
              <a:buNone/>
            </a:pPr>
            <a:r>
              <a:rPr lang="en-IN" dirty="0"/>
              <a:t>• </a:t>
            </a:r>
            <a:r>
              <a:rPr lang="en-IN" dirty="0" err="1"/>
              <a:t>Stucture</a:t>
            </a:r>
            <a:endParaRPr lang="en-IN" dirty="0"/>
          </a:p>
          <a:p>
            <a:pPr marL="0" indent="0">
              <a:buNone/>
            </a:pPr>
            <a:r>
              <a:rPr lang="en-IN" dirty="0"/>
              <a:t>• Union</a:t>
            </a:r>
          </a:p>
          <a:p>
            <a:pPr marL="0" indent="0">
              <a:buNone/>
            </a:pPr>
            <a:r>
              <a:rPr lang="en-IN" dirty="0"/>
              <a:t>• Enumerated Datatype</a:t>
            </a:r>
          </a:p>
        </p:txBody>
      </p:sp>
    </p:spTree>
    <p:extLst>
      <p:ext uri="{BB962C8B-B14F-4D97-AF65-F5344CB8AC3E}">
        <p14:creationId xmlns:p14="http://schemas.microsoft.com/office/powerpoint/2010/main" val="18664986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3">
            <a:extLst>
              <a:ext uri="{FF2B5EF4-FFF2-40B4-BE49-F238E27FC236}">
                <a16:creationId xmlns:a16="http://schemas.microsoft.com/office/drawing/2014/main" id="{633793E7-D941-453F-BABC-2F680C2BB246}"/>
              </a:ext>
            </a:extLst>
          </p:cNvPr>
          <p:cNvGraphicFramePr>
            <a:graphicFrameLocks noGrp="1"/>
          </p:cNvGraphicFramePr>
          <p:nvPr>
            <p:ph idx="1"/>
            <p:extLst>
              <p:ext uri="{D42A27DB-BD31-4B8C-83A1-F6EECF244321}">
                <p14:modId xmlns:p14="http://schemas.microsoft.com/office/powerpoint/2010/main" val="3559316306"/>
              </p:ext>
            </p:extLst>
          </p:nvPr>
        </p:nvGraphicFramePr>
        <p:xfrm>
          <a:off x="815652" y="1324947"/>
          <a:ext cx="10560695" cy="3703320"/>
        </p:xfrm>
        <a:graphic>
          <a:graphicData uri="http://schemas.openxmlformats.org/drawingml/2006/table">
            <a:tbl>
              <a:tblPr firstRow="1" bandRow="1">
                <a:tableStyleId>{5C22544A-7EE6-4342-B048-85BDC9FD1C3A}</a:tableStyleId>
              </a:tblPr>
              <a:tblGrid>
                <a:gridCol w="3550297">
                  <a:extLst>
                    <a:ext uri="{9D8B030D-6E8A-4147-A177-3AD203B41FA5}">
                      <a16:colId xmlns:a16="http://schemas.microsoft.com/office/drawing/2014/main" val="2465201714"/>
                    </a:ext>
                  </a:extLst>
                </a:gridCol>
                <a:gridCol w="3505199">
                  <a:extLst>
                    <a:ext uri="{9D8B030D-6E8A-4147-A177-3AD203B41FA5}">
                      <a16:colId xmlns:a16="http://schemas.microsoft.com/office/drawing/2014/main" val="2408699732"/>
                    </a:ext>
                  </a:extLst>
                </a:gridCol>
                <a:gridCol w="3505199">
                  <a:extLst>
                    <a:ext uri="{9D8B030D-6E8A-4147-A177-3AD203B41FA5}">
                      <a16:colId xmlns:a16="http://schemas.microsoft.com/office/drawing/2014/main" val="600422755"/>
                    </a:ext>
                  </a:extLst>
                </a:gridCol>
              </a:tblGrid>
              <a:tr h="255698">
                <a:tc>
                  <a:txBody>
                    <a:bodyPr/>
                    <a:lstStyle/>
                    <a:p>
                      <a:r>
                        <a:rPr lang="en-IN" dirty="0"/>
                        <a:t>Data Type</a:t>
                      </a:r>
                    </a:p>
                  </a:txBody>
                  <a:tcPr/>
                </a:tc>
                <a:tc>
                  <a:txBody>
                    <a:bodyPr/>
                    <a:lstStyle/>
                    <a:p>
                      <a:r>
                        <a:rPr lang="en-IN" dirty="0"/>
                        <a:t>Memory Size</a:t>
                      </a:r>
                    </a:p>
                  </a:txBody>
                  <a:tcPr/>
                </a:tc>
                <a:tc>
                  <a:txBody>
                    <a:bodyPr/>
                    <a:lstStyle/>
                    <a:p>
                      <a:r>
                        <a:rPr lang="en-IN" dirty="0"/>
                        <a:t>Range</a:t>
                      </a:r>
                    </a:p>
                  </a:txBody>
                  <a:tcPr/>
                </a:tc>
                <a:extLst>
                  <a:ext uri="{0D108BD9-81ED-4DB2-BD59-A6C34878D82A}">
                    <a16:rowId xmlns:a16="http://schemas.microsoft.com/office/drawing/2014/main" val="336595363"/>
                  </a:ext>
                </a:extLst>
              </a:tr>
              <a:tr h="370840">
                <a:tc>
                  <a:txBody>
                    <a:bodyPr/>
                    <a:lstStyle/>
                    <a:p>
                      <a:r>
                        <a:rPr lang="en-IN" dirty="0"/>
                        <a:t>Char</a:t>
                      </a:r>
                    </a:p>
                  </a:txBody>
                  <a:tcPr/>
                </a:tc>
                <a:tc>
                  <a:txBody>
                    <a:bodyPr/>
                    <a:lstStyle/>
                    <a:p>
                      <a:r>
                        <a:rPr lang="en-IN" dirty="0"/>
                        <a:t>1 byte</a:t>
                      </a:r>
                    </a:p>
                  </a:txBody>
                  <a:tcPr/>
                </a:tc>
                <a:tc>
                  <a:txBody>
                    <a:bodyPr/>
                    <a:lstStyle/>
                    <a:p>
                      <a:r>
                        <a:rPr lang="en-IN" dirty="0"/>
                        <a:t>-128 to 127</a:t>
                      </a:r>
                    </a:p>
                  </a:txBody>
                  <a:tcPr/>
                </a:tc>
                <a:extLst>
                  <a:ext uri="{0D108BD9-81ED-4DB2-BD59-A6C34878D82A}">
                    <a16:rowId xmlns:a16="http://schemas.microsoft.com/office/drawing/2014/main" val="3996865244"/>
                  </a:ext>
                </a:extLst>
              </a:tr>
              <a:tr h="370840">
                <a:tc>
                  <a:txBody>
                    <a:bodyPr/>
                    <a:lstStyle/>
                    <a:p>
                      <a:r>
                        <a:rPr lang="en-IN" dirty="0"/>
                        <a:t>Unsigned char</a:t>
                      </a:r>
                    </a:p>
                  </a:txBody>
                  <a:tcPr/>
                </a:tc>
                <a:tc>
                  <a:txBody>
                    <a:bodyPr/>
                    <a:lstStyle/>
                    <a:p>
                      <a:r>
                        <a:rPr lang="en-IN" dirty="0"/>
                        <a:t>1byte</a:t>
                      </a:r>
                    </a:p>
                  </a:txBody>
                  <a:tcPr/>
                </a:tc>
                <a:tc>
                  <a:txBody>
                    <a:bodyPr/>
                    <a:lstStyle/>
                    <a:p>
                      <a:r>
                        <a:rPr lang="en-IN" dirty="0"/>
                        <a:t>0 to 255</a:t>
                      </a:r>
                    </a:p>
                  </a:txBody>
                  <a:tcPr/>
                </a:tc>
                <a:extLst>
                  <a:ext uri="{0D108BD9-81ED-4DB2-BD59-A6C34878D82A}">
                    <a16:rowId xmlns:a16="http://schemas.microsoft.com/office/drawing/2014/main" val="297715588"/>
                  </a:ext>
                </a:extLst>
              </a:tr>
              <a:tr h="370840">
                <a:tc>
                  <a:txBody>
                    <a:bodyPr/>
                    <a:lstStyle/>
                    <a:p>
                      <a:r>
                        <a:rPr lang="en-IN" dirty="0"/>
                        <a:t>Int </a:t>
                      </a:r>
                    </a:p>
                  </a:txBody>
                  <a:tcPr/>
                </a:tc>
                <a:tc>
                  <a:txBody>
                    <a:bodyPr/>
                    <a:lstStyle/>
                    <a:p>
                      <a:r>
                        <a:rPr lang="en-IN" dirty="0"/>
                        <a:t>2 byte</a:t>
                      </a:r>
                    </a:p>
                  </a:txBody>
                  <a:tcPr/>
                </a:tc>
                <a:tc>
                  <a:txBody>
                    <a:bodyPr/>
                    <a:lstStyle/>
                    <a:p>
                      <a:r>
                        <a:rPr lang="en-IN" dirty="0"/>
                        <a:t>-</a:t>
                      </a:r>
                      <a:r>
                        <a:rPr lang="en-IN" sz="1800" b="0" i="0" kern="1200" dirty="0">
                          <a:solidFill>
                            <a:schemeClr val="dk1"/>
                          </a:solidFill>
                          <a:effectLst/>
                          <a:latin typeface="+mn-lt"/>
                          <a:ea typeface="+mn-ea"/>
                          <a:cs typeface="+mn-cs"/>
                        </a:rPr>
                        <a:t>32,768 to 32,767</a:t>
                      </a:r>
                      <a:endParaRPr lang="en-IN" dirty="0"/>
                    </a:p>
                  </a:txBody>
                  <a:tcPr/>
                </a:tc>
                <a:extLst>
                  <a:ext uri="{0D108BD9-81ED-4DB2-BD59-A6C34878D82A}">
                    <a16:rowId xmlns:a16="http://schemas.microsoft.com/office/drawing/2014/main" val="198075356"/>
                  </a:ext>
                </a:extLst>
              </a:tr>
              <a:tr h="370840">
                <a:tc>
                  <a:txBody>
                    <a:bodyPr/>
                    <a:lstStyle/>
                    <a:p>
                      <a:r>
                        <a:rPr lang="en-IN" dirty="0"/>
                        <a:t>Unsigned int</a:t>
                      </a:r>
                    </a:p>
                  </a:txBody>
                  <a:tcPr/>
                </a:tc>
                <a:tc>
                  <a:txBody>
                    <a:bodyPr/>
                    <a:lstStyle/>
                    <a:p>
                      <a:r>
                        <a:rPr lang="en-IN" dirty="0"/>
                        <a:t>2 byte</a:t>
                      </a:r>
                    </a:p>
                  </a:txBody>
                  <a:tcPr/>
                </a:tc>
                <a:tc>
                  <a:txBody>
                    <a:bodyPr/>
                    <a:lstStyle/>
                    <a:p>
                      <a:r>
                        <a:rPr lang="en-IN" sz="1800" b="0" i="0" kern="1200" dirty="0">
                          <a:solidFill>
                            <a:schemeClr val="dk1"/>
                          </a:solidFill>
                          <a:effectLst/>
                          <a:latin typeface="+mn-lt"/>
                          <a:ea typeface="+mn-ea"/>
                          <a:cs typeface="+mn-cs"/>
                        </a:rPr>
                        <a:t>0 to 65,535</a:t>
                      </a:r>
                      <a:endParaRPr lang="en-IN" dirty="0"/>
                    </a:p>
                  </a:txBody>
                  <a:tcPr/>
                </a:tc>
                <a:extLst>
                  <a:ext uri="{0D108BD9-81ED-4DB2-BD59-A6C34878D82A}">
                    <a16:rowId xmlns:a16="http://schemas.microsoft.com/office/drawing/2014/main" val="331329022"/>
                  </a:ext>
                </a:extLst>
              </a:tr>
              <a:tr h="370840">
                <a:tc>
                  <a:txBody>
                    <a:bodyPr/>
                    <a:lstStyle/>
                    <a:p>
                      <a:r>
                        <a:rPr lang="en-IN" dirty="0"/>
                        <a:t>Long int</a:t>
                      </a:r>
                    </a:p>
                  </a:txBody>
                  <a:tcPr/>
                </a:tc>
                <a:tc>
                  <a:txBody>
                    <a:bodyPr/>
                    <a:lstStyle/>
                    <a:p>
                      <a:r>
                        <a:rPr lang="en-IN" dirty="0"/>
                        <a:t>4 byte</a:t>
                      </a:r>
                    </a:p>
                  </a:txBody>
                  <a:tcPr/>
                </a:tc>
                <a:tc>
                  <a:txBody>
                    <a:bodyPr/>
                    <a:lstStyle/>
                    <a:p>
                      <a:r>
                        <a:rPr lang="en-IN" sz="1800" b="0" i="0" kern="1200" dirty="0">
                          <a:solidFill>
                            <a:schemeClr val="dk1"/>
                          </a:solidFill>
                          <a:effectLst/>
                          <a:latin typeface="+mn-lt"/>
                          <a:ea typeface="+mn-ea"/>
                          <a:cs typeface="+mn-cs"/>
                        </a:rPr>
                        <a:t>-2,147,483,648 to 2,147,483,647</a:t>
                      </a:r>
                    </a:p>
                  </a:txBody>
                  <a:tcPr/>
                </a:tc>
                <a:extLst>
                  <a:ext uri="{0D108BD9-81ED-4DB2-BD59-A6C34878D82A}">
                    <a16:rowId xmlns:a16="http://schemas.microsoft.com/office/drawing/2014/main" val="3391635318"/>
                  </a:ext>
                </a:extLst>
              </a:tr>
              <a:tr h="370840">
                <a:tc>
                  <a:txBody>
                    <a:bodyPr/>
                    <a:lstStyle/>
                    <a:p>
                      <a:r>
                        <a:rPr lang="en-IN" dirty="0"/>
                        <a:t>Unsigned long int</a:t>
                      </a:r>
                    </a:p>
                  </a:txBody>
                  <a:tcPr/>
                </a:tc>
                <a:tc>
                  <a:txBody>
                    <a:bodyPr/>
                    <a:lstStyle/>
                    <a:p>
                      <a:r>
                        <a:rPr lang="en-IN" dirty="0"/>
                        <a:t>4 byte</a:t>
                      </a:r>
                    </a:p>
                  </a:txBody>
                  <a:tcPr/>
                </a:tc>
                <a:tc>
                  <a:txBody>
                    <a:bodyPr/>
                    <a:lstStyle/>
                    <a:p>
                      <a:r>
                        <a:rPr lang="en-IN" sz="1800" b="0" i="0" kern="1200" dirty="0">
                          <a:solidFill>
                            <a:schemeClr val="dk1"/>
                          </a:solidFill>
                          <a:effectLst/>
                          <a:latin typeface="+mn-lt"/>
                          <a:ea typeface="+mn-ea"/>
                          <a:cs typeface="+mn-cs"/>
                        </a:rPr>
                        <a:t>0 to 4,294,967,295</a:t>
                      </a:r>
                    </a:p>
                  </a:txBody>
                  <a:tcPr/>
                </a:tc>
                <a:extLst>
                  <a:ext uri="{0D108BD9-81ED-4DB2-BD59-A6C34878D82A}">
                    <a16:rowId xmlns:a16="http://schemas.microsoft.com/office/drawing/2014/main" val="1047236397"/>
                  </a:ext>
                </a:extLst>
              </a:tr>
              <a:tr h="370840">
                <a:tc>
                  <a:txBody>
                    <a:bodyPr/>
                    <a:lstStyle/>
                    <a:p>
                      <a:r>
                        <a:rPr lang="en-IN" dirty="0"/>
                        <a:t>Float</a:t>
                      </a:r>
                    </a:p>
                  </a:txBody>
                  <a:tcPr/>
                </a:tc>
                <a:tc>
                  <a:txBody>
                    <a:bodyPr/>
                    <a:lstStyle/>
                    <a:p>
                      <a:r>
                        <a:rPr lang="en-IN" dirty="0"/>
                        <a:t>4 byte</a:t>
                      </a:r>
                    </a:p>
                  </a:txBody>
                  <a:tcPr/>
                </a:tc>
                <a:tc>
                  <a:txBody>
                    <a:bodyPr/>
                    <a:lstStyle/>
                    <a:p>
                      <a:endParaRPr lang="en-IN" sz="1800" b="0" i="0" kern="1200" dirty="0">
                        <a:solidFill>
                          <a:schemeClr val="dk1"/>
                        </a:solidFill>
                        <a:effectLst/>
                        <a:latin typeface="+mn-lt"/>
                        <a:ea typeface="+mn-ea"/>
                        <a:cs typeface="+mn-cs"/>
                      </a:endParaRPr>
                    </a:p>
                  </a:txBody>
                  <a:tcPr/>
                </a:tc>
                <a:extLst>
                  <a:ext uri="{0D108BD9-81ED-4DB2-BD59-A6C34878D82A}">
                    <a16:rowId xmlns:a16="http://schemas.microsoft.com/office/drawing/2014/main" val="3754070618"/>
                  </a:ext>
                </a:extLst>
              </a:tr>
              <a:tr h="370840">
                <a:tc>
                  <a:txBody>
                    <a:bodyPr/>
                    <a:lstStyle/>
                    <a:p>
                      <a:r>
                        <a:rPr lang="en-IN" dirty="0"/>
                        <a:t>Double</a:t>
                      </a:r>
                    </a:p>
                  </a:txBody>
                  <a:tcPr/>
                </a:tc>
                <a:tc>
                  <a:txBody>
                    <a:bodyPr/>
                    <a:lstStyle/>
                    <a:p>
                      <a:r>
                        <a:rPr lang="en-IN" dirty="0"/>
                        <a:t>8 byte</a:t>
                      </a:r>
                    </a:p>
                  </a:txBody>
                  <a:tcPr/>
                </a:tc>
                <a:tc>
                  <a:txBody>
                    <a:bodyPr/>
                    <a:lstStyle/>
                    <a:p>
                      <a:endParaRPr lang="en-IN" sz="1800" b="0" i="0" kern="1200" dirty="0">
                        <a:solidFill>
                          <a:schemeClr val="dk1"/>
                        </a:solidFill>
                        <a:effectLst/>
                        <a:latin typeface="+mn-lt"/>
                        <a:ea typeface="+mn-ea"/>
                        <a:cs typeface="+mn-cs"/>
                      </a:endParaRPr>
                    </a:p>
                  </a:txBody>
                  <a:tcPr/>
                </a:tc>
                <a:extLst>
                  <a:ext uri="{0D108BD9-81ED-4DB2-BD59-A6C34878D82A}">
                    <a16:rowId xmlns:a16="http://schemas.microsoft.com/office/drawing/2014/main" val="769076539"/>
                  </a:ext>
                </a:extLst>
              </a:tr>
              <a:tr h="370840">
                <a:tc>
                  <a:txBody>
                    <a:bodyPr/>
                    <a:lstStyle/>
                    <a:p>
                      <a:r>
                        <a:rPr lang="en-IN" dirty="0"/>
                        <a:t>Long double</a:t>
                      </a:r>
                    </a:p>
                  </a:txBody>
                  <a:tcPr/>
                </a:tc>
                <a:tc>
                  <a:txBody>
                    <a:bodyPr/>
                    <a:lstStyle/>
                    <a:p>
                      <a:r>
                        <a:rPr lang="en-IN" dirty="0"/>
                        <a:t>10 byte</a:t>
                      </a:r>
                    </a:p>
                  </a:txBody>
                  <a:tcPr/>
                </a:tc>
                <a:tc>
                  <a:txBody>
                    <a:bodyPr/>
                    <a:lstStyle/>
                    <a:p>
                      <a:endParaRPr lang="en-IN" sz="1800" b="0" i="0" kern="1200" dirty="0">
                        <a:solidFill>
                          <a:schemeClr val="dk1"/>
                        </a:solidFill>
                        <a:effectLst/>
                        <a:latin typeface="+mn-lt"/>
                        <a:ea typeface="+mn-ea"/>
                        <a:cs typeface="+mn-cs"/>
                      </a:endParaRPr>
                    </a:p>
                  </a:txBody>
                  <a:tcPr/>
                </a:tc>
                <a:extLst>
                  <a:ext uri="{0D108BD9-81ED-4DB2-BD59-A6C34878D82A}">
                    <a16:rowId xmlns:a16="http://schemas.microsoft.com/office/drawing/2014/main" val="3344158396"/>
                  </a:ext>
                </a:extLst>
              </a:tr>
            </a:tbl>
          </a:graphicData>
        </a:graphic>
      </p:graphicFrame>
    </p:spTree>
    <p:extLst>
      <p:ext uri="{BB962C8B-B14F-4D97-AF65-F5344CB8AC3E}">
        <p14:creationId xmlns:p14="http://schemas.microsoft.com/office/powerpoint/2010/main" val="4532746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AB6254-2601-F0C4-5F60-5DB699A05FE2}"/>
              </a:ext>
            </a:extLst>
          </p:cNvPr>
          <p:cNvSpPr>
            <a:spLocks noGrp="1"/>
          </p:cNvSpPr>
          <p:nvPr>
            <p:ph idx="1"/>
          </p:nvPr>
        </p:nvSpPr>
        <p:spPr>
          <a:xfrm>
            <a:off x="688910" y="549127"/>
            <a:ext cx="10515600" cy="5635787"/>
          </a:xfrm>
        </p:spPr>
        <p:txBody>
          <a:bodyPr/>
          <a:lstStyle/>
          <a:p>
            <a:pPr marL="0" indent="0">
              <a:buNone/>
            </a:pPr>
            <a:r>
              <a:rPr lang="en-IN" b="1" i="0" dirty="0">
                <a:solidFill>
                  <a:srgbClr val="7030A0"/>
                </a:solidFill>
                <a:effectLst/>
              </a:rPr>
              <a:t>Keywords in C</a:t>
            </a:r>
          </a:p>
          <a:p>
            <a:pPr algn="just"/>
            <a:r>
              <a:rPr lang="en-US" b="0" i="0" dirty="0">
                <a:solidFill>
                  <a:srgbClr val="333333"/>
                </a:solidFill>
                <a:effectLst/>
              </a:rPr>
              <a:t>A keyword is a </a:t>
            </a:r>
            <a:r>
              <a:rPr lang="en-US" b="1" i="0" dirty="0">
                <a:solidFill>
                  <a:srgbClr val="333333"/>
                </a:solidFill>
                <a:effectLst/>
              </a:rPr>
              <a:t>reserved word</a:t>
            </a:r>
            <a:r>
              <a:rPr lang="en-US" b="0" i="0" dirty="0">
                <a:solidFill>
                  <a:srgbClr val="333333"/>
                </a:solidFill>
                <a:effectLst/>
              </a:rPr>
              <a:t>. You cannot use it as a variable name, constant name, etc.</a:t>
            </a:r>
          </a:p>
          <a:p>
            <a:pPr algn="just"/>
            <a:r>
              <a:rPr lang="en-US" b="0" i="0" dirty="0">
                <a:solidFill>
                  <a:srgbClr val="333333"/>
                </a:solidFill>
                <a:effectLst/>
              </a:rPr>
              <a:t> There are only 32 reserved words (keywords) in the C language.</a:t>
            </a:r>
          </a:p>
          <a:p>
            <a:pPr marL="0" indent="0">
              <a:buNone/>
            </a:pPr>
            <a:endParaRPr lang="en-IN" dirty="0"/>
          </a:p>
        </p:txBody>
      </p:sp>
      <p:pic>
        <p:nvPicPr>
          <p:cNvPr id="1028" name="Picture 4" descr="Keywords and Identifiers in C programming language | Codingeek">
            <a:extLst>
              <a:ext uri="{FF2B5EF4-FFF2-40B4-BE49-F238E27FC236}">
                <a16:creationId xmlns:a16="http://schemas.microsoft.com/office/drawing/2014/main" id="{C0F37D6C-87BE-D1D6-3E3E-73D4A14581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7490" y="2873828"/>
            <a:ext cx="9403593" cy="29408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90812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7905ED-0661-FC32-705C-E97D9A9B242E}"/>
              </a:ext>
            </a:extLst>
          </p:cNvPr>
          <p:cNvSpPr>
            <a:spLocks noGrp="1"/>
          </p:cNvSpPr>
          <p:nvPr>
            <p:ph idx="1"/>
          </p:nvPr>
        </p:nvSpPr>
        <p:spPr>
          <a:xfrm>
            <a:off x="838200" y="597159"/>
            <a:ext cx="10515600" cy="5579804"/>
          </a:xfrm>
        </p:spPr>
        <p:txBody>
          <a:bodyPr>
            <a:normAutofit lnSpcReduction="10000"/>
          </a:bodyPr>
          <a:lstStyle/>
          <a:p>
            <a:pPr marL="0" indent="0">
              <a:buNone/>
            </a:pPr>
            <a:r>
              <a:rPr lang="en-US" b="1" dirty="0">
                <a:solidFill>
                  <a:srgbClr val="7030A0"/>
                </a:solidFill>
              </a:rPr>
              <a:t>Operators</a:t>
            </a:r>
          </a:p>
          <a:p>
            <a:pPr marL="0" indent="0">
              <a:buNone/>
            </a:pPr>
            <a:r>
              <a:rPr lang="en-US" dirty="0"/>
              <a:t>• Special characters used to perform particular operations in C</a:t>
            </a:r>
          </a:p>
          <a:p>
            <a:pPr marL="0" indent="0">
              <a:buNone/>
            </a:pPr>
            <a:r>
              <a:rPr lang="en-US" dirty="0"/>
              <a:t>• Used to manipulate data and variables   They are:</a:t>
            </a:r>
          </a:p>
          <a:p>
            <a:pPr marL="514350" indent="-514350">
              <a:buFont typeface="+mj-lt"/>
              <a:buAutoNum type="arabicPeriod"/>
            </a:pPr>
            <a:r>
              <a:rPr lang="en-US" dirty="0"/>
              <a:t> Arithmetic Operators</a:t>
            </a:r>
          </a:p>
          <a:p>
            <a:pPr marL="514350" indent="-514350">
              <a:buFont typeface="+mj-lt"/>
              <a:buAutoNum type="arabicPeriod"/>
            </a:pPr>
            <a:r>
              <a:rPr lang="en-US" dirty="0"/>
              <a:t> Increment and Decrement Operators</a:t>
            </a:r>
          </a:p>
          <a:p>
            <a:pPr marL="514350" indent="-514350">
              <a:buFont typeface="+mj-lt"/>
              <a:buAutoNum type="arabicPeriod"/>
            </a:pPr>
            <a:r>
              <a:rPr lang="en-US" dirty="0"/>
              <a:t> Assignment Operators</a:t>
            </a:r>
          </a:p>
          <a:p>
            <a:pPr marL="514350" indent="-514350">
              <a:buFont typeface="+mj-lt"/>
              <a:buAutoNum type="arabicPeriod"/>
            </a:pPr>
            <a:r>
              <a:rPr lang="en-US" dirty="0"/>
              <a:t> Relational Operators</a:t>
            </a:r>
          </a:p>
          <a:p>
            <a:pPr marL="514350" indent="-514350">
              <a:buFont typeface="+mj-lt"/>
              <a:buAutoNum type="arabicPeriod"/>
            </a:pPr>
            <a:r>
              <a:rPr lang="en-US" dirty="0"/>
              <a:t> Logical Operators</a:t>
            </a:r>
          </a:p>
          <a:p>
            <a:pPr marL="514350" indent="-514350">
              <a:buFont typeface="+mj-lt"/>
              <a:buAutoNum type="arabicPeriod"/>
            </a:pPr>
            <a:r>
              <a:rPr lang="en-US" dirty="0"/>
              <a:t> Conditional Operators</a:t>
            </a:r>
          </a:p>
          <a:p>
            <a:pPr marL="514350" indent="-514350">
              <a:buFont typeface="+mj-lt"/>
              <a:buAutoNum type="arabicPeriod"/>
            </a:pPr>
            <a:r>
              <a:rPr lang="en-US" dirty="0"/>
              <a:t> Bitwise Operators</a:t>
            </a:r>
          </a:p>
          <a:p>
            <a:pPr marL="514350" indent="-514350">
              <a:buFont typeface="+mj-lt"/>
              <a:buAutoNum type="arabicPeriod"/>
            </a:pPr>
            <a:r>
              <a:rPr lang="en-US" dirty="0"/>
              <a:t> Special Operators</a:t>
            </a:r>
            <a:endParaRPr lang="en-IN" dirty="0"/>
          </a:p>
        </p:txBody>
      </p:sp>
    </p:spTree>
    <p:extLst>
      <p:ext uri="{BB962C8B-B14F-4D97-AF65-F5344CB8AC3E}">
        <p14:creationId xmlns:p14="http://schemas.microsoft.com/office/powerpoint/2010/main" val="2645389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D91919-EE97-3C5E-8DE2-27E0B25F8044}"/>
              </a:ext>
            </a:extLst>
          </p:cNvPr>
          <p:cNvSpPr>
            <a:spLocks noGrp="1"/>
          </p:cNvSpPr>
          <p:nvPr>
            <p:ph idx="1"/>
          </p:nvPr>
        </p:nvSpPr>
        <p:spPr>
          <a:xfrm>
            <a:off x="838200" y="541176"/>
            <a:ext cx="10515600" cy="5635787"/>
          </a:xfrm>
        </p:spPr>
        <p:txBody>
          <a:bodyPr/>
          <a:lstStyle/>
          <a:p>
            <a:pPr marL="0" indent="0" algn="just">
              <a:buNone/>
            </a:pPr>
            <a:r>
              <a:rPr lang="en-US" b="1" i="0" dirty="0">
                <a:solidFill>
                  <a:srgbClr val="7030A0"/>
                </a:solidFill>
                <a:effectLst/>
              </a:rPr>
              <a:t> Arithmetic Operators</a:t>
            </a:r>
          </a:p>
          <a:p>
            <a:pPr algn="just">
              <a:lnSpc>
                <a:spcPct val="150000"/>
              </a:lnSpc>
            </a:pPr>
            <a:r>
              <a:rPr lang="en-US" b="0" i="0" dirty="0">
                <a:solidFill>
                  <a:srgbClr val="333333"/>
                </a:solidFill>
                <a:effectLst/>
                <a:latin typeface="inter-regular"/>
              </a:rPr>
              <a:t> </a:t>
            </a:r>
            <a:r>
              <a:rPr lang="en-US" dirty="0">
                <a:solidFill>
                  <a:srgbClr val="333333"/>
                </a:solidFill>
                <a:latin typeface="inter-regular"/>
              </a:rPr>
              <a:t>A</a:t>
            </a:r>
            <a:r>
              <a:rPr lang="en-US" b="0" i="0" dirty="0">
                <a:solidFill>
                  <a:srgbClr val="333333"/>
                </a:solidFill>
                <a:effectLst/>
                <a:latin typeface="inter-regular"/>
              </a:rPr>
              <a:t>rithmetic operators are used to perform addition, subtraction, multiplication, and division.</a:t>
            </a:r>
          </a:p>
          <a:p>
            <a:pPr algn="just">
              <a:lnSpc>
                <a:spcPct val="150000"/>
              </a:lnSpc>
            </a:pPr>
            <a:r>
              <a:rPr lang="en-US" b="0" i="0" dirty="0">
                <a:solidFill>
                  <a:srgbClr val="333333"/>
                </a:solidFill>
                <a:effectLst/>
                <a:latin typeface="inter-regular"/>
              </a:rPr>
              <a:t> They act as basic mathematical operations.</a:t>
            </a:r>
          </a:p>
          <a:p>
            <a:endParaRPr lang="en-IN" dirty="0"/>
          </a:p>
        </p:txBody>
      </p:sp>
    </p:spTree>
    <p:extLst>
      <p:ext uri="{BB962C8B-B14F-4D97-AF65-F5344CB8AC3E}">
        <p14:creationId xmlns:p14="http://schemas.microsoft.com/office/powerpoint/2010/main" val="25180495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90CC8C-1032-00F4-6323-643F80B24BF0}"/>
              </a:ext>
            </a:extLst>
          </p:cNvPr>
          <p:cNvSpPr>
            <a:spLocks noGrp="1"/>
          </p:cNvSpPr>
          <p:nvPr>
            <p:ph idx="1"/>
          </p:nvPr>
        </p:nvSpPr>
        <p:spPr>
          <a:xfrm>
            <a:off x="838200" y="447869"/>
            <a:ext cx="10515600" cy="5887715"/>
          </a:xfrm>
        </p:spPr>
        <p:txBody>
          <a:bodyPr>
            <a:normAutofit/>
          </a:bodyPr>
          <a:lstStyle/>
          <a:p>
            <a:pPr marL="0" indent="0" algn="just">
              <a:buNone/>
            </a:pPr>
            <a:r>
              <a:rPr lang="en-IN" b="1" i="0" dirty="0">
                <a:solidFill>
                  <a:srgbClr val="7030A0"/>
                </a:solidFill>
                <a:effectLst/>
              </a:rPr>
              <a:t>Arithmetic Operator Example</a:t>
            </a:r>
          </a:p>
          <a:p>
            <a:pPr marL="0" indent="0" algn="just">
              <a:buNone/>
            </a:pPr>
            <a:r>
              <a:rPr lang="en-IN" b="1" dirty="0">
                <a:solidFill>
                  <a:srgbClr val="006699"/>
                </a:solidFill>
              </a:rPr>
              <a:t>#include&lt;stdio.h&gt;</a:t>
            </a:r>
            <a:r>
              <a:rPr lang="en-IN" b="0" i="0" dirty="0">
                <a:solidFill>
                  <a:srgbClr val="000000"/>
                </a:solidFill>
                <a:effectLst/>
              </a:rPr>
              <a:t> </a:t>
            </a:r>
          </a:p>
          <a:p>
            <a:pPr marL="0" indent="0" algn="just">
              <a:buNone/>
            </a:pPr>
            <a:r>
              <a:rPr lang="en-IN" b="1" i="0" dirty="0">
                <a:solidFill>
                  <a:srgbClr val="006699"/>
                </a:solidFill>
                <a:effectLst/>
              </a:rPr>
              <a:t>void main(){</a:t>
            </a:r>
          </a:p>
          <a:p>
            <a:pPr marL="0" indent="0" algn="just">
              <a:buNone/>
            </a:pPr>
            <a:r>
              <a:rPr lang="en-IN" b="1" i="0" dirty="0">
                <a:solidFill>
                  <a:srgbClr val="006699"/>
                </a:solidFill>
                <a:effectLst/>
              </a:rPr>
              <a:t>int</a:t>
            </a:r>
            <a:r>
              <a:rPr lang="en-IN" b="0" i="0" dirty="0">
                <a:solidFill>
                  <a:srgbClr val="000000"/>
                </a:solidFill>
                <a:effectLst/>
              </a:rPr>
              <a:t> a=</a:t>
            </a:r>
            <a:r>
              <a:rPr lang="en-IN" b="0" i="0" dirty="0">
                <a:solidFill>
                  <a:srgbClr val="C00000"/>
                </a:solidFill>
                <a:effectLst/>
              </a:rPr>
              <a:t>10</a:t>
            </a:r>
            <a:r>
              <a:rPr lang="en-IN" b="0" i="0" dirty="0">
                <a:solidFill>
                  <a:srgbClr val="000000"/>
                </a:solidFill>
                <a:effectLst/>
              </a:rPr>
              <a:t>;  </a:t>
            </a:r>
          </a:p>
          <a:p>
            <a:pPr marL="0" indent="0" algn="just">
              <a:buNone/>
            </a:pPr>
            <a:r>
              <a:rPr lang="en-IN" b="1" i="0" dirty="0">
                <a:solidFill>
                  <a:srgbClr val="006699"/>
                </a:solidFill>
                <a:effectLst/>
              </a:rPr>
              <a:t>int</a:t>
            </a:r>
            <a:r>
              <a:rPr lang="en-IN" b="0" i="0" dirty="0">
                <a:solidFill>
                  <a:srgbClr val="000000"/>
                </a:solidFill>
                <a:effectLst/>
              </a:rPr>
              <a:t> b=</a:t>
            </a:r>
            <a:r>
              <a:rPr lang="en-IN" b="0" i="0" dirty="0">
                <a:solidFill>
                  <a:srgbClr val="C00000"/>
                </a:solidFill>
                <a:effectLst/>
              </a:rPr>
              <a:t>5</a:t>
            </a:r>
            <a:r>
              <a:rPr lang="en-IN" b="0" i="0" dirty="0">
                <a:solidFill>
                  <a:srgbClr val="000000"/>
                </a:solidFill>
                <a:effectLst/>
              </a:rPr>
              <a:t>;  </a:t>
            </a:r>
          </a:p>
          <a:p>
            <a:pPr marL="0" indent="0" algn="just">
              <a:buNone/>
            </a:pPr>
            <a:r>
              <a:rPr lang="en-IN" b="0" i="0" dirty="0" err="1">
                <a:solidFill>
                  <a:srgbClr val="000000"/>
                </a:solidFill>
                <a:effectLst/>
              </a:rPr>
              <a:t>printf</a:t>
            </a:r>
            <a:r>
              <a:rPr lang="en-IN" b="0" i="0" dirty="0">
                <a:solidFill>
                  <a:srgbClr val="000000"/>
                </a:solidFill>
                <a:effectLst/>
              </a:rPr>
              <a:t>(“%d”, </a:t>
            </a:r>
            <a:r>
              <a:rPr lang="en-IN" b="0" i="0" dirty="0" err="1">
                <a:solidFill>
                  <a:srgbClr val="000000"/>
                </a:solidFill>
                <a:effectLst/>
              </a:rPr>
              <a:t>a+b</a:t>
            </a:r>
            <a:r>
              <a:rPr lang="en-IN" b="0" i="0" dirty="0">
                <a:solidFill>
                  <a:srgbClr val="000000"/>
                </a:solidFill>
                <a:effectLst/>
              </a:rPr>
              <a:t>);</a:t>
            </a:r>
            <a:r>
              <a:rPr lang="en-IN" b="0" i="0" dirty="0">
                <a:solidFill>
                  <a:srgbClr val="008200"/>
                </a:solidFill>
                <a:effectLst/>
              </a:rPr>
              <a:t>//15</a:t>
            </a:r>
            <a:r>
              <a:rPr lang="en-IN" b="0" i="0" dirty="0">
                <a:solidFill>
                  <a:srgbClr val="000000"/>
                </a:solidFill>
                <a:effectLst/>
              </a:rPr>
              <a:t>  </a:t>
            </a:r>
          </a:p>
          <a:p>
            <a:pPr marL="0" indent="0" algn="just">
              <a:buNone/>
            </a:pPr>
            <a:r>
              <a:rPr lang="en-IN" b="0" i="0" dirty="0" err="1">
                <a:solidFill>
                  <a:srgbClr val="000000"/>
                </a:solidFill>
                <a:effectLst/>
              </a:rPr>
              <a:t>printf</a:t>
            </a:r>
            <a:r>
              <a:rPr lang="en-IN" b="0" i="0" dirty="0">
                <a:solidFill>
                  <a:srgbClr val="000000"/>
                </a:solidFill>
                <a:effectLst/>
              </a:rPr>
              <a:t>(“%d”, a-b);</a:t>
            </a:r>
            <a:r>
              <a:rPr lang="en-IN" b="0" i="0" dirty="0">
                <a:solidFill>
                  <a:srgbClr val="008200"/>
                </a:solidFill>
                <a:effectLst/>
              </a:rPr>
              <a:t>//5</a:t>
            </a:r>
            <a:r>
              <a:rPr lang="en-IN" b="0" i="0" dirty="0">
                <a:solidFill>
                  <a:srgbClr val="000000"/>
                </a:solidFill>
                <a:effectLst/>
              </a:rPr>
              <a:t>  </a:t>
            </a:r>
          </a:p>
          <a:p>
            <a:pPr marL="0" indent="0" algn="just">
              <a:buNone/>
            </a:pPr>
            <a:r>
              <a:rPr lang="en-IN" b="0" i="0" dirty="0" err="1">
                <a:solidFill>
                  <a:srgbClr val="000000"/>
                </a:solidFill>
                <a:effectLst/>
              </a:rPr>
              <a:t>printf</a:t>
            </a:r>
            <a:r>
              <a:rPr lang="en-IN" b="0" i="0" dirty="0">
                <a:solidFill>
                  <a:srgbClr val="000000"/>
                </a:solidFill>
                <a:effectLst/>
              </a:rPr>
              <a:t>(“%d”, a*b);</a:t>
            </a:r>
            <a:r>
              <a:rPr lang="en-IN" b="0" i="0" dirty="0">
                <a:solidFill>
                  <a:srgbClr val="008200"/>
                </a:solidFill>
                <a:effectLst/>
              </a:rPr>
              <a:t>//50</a:t>
            </a:r>
            <a:r>
              <a:rPr lang="en-IN" b="0" i="0" dirty="0">
                <a:solidFill>
                  <a:srgbClr val="000000"/>
                </a:solidFill>
                <a:effectLst/>
              </a:rPr>
              <a:t>  </a:t>
            </a:r>
          </a:p>
          <a:p>
            <a:pPr marL="0" indent="0" algn="just">
              <a:buNone/>
            </a:pPr>
            <a:r>
              <a:rPr lang="en-IN" b="0" i="0" dirty="0" err="1">
                <a:solidFill>
                  <a:srgbClr val="000000"/>
                </a:solidFill>
                <a:effectLst/>
              </a:rPr>
              <a:t>printf</a:t>
            </a:r>
            <a:r>
              <a:rPr lang="en-IN" b="0" i="0" dirty="0">
                <a:solidFill>
                  <a:srgbClr val="000000"/>
                </a:solidFill>
                <a:effectLst/>
              </a:rPr>
              <a:t>(“%d”, a/b);</a:t>
            </a:r>
            <a:r>
              <a:rPr lang="en-IN" b="0" i="0" dirty="0">
                <a:solidFill>
                  <a:srgbClr val="008200"/>
                </a:solidFill>
                <a:effectLst/>
              </a:rPr>
              <a:t>//2</a:t>
            </a:r>
            <a:r>
              <a:rPr lang="en-IN" b="0" i="0" dirty="0">
                <a:solidFill>
                  <a:srgbClr val="000000"/>
                </a:solidFill>
                <a:effectLst/>
              </a:rPr>
              <a:t>  </a:t>
            </a:r>
          </a:p>
          <a:p>
            <a:pPr marL="0" indent="0" algn="just">
              <a:buNone/>
            </a:pPr>
            <a:r>
              <a:rPr lang="en-IN" b="0" i="0" dirty="0" err="1">
                <a:solidFill>
                  <a:srgbClr val="000000"/>
                </a:solidFill>
                <a:effectLst/>
              </a:rPr>
              <a:t>printf</a:t>
            </a:r>
            <a:r>
              <a:rPr lang="en-IN" b="0" i="0" dirty="0">
                <a:solidFill>
                  <a:srgbClr val="000000"/>
                </a:solidFill>
                <a:effectLst/>
              </a:rPr>
              <a:t>(“%d”, </a:t>
            </a:r>
            <a:r>
              <a:rPr lang="en-IN" b="0" i="0" dirty="0" err="1">
                <a:solidFill>
                  <a:srgbClr val="000000"/>
                </a:solidFill>
                <a:effectLst/>
              </a:rPr>
              <a:t>a%b</a:t>
            </a:r>
            <a:r>
              <a:rPr lang="en-IN" b="0" i="0" dirty="0">
                <a:solidFill>
                  <a:srgbClr val="000000"/>
                </a:solidFill>
                <a:effectLst/>
              </a:rPr>
              <a:t>);</a:t>
            </a:r>
            <a:r>
              <a:rPr lang="en-IN" b="0" i="0" dirty="0">
                <a:solidFill>
                  <a:srgbClr val="008200"/>
                </a:solidFill>
                <a:effectLst/>
              </a:rPr>
              <a:t>//0</a:t>
            </a:r>
            <a:r>
              <a:rPr lang="en-IN" b="0" i="0" dirty="0">
                <a:solidFill>
                  <a:srgbClr val="000000"/>
                </a:solidFill>
                <a:effectLst/>
              </a:rPr>
              <a:t>  </a:t>
            </a:r>
          </a:p>
          <a:p>
            <a:pPr marL="0" indent="0" algn="just">
              <a:buNone/>
            </a:pPr>
            <a:r>
              <a:rPr lang="en-IN" b="0" i="0" dirty="0">
                <a:solidFill>
                  <a:srgbClr val="000000"/>
                </a:solidFill>
                <a:effectLst/>
              </a:rPr>
              <a:t>}</a:t>
            </a:r>
          </a:p>
          <a:p>
            <a:endParaRPr lang="en-IN" dirty="0"/>
          </a:p>
        </p:txBody>
      </p:sp>
    </p:spTree>
    <p:extLst>
      <p:ext uri="{BB962C8B-B14F-4D97-AF65-F5344CB8AC3E}">
        <p14:creationId xmlns:p14="http://schemas.microsoft.com/office/powerpoint/2010/main" val="18180417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86BD42-E3EB-F89D-03D2-F0EB99DB8686}"/>
              </a:ext>
            </a:extLst>
          </p:cNvPr>
          <p:cNvSpPr>
            <a:spLocks noGrp="1"/>
          </p:cNvSpPr>
          <p:nvPr>
            <p:ph idx="1"/>
          </p:nvPr>
        </p:nvSpPr>
        <p:spPr>
          <a:xfrm>
            <a:off x="838200" y="522514"/>
            <a:ext cx="10515600" cy="6055568"/>
          </a:xfrm>
        </p:spPr>
        <p:txBody>
          <a:bodyPr>
            <a:normAutofit/>
          </a:bodyPr>
          <a:lstStyle/>
          <a:p>
            <a:pPr marL="0" indent="0" algn="just">
              <a:buNone/>
            </a:pPr>
            <a:r>
              <a:rPr lang="en-US" b="1" i="0" dirty="0">
                <a:solidFill>
                  <a:srgbClr val="7030A0"/>
                </a:solidFill>
                <a:effectLst/>
              </a:rPr>
              <a:t> Assignment Operator</a:t>
            </a:r>
          </a:p>
          <a:p>
            <a:pPr algn="just"/>
            <a:r>
              <a:rPr lang="en-US" b="0" i="0" dirty="0">
                <a:solidFill>
                  <a:srgbClr val="333333"/>
                </a:solidFill>
                <a:effectLst/>
              </a:rPr>
              <a:t> </a:t>
            </a:r>
            <a:r>
              <a:rPr lang="en-US" dirty="0">
                <a:solidFill>
                  <a:srgbClr val="333333"/>
                </a:solidFill>
              </a:rPr>
              <a:t>A</a:t>
            </a:r>
            <a:r>
              <a:rPr lang="en-US" b="0" i="0" dirty="0">
                <a:solidFill>
                  <a:srgbClr val="333333"/>
                </a:solidFill>
                <a:effectLst/>
              </a:rPr>
              <a:t>ssignment operator is one of the most common operators. It is used to assign the value on its right to the operand on its left.</a:t>
            </a:r>
          </a:p>
          <a:p>
            <a:pPr marL="0" indent="0" algn="just">
              <a:buNone/>
            </a:pPr>
            <a:r>
              <a:rPr lang="en-US" b="1" i="0" dirty="0">
                <a:solidFill>
                  <a:srgbClr val="7030A0"/>
                </a:solidFill>
                <a:effectLst/>
              </a:rPr>
              <a:t> Assignment Operator Example</a:t>
            </a:r>
          </a:p>
          <a:p>
            <a:pPr marL="0" indent="0" algn="just">
              <a:buNone/>
            </a:pPr>
            <a:r>
              <a:rPr lang="en-US" b="1" dirty="0">
                <a:solidFill>
                  <a:srgbClr val="7030A0"/>
                </a:solidFill>
              </a:rPr>
              <a:t>#include&lt;stdio.h&gt;</a:t>
            </a:r>
          </a:p>
          <a:p>
            <a:pPr marL="0" indent="0" algn="just">
              <a:buNone/>
            </a:pPr>
            <a:r>
              <a:rPr lang="en-US" b="1" dirty="0">
                <a:solidFill>
                  <a:srgbClr val="7030A0"/>
                </a:solidFill>
              </a:rPr>
              <a:t>v</a:t>
            </a:r>
            <a:r>
              <a:rPr lang="en-US" b="1" i="0" dirty="0">
                <a:solidFill>
                  <a:srgbClr val="7030A0"/>
                </a:solidFill>
                <a:effectLst/>
              </a:rPr>
              <a:t>oid main(){</a:t>
            </a:r>
          </a:p>
          <a:p>
            <a:pPr marL="0" indent="0" algn="just">
              <a:buNone/>
            </a:pPr>
            <a:r>
              <a:rPr lang="en-US" b="1" i="0" dirty="0">
                <a:solidFill>
                  <a:srgbClr val="006699"/>
                </a:solidFill>
                <a:effectLst/>
              </a:rPr>
              <a:t>int</a:t>
            </a:r>
            <a:r>
              <a:rPr lang="en-US" b="0" i="0" dirty="0">
                <a:solidFill>
                  <a:srgbClr val="000000"/>
                </a:solidFill>
                <a:effectLst/>
              </a:rPr>
              <a:t> a=</a:t>
            </a:r>
            <a:r>
              <a:rPr lang="en-US" b="0" i="0" dirty="0">
                <a:solidFill>
                  <a:srgbClr val="C00000"/>
                </a:solidFill>
                <a:effectLst/>
              </a:rPr>
              <a:t>10</a:t>
            </a:r>
            <a:r>
              <a:rPr lang="en-US" b="0" i="0" dirty="0">
                <a:solidFill>
                  <a:srgbClr val="000000"/>
                </a:solidFill>
                <a:effectLst/>
              </a:rPr>
              <a:t>;  </a:t>
            </a:r>
          </a:p>
          <a:p>
            <a:pPr marL="0" indent="0" algn="just">
              <a:buNone/>
            </a:pPr>
            <a:r>
              <a:rPr lang="en-US" b="1" i="0" dirty="0">
                <a:solidFill>
                  <a:srgbClr val="006699"/>
                </a:solidFill>
                <a:effectLst/>
              </a:rPr>
              <a:t>int</a:t>
            </a:r>
            <a:r>
              <a:rPr lang="en-US" b="0" i="0" dirty="0">
                <a:solidFill>
                  <a:srgbClr val="000000"/>
                </a:solidFill>
                <a:effectLst/>
              </a:rPr>
              <a:t> b=</a:t>
            </a:r>
            <a:r>
              <a:rPr lang="en-US" b="0" i="0" dirty="0">
                <a:solidFill>
                  <a:srgbClr val="C00000"/>
                </a:solidFill>
                <a:effectLst/>
              </a:rPr>
              <a:t>20</a:t>
            </a:r>
            <a:r>
              <a:rPr lang="en-US" b="0" i="0" dirty="0">
                <a:solidFill>
                  <a:srgbClr val="000000"/>
                </a:solidFill>
                <a:effectLst/>
              </a:rPr>
              <a:t>;  </a:t>
            </a:r>
          </a:p>
          <a:p>
            <a:pPr marL="0" indent="0" algn="just">
              <a:buNone/>
            </a:pPr>
            <a:r>
              <a:rPr lang="en-US" b="0" i="0" dirty="0">
                <a:solidFill>
                  <a:srgbClr val="000000"/>
                </a:solidFill>
                <a:effectLst/>
              </a:rPr>
              <a:t>a+=</a:t>
            </a:r>
            <a:r>
              <a:rPr lang="en-US" b="0" i="0" dirty="0">
                <a:solidFill>
                  <a:srgbClr val="C00000"/>
                </a:solidFill>
                <a:effectLst/>
              </a:rPr>
              <a:t>4</a:t>
            </a:r>
            <a:r>
              <a:rPr lang="en-US" b="0" i="0" dirty="0">
                <a:solidFill>
                  <a:srgbClr val="000000"/>
                </a:solidFill>
                <a:effectLst/>
              </a:rPr>
              <a:t>;</a:t>
            </a:r>
            <a:r>
              <a:rPr lang="en-US" b="0" i="0" dirty="0">
                <a:solidFill>
                  <a:srgbClr val="008200"/>
                </a:solidFill>
                <a:effectLst/>
              </a:rPr>
              <a:t>//a=a+4 (a=10+4)</a:t>
            </a:r>
            <a:r>
              <a:rPr lang="en-US" b="0" i="0" dirty="0">
                <a:solidFill>
                  <a:srgbClr val="000000"/>
                </a:solidFill>
                <a:effectLst/>
              </a:rPr>
              <a:t>  </a:t>
            </a:r>
          </a:p>
          <a:p>
            <a:pPr marL="0" indent="0" algn="just">
              <a:buNone/>
            </a:pPr>
            <a:r>
              <a:rPr lang="en-US" b="0" i="0" dirty="0">
                <a:solidFill>
                  <a:srgbClr val="000000"/>
                </a:solidFill>
                <a:effectLst/>
              </a:rPr>
              <a:t>b-=</a:t>
            </a:r>
            <a:r>
              <a:rPr lang="en-US" b="0" i="0" dirty="0">
                <a:solidFill>
                  <a:srgbClr val="C00000"/>
                </a:solidFill>
                <a:effectLst/>
              </a:rPr>
              <a:t>4</a:t>
            </a:r>
            <a:r>
              <a:rPr lang="en-US" b="0" i="0" dirty="0">
                <a:solidFill>
                  <a:srgbClr val="000000"/>
                </a:solidFill>
                <a:effectLst/>
              </a:rPr>
              <a:t>;</a:t>
            </a:r>
            <a:r>
              <a:rPr lang="en-US" b="0" i="0" dirty="0">
                <a:solidFill>
                  <a:srgbClr val="008200"/>
                </a:solidFill>
                <a:effectLst/>
              </a:rPr>
              <a:t>//b=b-4 (b=20-4)</a:t>
            </a:r>
            <a:r>
              <a:rPr lang="en-US" b="0" i="0" dirty="0">
                <a:solidFill>
                  <a:srgbClr val="000000"/>
                </a:solidFill>
                <a:effectLst/>
              </a:rPr>
              <a:t> </a:t>
            </a:r>
          </a:p>
          <a:p>
            <a:pPr marL="0" indent="0" algn="just">
              <a:buNone/>
            </a:pPr>
            <a:r>
              <a:rPr lang="en-US" dirty="0" err="1">
                <a:solidFill>
                  <a:srgbClr val="000000"/>
                </a:solidFill>
              </a:rPr>
              <a:t>printf</a:t>
            </a:r>
            <a:r>
              <a:rPr lang="en-US" dirty="0">
                <a:solidFill>
                  <a:srgbClr val="000000"/>
                </a:solidFill>
              </a:rPr>
              <a:t>(“%</a:t>
            </a:r>
            <a:r>
              <a:rPr lang="en-US" dirty="0" err="1">
                <a:solidFill>
                  <a:srgbClr val="000000"/>
                </a:solidFill>
              </a:rPr>
              <a:t>d”,a</a:t>
            </a:r>
            <a:r>
              <a:rPr lang="en-US" dirty="0">
                <a:solidFill>
                  <a:srgbClr val="000000"/>
                </a:solidFill>
              </a:rPr>
              <a:t>);</a:t>
            </a:r>
            <a:r>
              <a:rPr lang="en-US" b="0" i="0" dirty="0">
                <a:solidFill>
                  <a:srgbClr val="000000"/>
                </a:solidFill>
                <a:effectLst/>
              </a:rPr>
              <a:t> </a:t>
            </a:r>
          </a:p>
          <a:p>
            <a:pPr marL="0" indent="0" algn="just">
              <a:buNone/>
            </a:pPr>
            <a:r>
              <a:rPr lang="en-US" dirty="0" err="1">
                <a:solidFill>
                  <a:srgbClr val="000000"/>
                </a:solidFill>
              </a:rPr>
              <a:t>printf</a:t>
            </a:r>
            <a:r>
              <a:rPr lang="en-US" dirty="0">
                <a:solidFill>
                  <a:srgbClr val="000000"/>
                </a:solidFill>
              </a:rPr>
              <a:t>(“%</a:t>
            </a:r>
            <a:r>
              <a:rPr lang="en-US" dirty="0" err="1">
                <a:solidFill>
                  <a:srgbClr val="000000"/>
                </a:solidFill>
              </a:rPr>
              <a:t>d”,b</a:t>
            </a:r>
            <a:r>
              <a:rPr lang="en-US" dirty="0">
                <a:solidFill>
                  <a:srgbClr val="000000"/>
                </a:solidFill>
              </a:rPr>
              <a:t>);</a:t>
            </a:r>
            <a:r>
              <a:rPr lang="en-US" b="0" i="0" dirty="0">
                <a:solidFill>
                  <a:srgbClr val="000000"/>
                </a:solidFill>
                <a:effectLst/>
              </a:rPr>
              <a:t> }</a:t>
            </a:r>
          </a:p>
          <a:p>
            <a:endParaRPr lang="en-IN" dirty="0"/>
          </a:p>
        </p:txBody>
      </p:sp>
    </p:spTree>
    <p:extLst>
      <p:ext uri="{BB962C8B-B14F-4D97-AF65-F5344CB8AC3E}">
        <p14:creationId xmlns:p14="http://schemas.microsoft.com/office/powerpoint/2010/main" val="25614503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DB76CFE-C2DF-F73A-C2A2-FC5ECEB651BD}"/>
              </a:ext>
            </a:extLst>
          </p:cNvPr>
          <p:cNvGraphicFramePr>
            <a:graphicFrameLocks noGrp="1"/>
          </p:cNvGraphicFramePr>
          <p:nvPr>
            <p:ph idx="1"/>
          </p:nvPr>
        </p:nvGraphicFramePr>
        <p:xfrm>
          <a:off x="1212979" y="1903446"/>
          <a:ext cx="8684381" cy="3516576"/>
        </p:xfrm>
        <a:graphic>
          <a:graphicData uri="http://schemas.openxmlformats.org/drawingml/2006/table">
            <a:tbl>
              <a:tblPr/>
              <a:tblGrid>
                <a:gridCol w="1077151">
                  <a:extLst>
                    <a:ext uri="{9D8B030D-6E8A-4147-A177-3AD203B41FA5}">
                      <a16:colId xmlns:a16="http://schemas.microsoft.com/office/drawing/2014/main" val="4095363669"/>
                    </a:ext>
                  </a:extLst>
                </a:gridCol>
                <a:gridCol w="7607230">
                  <a:extLst>
                    <a:ext uri="{9D8B030D-6E8A-4147-A177-3AD203B41FA5}">
                      <a16:colId xmlns:a16="http://schemas.microsoft.com/office/drawing/2014/main" val="414855161"/>
                    </a:ext>
                  </a:extLst>
                </a:gridCol>
              </a:tblGrid>
              <a:tr h="755778">
                <a:tc>
                  <a:txBody>
                    <a:bodyPr/>
                    <a:lstStyle/>
                    <a:p>
                      <a:pPr algn="l"/>
                      <a:r>
                        <a:rPr lang="en-IN" b="0">
                          <a:solidFill>
                            <a:srgbClr val="FFFFFF"/>
                          </a:solidFill>
                          <a:effectLst/>
                        </a:rPr>
                        <a:t>Operator</a:t>
                      </a:r>
                    </a:p>
                  </a:txBody>
                  <a:tcPr anchor="ctr">
                    <a:lnL w="12700" cap="flat" cmpd="sng" algn="ctr">
                      <a:solidFill>
                        <a:srgbClr val="253545"/>
                      </a:solidFill>
                      <a:prstDash val="solid"/>
                      <a:round/>
                      <a:headEnd type="none" w="med" len="med"/>
                      <a:tailEnd type="none" w="med" len="med"/>
                    </a:lnL>
                    <a:lnR w="12700" cap="flat" cmpd="sng" algn="ctr">
                      <a:solidFill>
                        <a:srgbClr val="253545"/>
                      </a:solidFill>
                      <a:prstDash val="solid"/>
                      <a:round/>
                      <a:headEnd type="none" w="med" len="med"/>
                      <a:tailEnd type="none" w="med" len="med"/>
                    </a:lnR>
                    <a:lnT w="12700" cap="flat" cmpd="sng" algn="ctr">
                      <a:solidFill>
                        <a:srgbClr val="253545"/>
                      </a:solidFill>
                      <a:prstDash val="solid"/>
                      <a:round/>
                      <a:headEnd type="none" w="med" len="med"/>
                      <a:tailEnd type="none" w="med" len="med"/>
                    </a:lnT>
                    <a:lnB w="12700" cap="flat" cmpd="sng" algn="ctr">
                      <a:solidFill>
                        <a:srgbClr val="A013F9"/>
                      </a:solidFill>
                      <a:prstDash val="solid"/>
                      <a:round/>
                      <a:headEnd type="none" w="med" len="med"/>
                      <a:tailEnd type="none" w="med" len="med"/>
                    </a:lnB>
                    <a:solidFill>
                      <a:srgbClr val="2C3E50"/>
                    </a:solidFill>
                  </a:tcPr>
                </a:tc>
                <a:tc>
                  <a:txBody>
                    <a:bodyPr/>
                    <a:lstStyle/>
                    <a:p>
                      <a:pPr algn="l"/>
                      <a:r>
                        <a:rPr lang="en-IN" b="0" dirty="0">
                          <a:solidFill>
                            <a:srgbClr val="FFFFFF"/>
                          </a:solidFill>
                          <a:effectLst/>
                        </a:rPr>
                        <a:t>Meaning</a:t>
                      </a:r>
                    </a:p>
                  </a:txBody>
                  <a:tcPr anchor="ctr">
                    <a:lnL w="12700" cap="flat" cmpd="sng" algn="ctr">
                      <a:solidFill>
                        <a:srgbClr val="253545"/>
                      </a:solidFill>
                      <a:prstDash val="solid"/>
                      <a:round/>
                      <a:headEnd type="none" w="med" len="med"/>
                      <a:tailEnd type="none" w="med" len="med"/>
                    </a:lnL>
                    <a:lnR w="12700" cap="flat" cmpd="sng" algn="ctr">
                      <a:solidFill>
                        <a:srgbClr val="253545"/>
                      </a:solidFill>
                      <a:prstDash val="solid"/>
                      <a:round/>
                      <a:headEnd type="none" w="med" len="med"/>
                      <a:tailEnd type="none" w="med" len="med"/>
                    </a:lnR>
                    <a:lnT w="12700" cap="flat" cmpd="sng" algn="ctr">
                      <a:solidFill>
                        <a:srgbClr val="253545"/>
                      </a:solidFill>
                      <a:prstDash val="solid"/>
                      <a:round/>
                      <a:headEnd type="none" w="med" len="med"/>
                      <a:tailEnd type="none" w="med" len="med"/>
                    </a:lnT>
                    <a:lnB w="12700" cap="flat" cmpd="sng" algn="ctr">
                      <a:solidFill>
                        <a:srgbClr val="A011F9"/>
                      </a:solidFill>
                      <a:prstDash val="solid"/>
                      <a:round/>
                      <a:headEnd type="none" w="med" len="med"/>
                      <a:tailEnd type="none" w="med" len="med"/>
                    </a:lnB>
                    <a:solidFill>
                      <a:srgbClr val="2C3E50"/>
                    </a:solidFill>
                  </a:tcPr>
                </a:tc>
                <a:extLst>
                  <a:ext uri="{0D108BD9-81ED-4DB2-BD59-A6C34878D82A}">
                    <a16:rowId xmlns:a16="http://schemas.microsoft.com/office/drawing/2014/main" val="3260836274"/>
                  </a:ext>
                </a:extLst>
              </a:tr>
              <a:tr h="460133">
                <a:tc>
                  <a:txBody>
                    <a:bodyPr/>
                    <a:lstStyle/>
                    <a:p>
                      <a:pPr algn="ctr" fontAlgn="t"/>
                      <a:r>
                        <a:rPr lang="en-IN">
                          <a:effectLst/>
                        </a:rPr>
                        <a:t>==</a:t>
                      </a:r>
                    </a:p>
                  </a:txBody>
                  <a:tcPr>
                    <a:lnL w="12700" cap="flat" cmpd="sng" algn="ctr">
                      <a:solidFill>
                        <a:srgbClr val="A013F9"/>
                      </a:solidFill>
                      <a:prstDash val="solid"/>
                      <a:round/>
                      <a:headEnd type="none" w="med" len="med"/>
                      <a:tailEnd type="none" w="med" len="med"/>
                    </a:lnL>
                    <a:lnR w="12700" cap="flat" cmpd="sng" algn="ctr">
                      <a:solidFill>
                        <a:srgbClr val="A011F9"/>
                      </a:solidFill>
                      <a:prstDash val="solid"/>
                      <a:round/>
                      <a:headEnd type="none" w="med" len="med"/>
                      <a:tailEnd type="none" w="med" len="med"/>
                    </a:lnR>
                    <a:lnT w="12700" cap="flat" cmpd="sng" algn="ctr">
                      <a:solidFill>
                        <a:srgbClr val="A013F9"/>
                      </a:solidFill>
                      <a:prstDash val="solid"/>
                      <a:round/>
                      <a:headEnd type="none" w="med" len="med"/>
                      <a:tailEnd type="none" w="med" len="med"/>
                    </a:lnT>
                    <a:lnB w="12700" cap="flat" cmpd="sng" algn="ctr">
                      <a:solidFill>
                        <a:srgbClr val="E013F9"/>
                      </a:solidFill>
                      <a:prstDash val="solid"/>
                      <a:round/>
                      <a:headEnd type="none" w="med" len="med"/>
                      <a:tailEnd type="none" w="med" len="med"/>
                    </a:lnB>
                    <a:solidFill>
                      <a:srgbClr val="FFFFFF"/>
                    </a:solidFill>
                  </a:tcPr>
                </a:tc>
                <a:tc>
                  <a:txBody>
                    <a:bodyPr/>
                    <a:lstStyle/>
                    <a:p>
                      <a:pPr fontAlgn="t"/>
                      <a:r>
                        <a:rPr lang="en-IN" dirty="0">
                          <a:effectLst/>
                        </a:rPr>
                        <a:t>Is equal to</a:t>
                      </a:r>
                    </a:p>
                  </a:txBody>
                  <a:tcPr>
                    <a:lnL w="12700" cap="flat" cmpd="sng" algn="ctr">
                      <a:solidFill>
                        <a:srgbClr val="A011F9"/>
                      </a:solidFill>
                      <a:prstDash val="solid"/>
                      <a:round/>
                      <a:headEnd type="none" w="med" len="med"/>
                      <a:tailEnd type="none" w="med" len="med"/>
                    </a:lnL>
                    <a:lnR w="12700" cap="flat" cmpd="sng" algn="ctr">
                      <a:solidFill>
                        <a:srgbClr val="A011F9"/>
                      </a:solidFill>
                      <a:prstDash val="solid"/>
                      <a:round/>
                      <a:headEnd type="none" w="med" len="med"/>
                      <a:tailEnd type="none" w="med" len="med"/>
                    </a:lnR>
                    <a:lnT w="12700" cap="flat" cmpd="sng" algn="ctr">
                      <a:solidFill>
                        <a:srgbClr val="A011F9"/>
                      </a:solidFill>
                      <a:prstDash val="solid"/>
                      <a:round/>
                      <a:headEnd type="none" w="med" len="med"/>
                      <a:tailEnd type="none" w="med" len="med"/>
                    </a:lnT>
                    <a:lnB w="12700" cap="flat" cmpd="sng" algn="ctr">
                      <a:solidFill>
                        <a:srgbClr val="E013F9"/>
                      </a:solidFill>
                      <a:prstDash val="solid"/>
                      <a:round/>
                      <a:headEnd type="none" w="med" len="med"/>
                      <a:tailEnd type="none" w="med" len="med"/>
                    </a:lnB>
                    <a:solidFill>
                      <a:srgbClr val="FFFFFF"/>
                    </a:solidFill>
                  </a:tcPr>
                </a:tc>
                <a:extLst>
                  <a:ext uri="{0D108BD9-81ED-4DB2-BD59-A6C34878D82A}">
                    <a16:rowId xmlns:a16="http://schemas.microsoft.com/office/drawing/2014/main" val="1593668682"/>
                  </a:ext>
                </a:extLst>
              </a:tr>
              <a:tr h="460133">
                <a:tc>
                  <a:txBody>
                    <a:bodyPr/>
                    <a:lstStyle/>
                    <a:p>
                      <a:pPr algn="ctr" fontAlgn="t"/>
                      <a:r>
                        <a:rPr lang="en-IN">
                          <a:effectLst/>
                        </a:rPr>
                        <a:t>!=</a:t>
                      </a:r>
                    </a:p>
                  </a:txBody>
                  <a:tcPr>
                    <a:lnL w="12700" cap="flat" cmpd="sng" algn="ctr">
                      <a:solidFill>
                        <a:srgbClr val="E013F9"/>
                      </a:solidFill>
                      <a:prstDash val="solid"/>
                      <a:round/>
                      <a:headEnd type="none" w="med" len="med"/>
                      <a:tailEnd type="none" w="med" len="med"/>
                    </a:lnL>
                    <a:lnR w="12700" cap="flat" cmpd="sng" algn="ctr">
                      <a:solidFill>
                        <a:srgbClr val="E013F9"/>
                      </a:solidFill>
                      <a:prstDash val="solid"/>
                      <a:round/>
                      <a:headEnd type="none" w="med" len="med"/>
                      <a:tailEnd type="none" w="med" len="med"/>
                    </a:lnR>
                    <a:lnT w="12700" cap="flat" cmpd="sng" algn="ctr">
                      <a:solidFill>
                        <a:srgbClr val="E013F9"/>
                      </a:solidFill>
                      <a:prstDash val="solid"/>
                      <a:round/>
                      <a:headEnd type="none" w="med" len="med"/>
                      <a:tailEnd type="none" w="med" len="med"/>
                    </a:lnT>
                    <a:lnB w="12700" cap="flat" cmpd="sng" algn="ctr">
                      <a:solidFill>
                        <a:srgbClr val="E02FF9"/>
                      </a:solidFill>
                      <a:prstDash val="solid"/>
                      <a:round/>
                      <a:headEnd type="none" w="med" len="med"/>
                      <a:tailEnd type="none" w="med" len="med"/>
                    </a:lnB>
                    <a:solidFill>
                      <a:srgbClr val="FFFFFF"/>
                    </a:solidFill>
                  </a:tcPr>
                </a:tc>
                <a:tc>
                  <a:txBody>
                    <a:bodyPr/>
                    <a:lstStyle/>
                    <a:p>
                      <a:pPr fontAlgn="t"/>
                      <a:r>
                        <a:rPr lang="en-IN" dirty="0">
                          <a:effectLst/>
                        </a:rPr>
                        <a:t>Is not equal to</a:t>
                      </a:r>
                    </a:p>
                  </a:txBody>
                  <a:tcPr>
                    <a:lnL w="12700" cap="flat" cmpd="sng" algn="ctr">
                      <a:solidFill>
                        <a:srgbClr val="E013F9"/>
                      </a:solidFill>
                      <a:prstDash val="solid"/>
                      <a:round/>
                      <a:headEnd type="none" w="med" len="med"/>
                      <a:tailEnd type="none" w="med" len="med"/>
                    </a:lnL>
                    <a:lnR w="12700" cap="flat" cmpd="sng" algn="ctr">
                      <a:solidFill>
                        <a:srgbClr val="E013F9"/>
                      </a:solidFill>
                      <a:prstDash val="solid"/>
                      <a:round/>
                      <a:headEnd type="none" w="med" len="med"/>
                      <a:tailEnd type="none" w="med" len="med"/>
                    </a:lnR>
                    <a:lnT w="12700" cap="flat" cmpd="sng" algn="ctr">
                      <a:solidFill>
                        <a:srgbClr val="E013F9"/>
                      </a:solidFill>
                      <a:prstDash val="solid"/>
                      <a:round/>
                      <a:headEnd type="none" w="med" len="med"/>
                      <a:tailEnd type="none" w="med" len="med"/>
                    </a:lnT>
                    <a:lnB w="12700" cap="flat" cmpd="sng" algn="ctr">
                      <a:solidFill>
                        <a:srgbClr val="A026F9"/>
                      </a:solidFill>
                      <a:prstDash val="solid"/>
                      <a:round/>
                      <a:headEnd type="none" w="med" len="med"/>
                      <a:tailEnd type="none" w="med" len="med"/>
                    </a:lnB>
                    <a:solidFill>
                      <a:srgbClr val="FFFFFF"/>
                    </a:solidFill>
                  </a:tcPr>
                </a:tc>
                <a:extLst>
                  <a:ext uri="{0D108BD9-81ED-4DB2-BD59-A6C34878D82A}">
                    <a16:rowId xmlns:a16="http://schemas.microsoft.com/office/drawing/2014/main" val="676973143"/>
                  </a:ext>
                </a:extLst>
              </a:tr>
              <a:tr h="460133">
                <a:tc>
                  <a:txBody>
                    <a:bodyPr/>
                    <a:lstStyle/>
                    <a:p>
                      <a:pPr algn="ctr" fontAlgn="t"/>
                      <a:r>
                        <a:rPr lang="en-IN">
                          <a:effectLst/>
                        </a:rPr>
                        <a:t>&gt;</a:t>
                      </a:r>
                    </a:p>
                  </a:txBody>
                  <a:tcPr>
                    <a:lnL w="12700" cap="flat" cmpd="sng" algn="ctr">
                      <a:solidFill>
                        <a:srgbClr val="E02FF9"/>
                      </a:solidFill>
                      <a:prstDash val="solid"/>
                      <a:round/>
                      <a:headEnd type="none" w="med" len="med"/>
                      <a:tailEnd type="none" w="med" len="med"/>
                    </a:lnL>
                    <a:lnR w="12700" cap="flat" cmpd="sng" algn="ctr">
                      <a:solidFill>
                        <a:srgbClr val="A026F9"/>
                      </a:solidFill>
                      <a:prstDash val="solid"/>
                      <a:round/>
                      <a:headEnd type="none" w="med" len="med"/>
                      <a:tailEnd type="none" w="med" len="med"/>
                    </a:lnR>
                    <a:lnT w="12700" cap="flat" cmpd="sng" algn="ctr">
                      <a:solidFill>
                        <a:srgbClr val="E02FF9"/>
                      </a:solidFill>
                      <a:prstDash val="solid"/>
                      <a:round/>
                      <a:headEnd type="none" w="med" len="med"/>
                      <a:tailEnd type="none" w="med" len="med"/>
                    </a:lnT>
                    <a:lnB w="12700" cap="flat" cmpd="sng" algn="ctr">
                      <a:solidFill>
                        <a:srgbClr val="602BF9"/>
                      </a:solidFill>
                      <a:prstDash val="solid"/>
                      <a:round/>
                      <a:headEnd type="none" w="med" len="med"/>
                      <a:tailEnd type="none" w="med" len="med"/>
                    </a:lnB>
                    <a:solidFill>
                      <a:srgbClr val="FFFFFF"/>
                    </a:solidFill>
                  </a:tcPr>
                </a:tc>
                <a:tc>
                  <a:txBody>
                    <a:bodyPr/>
                    <a:lstStyle/>
                    <a:p>
                      <a:pPr fontAlgn="t"/>
                      <a:r>
                        <a:rPr lang="en-IN" dirty="0">
                          <a:effectLst/>
                        </a:rPr>
                        <a:t>Greater than</a:t>
                      </a:r>
                    </a:p>
                  </a:txBody>
                  <a:tcPr>
                    <a:lnL w="12700" cap="flat" cmpd="sng" algn="ctr">
                      <a:solidFill>
                        <a:srgbClr val="A026F9"/>
                      </a:solidFill>
                      <a:prstDash val="solid"/>
                      <a:round/>
                      <a:headEnd type="none" w="med" len="med"/>
                      <a:tailEnd type="none" w="med" len="med"/>
                    </a:lnL>
                    <a:lnR w="12700" cap="flat" cmpd="sng" algn="ctr">
                      <a:solidFill>
                        <a:srgbClr val="A026F9"/>
                      </a:solidFill>
                      <a:prstDash val="solid"/>
                      <a:round/>
                      <a:headEnd type="none" w="med" len="med"/>
                      <a:tailEnd type="none" w="med" len="med"/>
                    </a:lnR>
                    <a:lnT w="12700" cap="flat" cmpd="sng" algn="ctr">
                      <a:solidFill>
                        <a:srgbClr val="A026F9"/>
                      </a:solidFill>
                      <a:prstDash val="solid"/>
                      <a:round/>
                      <a:headEnd type="none" w="med" len="med"/>
                      <a:tailEnd type="none" w="med" len="med"/>
                    </a:lnT>
                    <a:lnB w="12700" cap="flat" cmpd="sng" algn="ctr">
                      <a:solidFill>
                        <a:srgbClr val="6022F9"/>
                      </a:solidFill>
                      <a:prstDash val="solid"/>
                      <a:round/>
                      <a:headEnd type="none" w="med" len="med"/>
                      <a:tailEnd type="none" w="med" len="med"/>
                    </a:lnB>
                    <a:solidFill>
                      <a:srgbClr val="FFFFFF"/>
                    </a:solidFill>
                  </a:tcPr>
                </a:tc>
                <a:extLst>
                  <a:ext uri="{0D108BD9-81ED-4DB2-BD59-A6C34878D82A}">
                    <a16:rowId xmlns:a16="http://schemas.microsoft.com/office/drawing/2014/main" val="1976891872"/>
                  </a:ext>
                </a:extLst>
              </a:tr>
              <a:tr h="460133">
                <a:tc>
                  <a:txBody>
                    <a:bodyPr/>
                    <a:lstStyle/>
                    <a:p>
                      <a:pPr algn="ctr" fontAlgn="t"/>
                      <a:r>
                        <a:rPr lang="en-IN" dirty="0">
                          <a:effectLst/>
                        </a:rPr>
                        <a:t>&lt;</a:t>
                      </a:r>
                    </a:p>
                  </a:txBody>
                  <a:tcPr>
                    <a:lnL w="12700" cap="flat" cmpd="sng" algn="ctr">
                      <a:solidFill>
                        <a:srgbClr val="602BF9"/>
                      </a:solidFill>
                      <a:prstDash val="solid"/>
                      <a:round/>
                      <a:headEnd type="none" w="med" len="med"/>
                      <a:tailEnd type="none" w="med" len="med"/>
                    </a:lnL>
                    <a:lnR w="12700" cap="flat" cmpd="sng" algn="ctr">
                      <a:solidFill>
                        <a:srgbClr val="6022F9"/>
                      </a:solidFill>
                      <a:prstDash val="solid"/>
                      <a:round/>
                      <a:headEnd type="none" w="med" len="med"/>
                      <a:tailEnd type="none" w="med" len="med"/>
                    </a:lnR>
                    <a:lnT w="12700" cap="flat" cmpd="sng" algn="ctr">
                      <a:solidFill>
                        <a:srgbClr val="602BF9"/>
                      </a:solidFill>
                      <a:prstDash val="solid"/>
                      <a:round/>
                      <a:headEnd type="none" w="med" len="med"/>
                      <a:tailEnd type="none" w="med" len="med"/>
                    </a:lnT>
                    <a:lnB w="12700" cap="flat" cmpd="sng" algn="ctr">
                      <a:solidFill>
                        <a:srgbClr val="E03AF9"/>
                      </a:solidFill>
                      <a:prstDash val="solid"/>
                      <a:round/>
                      <a:headEnd type="none" w="med" len="med"/>
                      <a:tailEnd type="none" w="med" len="med"/>
                    </a:lnB>
                    <a:solidFill>
                      <a:srgbClr val="FFFFFF"/>
                    </a:solidFill>
                  </a:tcPr>
                </a:tc>
                <a:tc>
                  <a:txBody>
                    <a:bodyPr/>
                    <a:lstStyle/>
                    <a:p>
                      <a:pPr fontAlgn="t"/>
                      <a:r>
                        <a:rPr lang="en-IN" dirty="0">
                          <a:effectLst/>
                        </a:rPr>
                        <a:t>Less than</a:t>
                      </a:r>
                    </a:p>
                  </a:txBody>
                  <a:tcPr>
                    <a:lnL w="12700" cap="flat" cmpd="sng" algn="ctr">
                      <a:solidFill>
                        <a:srgbClr val="6022F9"/>
                      </a:solidFill>
                      <a:prstDash val="solid"/>
                      <a:round/>
                      <a:headEnd type="none" w="med" len="med"/>
                      <a:tailEnd type="none" w="med" len="med"/>
                    </a:lnL>
                    <a:lnR w="12700" cap="flat" cmpd="sng" algn="ctr">
                      <a:solidFill>
                        <a:srgbClr val="6022F9"/>
                      </a:solidFill>
                      <a:prstDash val="solid"/>
                      <a:round/>
                      <a:headEnd type="none" w="med" len="med"/>
                      <a:tailEnd type="none" w="med" len="med"/>
                    </a:lnR>
                    <a:lnT w="12700" cap="flat" cmpd="sng" algn="ctr">
                      <a:solidFill>
                        <a:srgbClr val="6022F9"/>
                      </a:solidFill>
                      <a:prstDash val="solid"/>
                      <a:round/>
                      <a:headEnd type="none" w="med" len="med"/>
                      <a:tailEnd type="none" w="med" len="med"/>
                    </a:lnT>
                    <a:lnB w="12700" cap="flat" cmpd="sng" algn="ctr">
                      <a:solidFill>
                        <a:srgbClr val="6036F9"/>
                      </a:solidFill>
                      <a:prstDash val="solid"/>
                      <a:round/>
                      <a:headEnd type="none" w="med" len="med"/>
                      <a:tailEnd type="none" w="med" len="med"/>
                    </a:lnB>
                    <a:solidFill>
                      <a:srgbClr val="FFFFFF"/>
                    </a:solidFill>
                  </a:tcPr>
                </a:tc>
                <a:extLst>
                  <a:ext uri="{0D108BD9-81ED-4DB2-BD59-A6C34878D82A}">
                    <a16:rowId xmlns:a16="http://schemas.microsoft.com/office/drawing/2014/main" val="380678357"/>
                  </a:ext>
                </a:extLst>
              </a:tr>
              <a:tr h="460133">
                <a:tc>
                  <a:txBody>
                    <a:bodyPr/>
                    <a:lstStyle/>
                    <a:p>
                      <a:pPr algn="ctr" fontAlgn="t"/>
                      <a:r>
                        <a:rPr lang="en-IN">
                          <a:effectLst/>
                        </a:rPr>
                        <a:t>&gt;=</a:t>
                      </a:r>
                    </a:p>
                  </a:txBody>
                  <a:tcPr>
                    <a:lnL w="12700" cap="flat" cmpd="sng" algn="ctr">
                      <a:solidFill>
                        <a:srgbClr val="E03AF9"/>
                      </a:solidFill>
                      <a:prstDash val="solid"/>
                      <a:round/>
                      <a:headEnd type="none" w="med" len="med"/>
                      <a:tailEnd type="none" w="med" len="med"/>
                    </a:lnL>
                    <a:lnR w="12700" cap="flat" cmpd="sng" algn="ctr">
                      <a:solidFill>
                        <a:srgbClr val="6036F9"/>
                      </a:solidFill>
                      <a:prstDash val="solid"/>
                      <a:round/>
                      <a:headEnd type="none" w="med" len="med"/>
                      <a:tailEnd type="none" w="med" len="med"/>
                    </a:lnR>
                    <a:lnT w="12700" cap="flat" cmpd="sng" algn="ctr">
                      <a:solidFill>
                        <a:srgbClr val="E03AF9"/>
                      </a:solidFill>
                      <a:prstDash val="solid"/>
                      <a:round/>
                      <a:headEnd type="none" w="med" len="med"/>
                      <a:tailEnd type="none" w="med" len="med"/>
                    </a:lnT>
                    <a:lnB w="12700" cap="flat" cmpd="sng" algn="ctr">
                      <a:solidFill>
                        <a:srgbClr val="E038F9"/>
                      </a:solidFill>
                      <a:prstDash val="solid"/>
                      <a:round/>
                      <a:headEnd type="none" w="med" len="med"/>
                      <a:tailEnd type="none" w="med" len="med"/>
                    </a:lnB>
                    <a:solidFill>
                      <a:srgbClr val="FFFFFF"/>
                    </a:solidFill>
                  </a:tcPr>
                </a:tc>
                <a:tc>
                  <a:txBody>
                    <a:bodyPr/>
                    <a:lstStyle/>
                    <a:p>
                      <a:pPr fontAlgn="t"/>
                      <a:r>
                        <a:rPr lang="en-US" dirty="0">
                          <a:effectLst/>
                        </a:rPr>
                        <a:t>Greater than or equal to</a:t>
                      </a:r>
                    </a:p>
                  </a:txBody>
                  <a:tcPr>
                    <a:lnL w="12700" cap="flat" cmpd="sng" algn="ctr">
                      <a:solidFill>
                        <a:srgbClr val="6036F9"/>
                      </a:solidFill>
                      <a:prstDash val="solid"/>
                      <a:round/>
                      <a:headEnd type="none" w="med" len="med"/>
                      <a:tailEnd type="none" w="med" len="med"/>
                    </a:lnL>
                    <a:lnR w="12700" cap="flat" cmpd="sng" algn="ctr">
                      <a:solidFill>
                        <a:srgbClr val="6036F9"/>
                      </a:solidFill>
                      <a:prstDash val="solid"/>
                      <a:round/>
                      <a:headEnd type="none" w="med" len="med"/>
                      <a:tailEnd type="none" w="med" len="med"/>
                    </a:lnR>
                    <a:lnT w="12700" cap="flat" cmpd="sng" algn="ctr">
                      <a:solidFill>
                        <a:srgbClr val="6036F9"/>
                      </a:solidFill>
                      <a:prstDash val="solid"/>
                      <a:round/>
                      <a:headEnd type="none" w="med" len="med"/>
                      <a:tailEnd type="none" w="med" len="med"/>
                    </a:lnT>
                    <a:lnB w="12700" cap="flat" cmpd="sng" algn="ctr">
                      <a:solidFill>
                        <a:srgbClr val="E038F9"/>
                      </a:solidFill>
                      <a:prstDash val="solid"/>
                      <a:round/>
                      <a:headEnd type="none" w="med" len="med"/>
                      <a:tailEnd type="none" w="med" len="med"/>
                    </a:lnB>
                    <a:solidFill>
                      <a:srgbClr val="FFFFFF"/>
                    </a:solidFill>
                  </a:tcPr>
                </a:tc>
                <a:extLst>
                  <a:ext uri="{0D108BD9-81ED-4DB2-BD59-A6C34878D82A}">
                    <a16:rowId xmlns:a16="http://schemas.microsoft.com/office/drawing/2014/main" val="2313812995"/>
                  </a:ext>
                </a:extLst>
              </a:tr>
              <a:tr h="460133">
                <a:tc>
                  <a:txBody>
                    <a:bodyPr/>
                    <a:lstStyle/>
                    <a:p>
                      <a:pPr algn="ctr" fontAlgn="t"/>
                      <a:r>
                        <a:rPr lang="en-IN">
                          <a:effectLst/>
                        </a:rPr>
                        <a:t>&lt;=</a:t>
                      </a:r>
                    </a:p>
                  </a:txBody>
                  <a:tcPr>
                    <a:lnL w="12700" cap="flat" cmpd="sng" algn="ctr">
                      <a:solidFill>
                        <a:srgbClr val="E038F9"/>
                      </a:solidFill>
                      <a:prstDash val="solid"/>
                      <a:round/>
                      <a:headEnd type="none" w="med" len="med"/>
                      <a:tailEnd type="none" w="med" len="med"/>
                    </a:lnL>
                    <a:lnR w="12700" cap="flat" cmpd="sng" algn="ctr">
                      <a:solidFill>
                        <a:srgbClr val="E038F9"/>
                      </a:solidFill>
                      <a:prstDash val="solid"/>
                      <a:round/>
                      <a:headEnd type="none" w="med" len="med"/>
                      <a:tailEnd type="none" w="med" len="med"/>
                    </a:lnR>
                    <a:lnT w="12700" cap="flat" cmpd="sng" algn="ctr">
                      <a:solidFill>
                        <a:srgbClr val="E038F9"/>
                      </a:solidFill>
                      <a:prstDash val="solid"/>
                      <a:round/>
                      <a:headEnd type="none" w="med" len="med"/>
                      <a:tailEnd type="none" w="med" len="med"/>
                    </a:lnT>
                    <a:lnB w="12700" cap="flat" cmpd="sng" algn="ctr">
                      <a:solidFill>
                        <a:srgbClr val="E038F9"/>
                      </a:solidFill>
                      <a:prstDash val="solid"/>
                      <a:round/>
                      <a:headEnd type="none" w="med" len="med"/>
                      <a:tailEnd type="none" w="med" len="med"/>
                    </a:lnB>
                    <a:solidFill>
                      <a:srgbClr val="FFFFFF"/>
                    </a:solidFill>
                  </a:tcPr>
                </a:tc>
                <a:tc>
                  <a:txBody>
                    <a:bodyPr/>
                    <a:lstStyle/>
                    <a:p>
                      <a:pPr fontAlgn="t"/>
                      <a:r>
                        <a:rPr lang="en-US" dirty="0">
                          <a:effectLst/>
                        </a:rPr>
                        <a:t>Less than or equal to</a:t>
                      </a:r>
                    </a:p>
                  </a:txBody>
                  <a:tcPr>
                    <a:lnL w="12700" cap="flat" cmpd="sng" algn="ctr">
                      <a:solidFill>
                        <a:srgbClr val="E038F9"/>
                      </a:solidFill>
                      <a:prstDash val="solid"/>
                      <a:round/>
                      <a:headEnd type="none" w="med" len="med"/>
                      <a:tailEnd type="none" w="med" len="med"/>
                    </a:lnL>
                    <a:lnR w="12700" cap="flat" cmpd="sng" algn="ctr">
                      <a:solidFill>
                        <a:srgbClr val="E038F9"/>
                      </a:solidFill>
                      <a:prstDash val="solid"/>
                      <a:round/>
                      <a:headEnd type="none" w="med" len="med"/>
                      <a:tailEnd type="none" w="med" len="med"/>
                    </a:lnR>
                    <a:lnT w="12700" cap="flat" cmpd="sng" algn="ctr">
                      <a:solidFill>
                        <a:srgbClr val="E038F9"/>
                      </a:solidFill>
                      <a:prstDash val="solid"/>
                      <a:round/>
                      <a:headEnd type="none" w="med" len="med"/>
                      <a:tailEnd type="none" w="med" len="med"/>
                    </a:lnT>
                    <a:lnB w="12700" cap="flat" cmpd="sng" algn="ctr">
                      <a:solidFill>
                        <a:srgbClr val="E038F9"/>
                      </a:solidFill>
                      <a:prstDash val="solid"/>
                      <a:round/>
                      <a:headEnd type="none" w="med" len="med"/>
                      <a:tailEnd type="none" w="med" len="med"/>
                    </a:lnB>
                    <a:solidFill>
                      <a:srgbClr val="FFFFFF"/>
                    </a:solidFill>
                  </a:tcPr>
                </a:tc>
                <a:extLst>
                  <a:ext uri="{0D108BD9-81ED-4DB2-BD59-A6C34878D82A}">
                    <a16:rowId xmlns:a16="http://schemas.microsoft.com/office/drawing/2014/main" val="2082820638"/>
                  </a:ext>
                </a:extLst>
              </a:tr>
            </a:tbl>
          </a:graphicData>
        </a:graphic>
      </p:graphicFrame>
      <p:sp>
        <p:nvSpPr>
          <p:cNvPr id="6" name="TextBox 5">
            <a:extLst>
              <a:ext uri="{FF2B5EF4-FFF2-40B4-BE49-F238E27FC236}">
                <a16:creationId xmlns:a16="http://schemas.microsoft.com/office/drawing/2014/main" id="{E76FD3D0-34C6-5F62-98DA-7D25C212051D}"/>
              </a:ext>
            </a:extLst>
          </p:cNvPr>
          <p:cNvSpPr txBox="1"/>
          <p:nvPr/>
        </p:nvSpPr>
        <p:spPr>
          <a:xfrm>
            <a:off x="1212979" y="809285"/>
            <a:ext cx="6097554" cy="523220"/>
          </a:xfrm>
          <a:prstGeom prst="rect">
            <a:avLst/>
          </a:prstGeom>
          <a:noFill/>
        </p:spPr>
        <p:txBody>
          <a:bodyPr wrap="square">
            <a:spAutoFit/>
          </a:bodyPr>
          <a:lstStyle/>
          <a:p>
            <a:pPr algn="l"/>
            <a:r>
              <a:rPr lang="en-IN" sz="2800" b="1" i="0" dirty="0">
                <a:solidFill>
                  <a:srgbClr val="7030A0"/>
                </a:solidFill>
                <a:effectLst/>
              </a:rPr>
              <a:t>Relational Operators</a:t>
            </a:r>
          </a:p>
        </p:txBody>
      </p:sp>
    </p:spTree>
    <p:extLst>
      <p:ext uri="{BB962C8B-B14F-4D97-AF65-F5344CB8AC3E}">
        <p14:creationId xmlns:p14="http://schemas.microsoft.com/office/powerpoint/2010/main" val="41766305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13958B-5C4C-08C5-C2B5-0FE04726BA04}"/>
              </a:ext>
            </a:extLst>
          </p:cNvPr>
          <p:cNvSpPr>
            <a:spLocks noGrp="1"/>
          </p:cNvSpPr>
          <p:nvPr>
            <p:ph idx="1"/>
          </p:nvPr>
        </p:nvSpPr>
        <p:spPr>
          <a:xfrm>
            <a:off x="838200" y="429208"/>
            <a:ext cx="10515600" cy="5747755"/>
          </a:xfrm>
        </p:spPr>
        <p:txBody>
          <a:bodyPr/>
          <a:lstStyle/>
          <a:p>
            <a:pPr marL="0" indent="0">
              <a:buNone/>
            </a:pPr>
            <a:r>
              <a:rPr lang="en-IN" b="1" i="0" dirty="0">
                <a:solidFill>
                  <a:srgbClr val="7030A0"/>
                </a:solidFill>
                <a:effectLst/>
              </a:rPr>
              <a:t>Unary Operators</a:t>
            </a:r>
          </a:p>
          <a:p>
            <a:endParaRPr lang="en-IN" dirty="0"/>
          </a:p>
        </p:txBody>
      </p:sp>
      <p:pic>
        <p:nvPicPr>
          <p:cNvPr id="4" name="Picture 3">
            <a:extLst>
              <a:ext uri="{FF2B5EF4-FFF2-40B4-BE49-F238E27FC236}">
                <a16:creationId xmlns:a16="http://schemas.microsoft.com/office/drawing/2014/main" id="{327C2F51-730C-6F25-EDA1-1F9FA9AE6C9F}"/>
              </a:ext>
            </a:extLst>
          </p:cNvPr>
          <p:cNvPicPr>
            <a:picLocks noChangeAspect="1"/>
          </p:cNvPicPr>
          <p:nvPr/>
        </p:nvPicPr>
        <p:blipFill>
          <a:blip r:embed="rId2"/>
          <a:stretch>
            <a:fillRect/>
          </a:stretch>
        </p:blipFill>
        <p:spPr>
          <a:xfrm>
            <a:off x="1211235" y="1420565"/>
            <a:ext cx="8785925" cy="4485712"/>
          </a:xfrm>
          <a:prstGeom prst="rect">
            <a:avLst/>
          </a:prstGeom>
        </p:spPr>
      </p:pic>
    </p:spTree>
    <p:extLst>
      <p:ext uri="{BB962C8B-B14F-4D97-AF65-F5344CB8AC3E}">
        <p14:creationId xmlns:p14="http://schemas.microsoft.com/office/powerpoint/2010/main" val="21864424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004308-2607-7200-1884-798BC8630471}"/>
              </a:ext>
            </a:extLst>
          </p:cNvPr>
          <p:cNvSpPr>
            <a:spLocks noGrp="1"/>
          </p:cNvSpPr>
          <p:nvPr>
            <p:ph idx="1"/>
          </p:nvPr>
        </p:nvSpPr>
        <p:spPr>
          <a:xfrm>
            <a:off x="838200" y="578498"/>
            <a:ext cx="10515600" cy="5598465"/>
          </a:xfrm>
        </p:spPr>
        <p:txBody>
          <a:bodyPr/>
          <a:lstStyle/>
          <a:p>
            <a:pPr marL="0" indent="0">
              <a:buNone/>
            </a:pPr>
            <a:r>
              <a:rPr lang="en-IN" b="1" i="0" dirty="0">
                <a:solidFill>
                  <a:srgbClr val="7030A0"/>
                </a:solidFill>
                <a:effectLst/>
              </a:rPr>
              <a:t>Bitwise Operator</a:t>
            </a:r>
          </a:p>
          <a:p>
            <a:endParaRPr lang="en-IN" dirty="0"/>
          </a:p>
        </p:txBody>
      </p:sp>
      <p:pic>
        <p:nvPicPr>
          <p:cNvPr id="5" name="Picture 4">
            <a:extLst>
              <a:ext uri="{FF2B5EF4-FFF2-40B4-BE49-F238E27FC236}">
                <a16:creationId xmlns:a16="http://schemas.microsoft.com/office/drawing/2014/main" id="{2729D073-08DB-BFF0-6091-AC9F209071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2351" y="1511559"/>
            <a:ext cx="9987529" cy="4236097"/>
          </a:xfrm>
          <a:prstGeom prst="rect">
            <a:avLst/>
          </a:prstGeom>
        </p:spPr>
      </p:pic>
    </p:spTree>
    <p:extLst>
      <p:ext uri="{BB962C8B-B14F-4D97-AF65-F5344CB8AC3E}">
        <p14:creationId xmlns:p14="http://schemas.microsoft.com/office/powerpoint/2010/main" val="13515316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41BD00-75F0-E292-321F-1A6AC9CF7118}"/>
              </a:ext>
            </a:extLst>
          </p:cNvPr>
          <p:cNvSpPr>
            <a:spLocks noGrp="1"/>
          </p:cNvSpPr>
          <p:nvPr>
            <p:ph idx="1"/>
          </p:nvPr>
        </p:nvSpPr>
        <p:spPr>
          <a:xfrm>
            <a:off x="838200" y="475861"/>
            <a:ext cx="10515600" cy="5701102"/>
          </a:xfrm>
        </p:spPr>
        <p:txBody>
          <a:bodyPr/>
          <a:lstStyle/>
          <a:p>
            <a:pPr marL="0" indent="0">
              <a:buNone/>
            </a:pPr>
            <a:r>
              <a:rPr lang="en-IN" b="1" dirty="0">
                <a:solidFill>
                  <a:srgbClr val="7030A0"/>
                </a:solidFill>
              </a:rPr>
              <a:t>Bitwise AND                                              Bitwise XOR</a:t>
            </a:r>
          </a:p>
          <a:p>
            <a:pPr marL="0" indent="0">
              <a:buNone/>
            </a:pPr>
            <a:endParaRPr lang="en-IN" b="1" dirty="0">
              <a:solidFill>
                <a:srgbClr val="7030A0"/>
              </a:solidFill>
            </a:endParaRPr>
          </a:p>
          <a:p>
            <a:pPr marL="0" indent="0">
              <a:buNone/>
            </a:pPr>
            <a:endParaRPr lang="en-IN" b="1" dirty="0">
              <a:solidFill>
                <a:srgbClr val="7030A0"/>
              </a:solidFill>
            </a:endParaRPr>
          </a:p>
          <a:p>
            <a:pPr marL="0" indent="0">
              <a:buNone/>
            </a:pPr>
            <a:endParaRPr lang="en-IN" b="1" dirty="0">
              <a:solidFill>
                <a:srgbClr val="7030A0"/>
              </a:solidFill>
            </a:endParaRPr>
          </a:p>
          <a:p>
            <a:pPr marL="0" indent="0">
              <a:buNone/>
            </a:pPr>
            <a:endParaRPr lang="en-IN" b="1" dirty="0">
              <a:solidFill>
                <a:srgbClr val="7030A0"/>
              </a:solidFill>
            </a:endParaRPr>
          </a:p>
          <a:p>
            <a:pPr marL="0" indent="0">
              <a:buNone/>
            </a:pPr>
            <a:endParaRPr lang="en-IN" b="1" dirty="0">
              <a:solidFill>
                <a:srgbClr val="7030A0"/>
              </a:solidFill>
            </a:endParaRPr>
          </a:p>
          <a:p>
            <a:pPr marL="0" indent="0">
              <a:buNone/>
            </a:pPr>
            <a:r>
              <a:rPr lang="en-IN" b="1" dirty="0">
                <a:solidFill>
                  <a:srgbClr val="7030A0"/>
                </a:solidFill>
              </a:rPr>
              <a:t>Bitwise OR                                                  Bitwise complement</a:t>
            </a:r>
          </a:p>
          <a:p>
            <a:pPr marL="0" indent="0">
              <a:buNone/>
            </a:pPr>
            <a:endParaRPr lang="en-IN" b="1" dirty="0">
              <a:solidFill>
                <a:srgbClr val="7030A0"/>
              </a:solidFill>
            </a:endParaRPr>
          </a:p>
          <a:p>
            <a:pPr marL="0" indent="0">
              <a:buNone/>
            </a:pPr>
            <a:endParaRPr lang="en-IN" b="1" dirty="0">
              <a:solidFill>
                <a:srgbClr val="7030A0"/>
              </a:solidFill>
            </a:endParaRPr>
          </a:p>
          <a:p>
            <a:pPr marL="0" indent="0">
              <a:buNone/>
            </a:pPr>
            <a:endParaRPr lang="en-IN" b="1" dirty="0">
              <a:solidFill>
                <a:srgbClr val="7030A0"/>
              </a:solidFill>
            </a:endParaRPr>
          </a:p>
          <a:p>
            <a:pPr marL="0" indent="0">
              <a:buNone/>
            </a:pPr>
            <a:endParaRPr lang="en-IN" b="1" dirty="0">
              <a:solidFill>
                <a:srgbClr val="7030A0"/>
              </a:solidFill>
            </a:endParaRPr>
          </a:p>
          <a:p>
            <a:pPr marL="0" indent="0">
              <a:buNone/>
            </a:pPr>
            <a:endParaRPr lang="en-IN" b="1" dirty="0">
              <a:solidFill>
                <a:srgbClr val="7030A0"/>
              </a:solidFill>
            </a:endParaRPr>
          </a:p>
          <a:p>
            <a:pPr marL="0" indent="0">
              <a:buNone/>
            </a:pPr>
            <a:endParaRPr lang="en-IN" b="1" dirty="0">
              <a:solidFill>
                <a:srgbClr val="7030A0"/>
              </a:solidFill>
            </a:endParaRPr>
          </a:p>
          <a:p>
            <a:pPr marL="0" indent="0">
              <a:buNone/>
            </a:pPr>
            <a:endParaRPr lang="en-IN" b="1" dirty="0">
              <a:solidFill>
                <a:srgbClr val="7030A0"/>
              </a:solidFill>
            </a:endParaRPr>
          </a:p>
          <a:p>
            <a:pPr marL="0" indent="0">
              <a:buNone/>
            </a:pPr>
            <a:endParaRPr lang="en-IN" b="1" dirty="0">
              <a:solidFill>
                <a:srgbClr val="7030A0"/>
              </a:solidFill>
            </a:endParaRPr>
          </a:p>
        </p:txBody>
      </p:sp>
      <p:graphicFrame>
        <p:nvGraphicFramePr>
          <p:cNvPr id="4" name="Table 4">
            <a:extLst>
              <a:ext uri="{FF2B5EF4-FFF2-40B4-BE49-F238E27FC236}">
                <a16:creationId xmlns:a16="http://schemas.microsoft.com/office/drawing/2014/main" id="{9B679C6C-5C08-C6FC-C065-CF0CDB9EF9EB}"/>
              </a:ext>
            </a:extLst>
          </p:cNvPr>
          <p:cNvGraphicFramePr>
            <a:graphicFrameLocks noGrp="1"/>
          </p:cNvGraphicFramePr>
          <p:nvPr/>
        </p:nvGraphicFramePr>
        <p:xfrm>
          <a:off x="1259632" y="1366984"/>
          <a:ext cx="2108719" cy="1828800"/>
        </p:xfrm>
        <a:graphic>
          <a:graphicData uri="http://schemas.openxmlformats.org/drawingml/2006/table">
            <a:tbl>
              <a:tblPr firstRow="1" bandRow="1">
                <a:tableStyleId>{5C22544A-7EE6-4342-B048-85BDC9FD1C3A}</a:tableStyleId>
              </a:tblPr>
              <a:tblGrid>
                <a:gridCol w="699797">
                  <a:extLst>
                    <a:ext uri="{9D8B030D-6E8A-4147-A177-3AD203B41FA5}">
                      <a16:colId xmlns:a16="http://schemas.microsoft.com/office/drawing/2014/main" val="2405027821"/>
                    </a:ext>
                  </a:extLst>
                </a:gridCol>
                <a:gridCol w="597159">
                  <a:extLst>
                    <a:ext uri="{9D8B030D-6E8A-4147-A177-3AD203B41FA5}">
                      <a16:colId xmlns:a16="http://schemas.microsoft.com/office/drawing/2014/main" val="1650349800"/>
                    </a:ext>
                  </a:extLst>
                </a:gridCol>
                <a:gridCol w="811763">
                  <a:extLst>
                    <a:ext uri="{9D8B030D-6E8A-4147-A177-3AD203B41FA5}">
                      <a16:colId xmlns:a16="http://schemas.microsoft.com/office/drawing/2014/main" val="3381561785"/>
                    </a:ext>
                  </a:extLst>
                </a:gridCol>
              </a:tblGrid>
              <a:tr h="307634">
                <a:tc>
                  <a:txBody>
                    <a:bodyPr/>
                    <a:lstStyle/>
                    <a:p>
                      <a:r>
                        <a:rPr lang="en-IN" dirty="0"/>
                        <a:t>X</a:t>
                      </a:r>
                    </a:p>
                  </a:txBody>
                  <a:tcPr/>
                </a:tc>
                <a:tc>
                  <a:txBody>
                    <a:bodyPr/>
                    <a:lstStyle/>
                    <a:p>
                      <a:r>
                        <a:rPr lang="en-IN" dirty="0"/>
                        <a:t>Y</a:t>
                      </a:r>
                    </a:p>
                  </a:txBody>
                  <a:tcPr/>
                </a:tc>
                <a:tc>
                  <a:txBody>
                    <a:bodyPr/>
                    <a:lstStyle/>
                    <a:p>
                      <a:r>
                        <a:rPr lang="en-IN" dirty="0"/>
                        <a:t>X&amp;Y</a:t>
                      </a:r>
                    </a:p>
                  </a:txBody>
                  <a:tcPr/>
                </a:tc>
                <a:extLst>
                  <a:ext uri="{0D108BD9-81ED-4DB2-BD59-A6C34878D82A}">
                    <a16:rowId xmlns:a16="http://schemas.microsoft.com/office/drawing/2014/main" val="4151877088"/>
                  </a:ext>
                </a:extLst>
              </a:tr>
              <a:tr h="271195">
                <a:tc>
                  <a:txBody>
                    <a:bodyPr/>
                    <a:lstStyle/>
                    <a:p>
                      <a:r>
                        <a:rPr lang="en-IN" dirty="0"/>
                        <a:t>0</a:t>
                      </a:r>
                    </a:p>
                  </a:txBody>
                  <a:tcPr/>
                </a:tc>
                <a:tc>
                  <a:txBody>
                    <a:bodyPr/>
                    <a:lstStyle/>
                    <a:p>
                      <a:r>
                        <a:rPr lang="en-IN" dirty="0"/>
                        <a:t>0</a:t>
                      </a:r>
                    </a:p>
                  </a:txBody>
                  <a:tcPr/>
                </a:tc>
                <a:tc>
                  <a:txBody>
                    <a:bodyPr/>
                    <a:lstStyle/>
                    <a:p>
                      <a:r>
                        <a:rPr lang="en-IN" dirty="0"/>
                        <a:t>0</a:t>
                      </a:r>
                    </a:p>
                  </a:txBody>
                  <a:tcPr/>
                </a:tc>
                <a:extLst>
                  <a:ext uri="{0D108BD9-81ED-4DB2-BD59-A6C34878D82A}">
                    <a16:rowId xmlns:a16="http://schemas.microsoft.com/office/drawing/2014/main" val="413654614"/>
                  </a:ext>
                </a:extLst>
              </a:tr>
              <a:tr h="307634">
                <a:tc>
                  <a:txBody>
                    <a:bodyPr/>
                    <a:lstStyle/>
                    <a:p>
                      <a:r>
                        <a:rPr lang="en-IN" dirty="0"/>
                        <a:t>0</a:t>
                      </a:r>
                    </a:p>
                  </a:txBody>
                  <a:tcPr/>
                </a:tc>
                <a:tc>
                  <a:txBody>
                    <a:bodyPr/>
                    <a:lstStyle/>
                    <a:p>
                      <a:r>
                        <a:rPr lang="en-IN" dirty="0"/>
                        <a:t>1</a:t>
                      </a:r>
                    </a:p>
                  </a:txBody>
                  <a:tcPr/>
                </a:tc>
                <a:tc>
                  <a:txBody>
                    <a:bodyPr/>
                    <a:lstStyle/>
                    <a:p>
                      <a:r>
                        <a:rPr lang="en-IN" dirty="0"/>
                        <a:t>0</a:t>
                      </a:r>
                    </a:p>
                  </a:txBody>
                  <a:tcPr/>
                </a:tc>
                <a:extLst>
                  <a:ext uri="{0D108BD9-81ED-4DB2-BD59-A6C34878D82A}">
                    <a16:rowId xmlns:a16="http://schemas.microsoft.com/office/drawing/2014/main" val="1751244868"/>
                  </a:ext>
                </a:extLst>
              </a:tr>
              <a:tr h="307634">
                <a:tc>
                  <a:txBody>
                    <a:bodyPr/>
                    <a:lstStyle/>
                    <a:p>
                      <a:r>
                        <a:rPr lang="en-IN" dirty="0"/>
                        <a:t>1</a:t>
                      </a:r>
                    </a:p>
                  </a:txBody>
                  <a:tcPr/>
                </a:tc>
                <a:tc>
                  <a:txBody>
                    <a:bodyPr/>
                    <a:lstStyle/>
                    <a:p>
                      <a:r>
                        <a:rPr lang="en-IN" dirty="0"/>
                        <a:t>0</a:t>
                      </a:r>
                    </a:p>
                  </a:txBody>
                  <a:tcPr/>
                </a:tc>
                <a:tc>
                  <a:txBody>
                    <a:bodyPr/>
                    <a:lstStyle/>
                    <a:p>
                      <a:r>
                        <a:rPr lang="en-IN" dirty="0"/>
                        <a:t>0</a:t>
                      </a:r>
                    </a:p>
                  </a:txBody>
                  <a:tcPr/>
                </a:tc>
                <a:extLst>
                  <a:ext uri="{0D108BD9-81ED-4DB2-BD59-A6C34878D82A}">
                    <a16:rowId xmlns:a16="http://schemas.microsoft.com/office/drawing/2014/main" val="3261288220"/>
                  </a:ext>
                </a:extLst>
              </a:tr>
              <a:tr h="307634">
                <a:tc>
                  <a:txBody>
                    <a:bodyPr/>
                    <a:lstStyle/>
                    <a:p>
                      <a:r>
                        <a:rPr lang="en-IN" dirty="0"/>
                        <a:t>1</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3193444549"/>
                  </a:ext>
                </a:extLst>
              </a:tr>
            </a:tbl>
          </a:graphicData>
        </a:graphic>
      </p:graphicFrame>
      <p:graphicFrame>
        <p:nvGraphicFramePr>
          <p:cNvPr id="5" name="Table 5">
            <a:extLst>
              <a:ext uri="{FF2B5EF4-FFF2-40B4-BE49-F238E27FC236}">
                <a16:creationId xmlns:a16="http://schemas.microsoft.com/office/drawing/2014/main" id="{F4EB51D9-8AA4-D5E6-C2B5-9EDE8FF6581F}"/>
              </a:ext>
            </a:extLst>
          </p:cNvPr>
          <p:cNvGraphicFramePr>
            <a:graphicFrameLocks noGrp="1"/>
          </p:cNvGraphicFramePr>
          <p:nvPr/>
        </p:nvGraphicFramePr>
        <p:xfrm>
          <a:off x="1651518" y="4181323"/>
          <a:ext cx="1931437" cy="1850814"/>
        </p:xfrm>
        <a:graphic>
          <a:graphicData uri="http://schemas.openxmlformats.org/drawingml/2006/table">
            <a:tbl>
              <a:tblPr firstRow="1" bandRow="1">
                <a:tableStyleId>{5C22544A-7EE6-4342-B048-85BDC9FD1C3A}</a:tableStyleId>
              </a:tblPr>
              <a:tblGrid>
                <a:gridCol w="625151">
                  <a:extLst>
                    <a:ext uri="{9D8B030D-6E8A-4147-A177-3AD203B41FA5}">
                      <a16:colId xmlns:a16="http://schemas.microsoft.com/office/drawing/2014/main" val="904908514"/>
                    </a:ext>
                  </a:extLst>
                </a:gridCol>
                <a:gridCol w="606490">
                  <a:extLst>
                    <a:ext uri="{9D8B030D-6E8A-4147-A177-3AD203B41FA5}">
                      <a16:colId xmlns:a16="http://schemas.microsoft.com/office/drawing/2014/main" val="195832007"/>
                    </a:ext>
                  </a:extLst>
                </a:gridCol>
                <a:gridCol w="699796">
                  <a:extLst>
                    <a:ext uri="{9D8B030D-6E8A-4147-A177-3AD203B41FA5}">
                      <a16:colId xmlns:a16="http://schemas.microsoft.com/office/drawing/2014/main" val="748597831"/>
                    </a:ext>
                  </a:extLst>
                </a:gridCol>
              </a:tblGrid>
              <a:tr h="370840">
                <a:tc>
                  <a:txBody>
                    <a:bodyPr/>
                    <a:lstStyle/>
                    <a:p>
                      <a:r>
                        <a:rPr lang="en-IN" dirty="0"/>
                        <a:t>X</a:t>
                      </a:r>
                    </a:p>
                  </a:txBody>
                  <a:tcPr/>
                </a:tc>
                <a:tc>
                  <a:txBody>
                    <a:bodyPr/>
                    <a:lstStyle/>
                    <a:p>
                      <a:r>
                        <a:rPr lang="en-IN" dirty="0"/>
                        <a:t>Y</a:t>
                      </a:r>
                    </a:p>
                  </a:txBody>
                  <a:tcPr/>
                </a:tc>
                <a:tc>
                  <a:txBody>
                    <a:bodyPr/>
                    <a:lstStyle/>
                    <a:p>
                      <a:r>
                        <a:rPr lang="en-IN" dirty="0"/>
                        <a:t>X|Y</a:t>
                      </a:r>
                    </a:p>
                  </a:txBody>
                  <a:tcPr/>
                </a:tc>
                <a:extLst>
                  <a:ext uri="{0D108BD9-81ED-4DB2-BD59-A6C34878D82A}">
                    <a16:rowId xmlns:a16="http://schemas.microsoft.com/office/drawing/2014/main" val="1883137783"/>
                  </a:ext>
                </a:extLst>
              </a:tr>
              <a:tr h="370840">
                <a:tc>
                  <a:txBody>
                    <a:bodyPr/>
                    <a:lstStyle/>
                    <a:p>
                      <a:r>
                        <a:rPr lang="en-IN" dirty="0"/>
                        <a:t>0</a:t>
                      </a:r>
                    </a:p>
                  </a:txBody>
                  <a:tcPr/>
                </a:tc>
                <a:tc>
                  <a:txBody>
                    <a:bodyPr/>
                    <a:lstStyle/>
                    <a:p>
                      <a:r>
                        <a:rPr lang="en-IN" dirty="0"/>
                        <a:t>0</a:t>
                      </a:r>
                    </a:p>
                  </a:txBody>
                  <a:tcPr/>
                </a:tc>
                <a:tc>
                  <a:txBody>
                    <a:bodyPr/>
                    <a:lstStyle/>
                    <a:p>
                      <a:r>
                        <a:rPr lang="en-IN" dirty="0"/>
                        <a:t>0</a:t>
                      </a:r>
                    </a:p>
                  </a:txBody>
                  <a:tcPr/>
                </a:tc>
                <a:extLst>
                  <a:ext uri="{0D108BD9-81ED-4DB2-BD59-A6C34878D82A}">
                    <a16:rowId xmlns:a16="http://schemas.microsoft.com/office/drawing/2014/main" val="3363101693"/>
                  </a:ext>
                </a:extLst>
              </a:tr>
              <a:tr h="367454">
                <a:tc>
                  <a:txBody>
                    <a:bodyPr/>
                    <a:lstStyle/>
                    <a:p>
                      <a:r>
                        <a:rPr lang="en-IN" dirty="0"/>
                        <a:t>0</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3295509565"/>
                  </a:ext>
                </a:extLst>
              </a:tr>
              <a:tr h="370840">
                <a:tc>
                  <a:txBody>
                    <a:bodyPr/>
                    <a:lstStyle/>
                    <a:p>
                      <a:r>
                        <a:rPr lang="en-IN" dirty="0"/>
                        <a:t>1</a:t>
                      </a:r>
                    </a:p>
                  </a:txBody>
                  <a:tcPr/>
                </a:tc>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4273786262"/>
                  </a:ext>
                </a:extLst>
              </a:tr>
              <a:tr h="370840">
                <a:tc>
                  <a:txBody>
                    <a:bodyPr/>
                    <a:lstStyle/>
                    <a:p>
                      <a:r>
                        <a:rPr lang="en-IN" dirty="0"/>
                        <a:t>1</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145754715"/>
                  </a:ext>
                </a:extLst>
              </a:tr>
            </a:tbl>
          </a:graphicData>
        </a:graphic>
      </p:graphicFrame>
      <p:graphicFrame>
        <p:nvGraphicFramePr>
          <p:cNvPr id="6" name="Table 6">
            <a:extLst>
              <a:ext uri="{FF2B5EF4-FFF2-40B4-BE49-F238E27FC236}">
                <a16:creationId xmlns:a16="http://schemas.microsoft.com/office/drawing/2014/main" id="{01CB05A5-FF6A-1AF9-3E21-80FA2BB28834}"/>
              </a:ext>
            </a:extLst>
          </p:cNvPr>
          <p:cNvGraphicFramePr>
            <a:graphicFrameLocks noGrp="1"/>
          </p:cNvGraphicFramePr>
          <p:nvPr/>
        </p:nvGraphicFramePr>
        <p:xfrm>
          <a:off x="6323047" y="1341584"/>
          <a:ext cx="1906553" cy="1854200"/>
        </p:xfrm>
        <a:graphic>
          <a:graphicData uri="http://schemas.openxmlformats.org/drawingml/2006/table">
            <a:tbl>
              <a:tblPr firstRow="1" bandRow="1">
                <a:tableStyleId>{5C22544A-7EE6-4342-B048-85BDC9FD1C3A}</a:tableStyleId>
              </a:tblPr>
              <a:tblGrid>
                <a:gridCol w="656251">
                  <a:extLst>
                    <a:ext uri="{9D8B030D-6E8A-4147-A177-3AD203B41FA5}">
                      <a16:colId xmlns:a16="http://schemas.microsoft.com/office/drawing/2014/main" val="44181157"/>
                    </a:ext>
                  </a:extLst>
                </a:gridCol>
                <a:gridCol w="625151">
                  <a:extLst>
                    <a:ext uri="{9D8B030D-6E8A-4147-A177-3AD203B41FA5}">
                      <a16:colId xmlns:a16="http://schemas.microsoft.com/office/drawing/2014/main" val="352614614"/>
                    </a:ext>
                  </a:extLst>
                </a:gridCol>
                <a:gridCol w="625151">
                  <a:extLst>
                    <a:ext uri="{9D8B030D-6E8A-4147-A177-3AD203B41FA5}">
                      <a16:colId xmlns:a16="http://schemas.microsoft.com/office/drawing/2014/main" val="3857125014"/>
                    </a:ext>
                  </a:extLst>
                </a:gridCol>
              </a:tblGrid>
              <a:tr h="370840">
                <a:tc>
                  <a:txBody>
                    <a:bodyPr/>
                    <a:lstStyle/>
                    <a:p>
                      <a:r>
                        <a:rPr lang="en-IN" dirty="0"/>
                        <a:t>X</a:t>
                      </a:r>
                    </a:p>
                  </a:txBody>
                  <a:tcPr/>
                </a:tc>
                <a:tc>
                  <a:txBody>
                    <a:bodyPr/>
                    <a:lstStyle/>
                    <a:p>
                      <a:r>
                        <a:rPr lang="en-IN" dirty="0"/>
                        <a:t>Y</a:t>
                      </a:r>
                    </a:p>
                  </a:txBody>
                  <a:tcPr/>
                </a:tc>
                <a:tc>
                  <a:txBody>
                    <a:bodyPr/>
                    <a:lstStyle/>
                    <a:p>
                      <a:r>
                        <a:rPr lang="en-IN" dirty="0"/>
                        <a:t>X^Y</a:t>
                      </a:r>
                    </a:p>
                  </a:txBody>
                  <a:tcPr/>
                </a:tc>
                <a:extLst>
                  <a:ext uri="{0D108BD9-81ED-4DB2-BD59-A6C34878D82A}">
                    <a16:rowId xmlns:a16="http://schemas.microsoft.com/office/drawing/2014/main" val="3733378933"/>
                  </a:ext>
                </a:extLst>
              </a:tr>
              <a:tr h="370840">
                <a:tc>
                  <a:txBody>
                    <a:bodyPr/>
                    <a:lstStyle/>
                    <a:p>
                      <a:r>
                        <a:rPr lang="en-IN" dirty="0"/>
                        <a:t>0</a:t>
                      </a:r>
                    </a:p>
                  </a:txBody>
                  <a:tcPr/>
                </a:tc>
                <a:tc>
                  <a:txBody>
                    <a:bodyPr/>
                    <a:lstStyle/>
                    <a:p>
                      <a:r>
                        <a:rPr lang="en-IN" dirty="0"/>
                        <a:t>0</a:t>
                      </a:r>
                    </a:p>
                  </a:txBody>
                  <a:tcPr/>
                </a:tc>
                <a:tc>
                  <a:txBody>
                    <a:bodyPr/>
                    <a:lstStyle/>
                    <a:p>
                      <a:r>
                        <a:rPr lang="en-IN" dirty="0"/>
                        <a:t>0</a:t>
                      </a:r>
                    </a:p>
                  </a:txBody>
                  <a:tcPr/>
                </a:tc>
                <a:extLst>
                  <a:ext uri="{0D108BD9-81ED-4DB2-BD59-A6C34878D82A}">
                    <a16:rowId xmlns:a16="http://schemas.microsoft.com/office/drawing/2014/main" val="2923165227"/>
                  </a:ext>
                </a:extLst>
              </a:tr>
              <a:tr h="370840">
                <a:tc>
                  <a:txBody>
                    <a:bodyPr/>
                    <a:lstStyle/>
                    <a:p>
                      <a:r>
                        <a:rPr lang="en-IN" dirty="0"/>
                        <a:t>0</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4218570082"/>
                  </a:ext>
                </a:extLst>
              </a:tr>
              <a:tr h="370840">
                <a:tc>
                  <a:txBody>
                    <a:bodyPr/>
                    <a:lstStyle/>
                    <a:p>
                      <a:r>
                        <a:rPr lang="en-IN" dirty="0"/>
                        <a:t>1</a:t>
                      </a:r>
                    </a:p>
                  </a:txBody>
                  <a:tcPr/>
                </a:tc>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3972380081"/>
                  </a:ext>
                </a:extLst>
              </a:tr>
              <a:tr h="370840">
                <a:tc>
                  <a:txBody>
                    <a:bodyPr/>
                    <a:lstStyle/>
                    <a:p>
                      <a:r>
                        <a:rPr lang="en-IN" dirty="0"/>
                        <a:t>1</a:t>
                      </a:r>
                    </a:p>
                  </a:txBody>
                  <a:tcPr/>
                </a:tc>
                <a:tc>
                  <a:txBody>
                    <a:bodyPr/>
                    <a:lstStyle/>
                    <a:p>
                      <a:r>
                        <a:rPr lang="en-IN" dirty="0"/>
                        <a:t>1</a:t>
                      </a:r>
                    </a:p>
                  </a:txBody>
                  <a:tcPr/>
                </a:tc>
                <a:tc>
                  <a:txBody>
                    <a:bodyPr/>
                    <a:lstStyle/>
                    <a:p>
                      <a:r>
                        <a:rPr lang="en-IN" dirty="0"/>
                        <a:t>0</a:t>
                      </a:r>
                    </a:p>
                  </a:txBody>
                  <a:tcPr/>
                </a:tc>
                <a:extLst>
                  <a:ext uri="{0D108BD9-81ED-4DB2-BD59-A6C34878D82A}">
                    <a16:rowId xmlns:a16="http://schemas.microsoft.com/office/drawing/2014/main" val="1828332458"/>
                  </a:ext>
                </a:extLst>
              </a:tr>
            </a:tbl>
          </a:graphicData>
        </a:graphic>
      </p:graphicFrame>
      <p:graphicFrame>
        <p:nvGraphicFramePr>
          <p:cNvPr id="7" name="Table 7">
            <a:extLst>
              <a:ext uri="{FF2B5EF4-FFF2-40B4-BE49-F238E27FC236}">
                <a16:creationId xmlns:a16="http://schemas.microsoft.com/office/drawing/2014/main" id="{E40B277D-8446-8258-9D7C-87D496EEEDAE}"/>
              </a:ext>
            </a:extLst>
          </p:cNvPr>
          <p:cNvGraphicFramePr>
            <a:graphicFrameLocks noGrp="1"/>
          </p:cNvGraphicFramePr>
          <p:nvPr/>
        </p:nvGraphicFramePr>
        <p:xfrm>
          <a:off x="7172133" y="4550470"/>
          <a:ext cx="1436914" cy="1112520"/>
        </p:xfrm>
        <a:graphic>
          <a:graphicData uri="http://schemas.openxmlformats.org/drawingml/2006/table">
            <a:tbl>
              <a:tblPr firstRow="1" bandRow="1">
                <a:tableStyleId>{5C22544A-7EE6-4342-B048-85BDC9FD1C3A}</a:tableStyleId>
              </a:tblPr>
              <a:tblGrid>
                <a:gridCol w="729083">
                  <a:extLst>
                    <a:ext uri="{9D8B030D-6E8A-4147-A177-3AD203B41FA5}">
                      <a16:colId xmlns:a16="http://schemas.microsoft.com/office/drawing/2014/main" val="2129824509"/>
                    </a:ext>
                  </a:extLst>
                </a:gridCol>
                <a:gridCol w="707831">
                  <a:extLst>
                    <a:ext uri="{9D8B030D-6E8A-4147-A177-3AD203B41FA5}">
                      <a16:colId xmlns:a16="http://schemas.microsoft.com/office/drawing/2014/main" val="1701335062"/>
                    </a:ext>
                  </a:extLst>
                </a:gridCol>
              </a:tblGrid>
              <a:tr h="370840">
                <a:tc>
                  <a:txBody>
                    <a:bodyPr/>
                    <a:lstStyle/>
                    <a:p>
                      <a:r>
                        <a:rPr lang="en-IN" dirty="0"/>
                        <a:t>X</a:t>
                      </a:r>
                    </a:p>
                  </a:txBody>
                  <a:tcPr/>
                </a:tc>
                <a:tc>
                  <a:txBody>
                    <a:bodyPr/>
                    <a:lstStyle/>
                    <a:p>
                      <a:r>
                        <a:rPr lang="en-IN" dirty="0"/>
                        <a:t>~X</a:t>
                      </a:r>
                    </a:p>
                  </a:txBody>
                  <a:tcPr/>
                </a:tc>
                <a:extLst>
                  <a:ext uri="{0D108BD9-81ED-4DB2-BD59-A6C34878D82A}">
                    <a16:rowId xmlns:a16="http://schemas.microsoft.com/office/drawing/2014/main" val="1813311966"/>
                  </a:ext>
                </a:extLst>
              </a:tr>
              <a:tr h="370840">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3923392900"/>
                  </a:ext>
                </a:extLst>
              </a:tr>
              <a:tr h="370840">
                <a:tc>
                  <a:txBody>
                    <a:bodyPr/>
                    <a:lstStyle/>
                    <a:p>
                      <a:r>
                        <a:rPr lang="en-IN" dirty="0"/>
                        <a:t>1</a:t>
                      </a:r>
                    </a:p>
                  </a:txBody>
                  <a:tcPr/>
                </a:tc>
                <a:tc>
                  <a:txBody>
                    <a:bodyPr/>
                    <a:lstStyle/>
                    <a:p>
                      <a:r>
                        <a:rPr lang="en-IN" dirty="0"/>
                        <a:t>0</a:t>
                      </a:r>
                    </a:p>
                  </a:txBody>
                  <a:tcPr/>
                </a:tc>
                <a:extLst>
                  <a:ext uri="{0D108BD9-81ED-4DB2-BD59-A6C34878D82A}">
                    <a16:rowId xmlns:a16="http://schemas.microsoft.com/office/drawing/2014/main" val="3356175113"/>
                  </a:ext>
                </a:extLst>
              </a:tr>
            </a:tbl>
          </a:graphicData>
        </a:graphic>
      </p:graphicFrame>
    </p:spTree>
    <p:extLst>
      <p:ext uri="{BB962C8B-B14F-4D97-AF65-F5344CB8AC3E}">
        <p14:creationId xmlns:p14="http://schemas.microsoft.com/office/powerpoint/2010/main" val="40253162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904FEB-E54B-206D-2416-7E5F76D64C4A}"/>
              </a:ext>
            </a:extLst>
          </p:cNvPr>
          <p:cNvSpPr>
            <a:spLocks noGrp="1"/>
          </p:cNvSpPr>
          <p:nvPr>
            <p:ph idx="1"/>
          </p:nvPr>
        </p:nvSpPr>
        <p:spPr>
          <a:xfrm>
            <a:off x="838200" y="541176"/>
            <a:ext cx="10515600" cy="5635787"/>
          </a:xfrm>
        </p:spPr>
        <p:txBody>
          <a:bodyPr/>
          <a:lstStyle/>
          <a:p>
            <a:pPr marL="0" indent="0">
              <a:buNone/>
            </a:pPr>
            <a:r>
              <a:rPr lang="en-IN" b="1" dirty="0">
                <a:solidFill>
                  <a:srgbClr val="7030A0"/>
                </a:solidFill>
              </a:rPr>
              <a:t>Shift Operators</a:t>
            </a:r>
          </a:p>
          <a:p>
            <a:r>
              <a:rPr lang="en-IN" i="0" dirty="0">
                <a:effectLst/>
              </a:rPr>
              <a:t>Left Shift Operator (&lt;&lt;)</a:t>
            </a:r>
          </a:p>
          <a:p>
            <a:r>
              <a:rPr lang="en-IN" i="0" dirty="0">
                <a:effectLst/>
              </a:rPr>
              <a:t> Right Shift Operator (&gt;&gt;)</a:t>
            </a:r>
          </a:p>
          <a:p>
            <a:pPr marL="0" indent="0">
              <a:buNone/>
            </a:pPr>
            <a:r>
              <a:rPr lang="en-IN" b="1" i="0" dirty="0">
                <a:solidFill>
                  <a:srgbClr val="7030A0"/>
                </a:solidFill>
                <a:effectLst/>
              </a:rPr>
              <a:t>Left Shift Operator (&lt;&lt;)</a:t>
            </a:r>
          </a:p>
          <a:p>
            <a:pPr marL="0" indent="0">
              <a:lnSpc>
                <a:spcPct val="150000"/>
              </a:lnSpc>
              <a:buNone/>
            </a:pPr>
            <a:r>
              <a:rPr lang="en-US" b="0" i="0" dirty="0">
                <a:solidFill>
                  <a:srgbClr val="333333"/>
                </a:solidFill>
                <a:effectLst/>
              </a:rPr>
              <a:t>The signed left shift operator (&lt;&lt;) shifts a bit pattern to the left. It is represented by the symbol </a:t>
            </a:r>
            <a:r>
              <a:rPr lang="en-US" b="1" i="0" dirty="0">
                <a:solidFill>
                  <a:srgbClr val="333333"/>
                </a:solidFill>
                <a:effectLst/>
              </a:rPr>
              <a:t>&lt;&lt;.</a:t>
            </a:r>
          </a:p>
          <a:p>
            <a:pPr marL="0" indent="0">
              <a:lnSpc>
                <a:spcPct val="150000"/>
              </a:lnSpc>
              <a:buNone/>
            </a:pPr>
            <a:r>
              <a:rPr lang="en-US" b="0" i="0" dirty="0">
                <a:solidFill>
                  <a:srgbClr val="333333"/>
                </a:solidFill>
                <a:effectLst/>
              </a:rPr>
              <a:t> It also preserves the leftmost bit (sign bit). It does not preserve the sign bit.</a:t>
            </a:r>
            <a:endParaRPr lang="en-IN" b="1" i="0" dirty="0">
              <a:solidFill>
                <a:srgbClr val="7030A0"/>
              </a:solidFill>
              <a:effectLst/>
            </a:endParaRPr>
          </a:p>
          <a:p>
            <a:pPr marL="0" indent="0">
              <a:buNone/>
            </a:pPr>
            <a:endParaRPr lang="en-IN" b="1" dirty="0">
              <a:solidFill>
                <a:srgbClr val="7030A0"/>
              </a:solidFill>
            </a:endParaRPr>
          </a:p>
        </p:txBody>
      </p:sp>
    </p:spTree>
    <p:extLst>
      <p:ext uri="{BB962C8B-B14F-4D97-AF65-F5344CB8AC3E}">
        <p14:creationId xmlns:p14="http://schemas.microsoft.com/office/powerpoint/2010/main" val="19268182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9CFF5F-E7F3-6DF5-DF50-3570A902692D}"/>
              </a:ext>
            </a:extLst>
          </p:cNvPr>
          <p:cNvSpPr>
            <a:spLocks noGrp="1"/>
          </p:cNvSpPr>
          <p:nvPr>
            <p:ph idx="1"/>
          </p:nvPr>
        </p:nvSpPr>
        <p:spPr>
          <a:xfrm>
            <a:off x="838200" y="485192"/>
            <a:ext cx="10515600" cy="5691771"/>
          </a:xfrm>
        </p:spPr>
        <p:txBody>
          <a:bodyPr/>
          <a:lstStyle/>
          <a:p>
            <a:pPr marL="0" indent="0">
              <a:buNone/>
            </a:pPr>
            <a:r>
              <a:rPr lang="en-IN" b="1" i="0" dirty="0">
                <a:solidFill>
                  <a:srgbClr val="7030A0"/>
                </a:solidFill>
                <a:effectLst/>
              </a:rPr>
              <a:t>Right Shift Operator (&gt;&gt;)</a:t>
            </a:r>
          </a:p>
          <a:p>
            <a:r>
              <a:rPr lang="en-US" b="0" i="0" dirty="0">
                <a:solidFill>
                  <a:srgbClr val="333333"/>
                </a:solidFill>
                <a:effectLst/>
              </a:rPr>
              <a:t>The  leftmost position after &gt;&gt; depends on the sign bit. It does not preserve the sign bit.</a:t>
            </a:r>
            <a:endParaRPr lang="en-IN" b="1" dirty="0">
              <a:solidFill>
                <a:srgbClr val="7030A0"/>
              </a:solidFill>
            </a:endParaRPr>
          </a:p>
        </p:txBody>
      </p:sp>
    </p:spTree>
    <p:extLst>
      <p:ext uri="{BB962C8B-B14F-4D97-AF65-F5344CB8AC3E}">
        <p14:creationId xmlns:p14="http://schemas.microsoft.com/office/powerpoint/2010/main" val="26323218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F848EB-65CF-C2E9-6E69-406A18254AF2}"/>
              </a:ext>
            </a:extLst>
          </p:cNvPr>
          <p:cNvSpPr>
            <a:spLocks noGrp="1"/>
          </p:cNvSpPr>
          <p:nvPr>
            <p:ph idx="1"/>
          </p:nvPr>
        </p:nvSpPr>
        <p:spPr>
          <a:xfrm>
            <a:off x="838200" y="457200"/>
            <a:ext cx="10515600" cy="5719763"/>
          </a:xfrm>
        </p:spPr>
        <p:txBody>
          <a:bodyPr/>
          <a:lstStyle/>
          <a:p>
            <a:pPr marL="0" indent="0">
              <a:lnSpc>
                <a:spcPct val="150000"/>
              </a:lnSpc>
              <a:buNone/>
            </a:pPr>
            <a:r>
              <a:rPr lang="en-IN" b="1" i="0" dirty="0">
                <a:solidFill>
                  <a:srgbClr val="7030A0"/>
                </a:solidFill>
                <a:effectLst/>
              </a:rPr>
              <a:t>Logical operators</a:t>
            </a:r>
            <a:endParaRPr lang="en-US" b="1" i="0" dirty="0">
              <a:solidFill>
                <a:srgbClr val="7030A0"/>
              </a:solidFill>
              <a:effectLst/>
            </a:endParaRPr>
          </a:p>
          <a:p>
            <a:pPr>
              <a:lnSpc>
                <a:spcPct val="150000"/>
              </a:lnSpc>
            </a:pPr>
            <a:r>
              <a:rPr lang="en-US" b="0" i="0" dirty="0">
                <a:solidFill>
                  <a:srgbClr val="333333"/>
                </a:solidFill>
                <a:effectLst/>
              </a:rPr>
              <a:t>Logical operators are generally used for combining two or more relational statements. They return Boolean values.</a:t>
            </a:r>
          </a:p>
          <a:p>
            <a:pPr marL="0" indent="0">
              <a:lnSpc>
                <a:spcPct val="150000"/>
              </a:lnSpc>
              <a:buNone/>
            </a:pPr>
            <a:r>
              <a:rPr lang="en-IN" b="1" i="0" dirty="0">
                <a:solidFill>
                  <a:srgbClr val="7030A0"/>
                </a:solidFill>
                <a:effectLst/>
              </a:rPr>
              <a:t>&amp;&amp; (Logical AND)</a:t>
            </a:r>
          </a:p>
          <a:p>
            <a:pPr>
              <a:lnSpc>
                <a:spcPct val="150000"/>
              </a:lnSpc>
            </a:pPr>
            <a:r>
              <a:rPr lang="en-US" b="0" i="0" dirty="0">
                <a:solidFill>
                  <a:srgbClr val="333333"/>
                </a:solidFill>
                <a:effectLst/>
              </a:rPr>
              <a:t>The logical &amp;&amp; operator doesn't check the second condition if first condition is false. It checks the second condition only if the first one is true</a:t>
            </a:r>
            <a:r>
              <a:rPr lang="en-US" b="0" i="0" dirty="0">
                <a:solidFill>
                  <a:srgbClr val="333333"/>
                </a:solidFill>
                <a:effectLst/>
                <a:latin typeface="inter-regular"/>
              </a:rPr>
              <a:t>.</a:t>
            </a:r>
            <a:endParaRPr lang="en-IN" dirty="0"/>
          </a:p>
        </p:txBody>
      </p:sp>
    </p:spTree>
    <p:extLst>
      <p:ext uri="{BB962C8B-B14F-4D97-AF65-F5344CB8AC3E}">
        <p14:creationId xmlns:p14="http://schemas.microsoft.com/office/powerpoint/2010/main" val="23589012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68014F-F830-C17D-5148-9719CEA590AA}"/>
              </a:ext>
            </a:extLst>
          </p:cNvPr>
          <p:cNvSpPr>
            <a:spLocks noGrp="1"/>
          </p:cNvSpPr>
          <p:nvPr>
            <p:ph idx="1"/>
          </p:nvPr>
        </p:nvSpPr>
        <p:spPr>
          <a:xfrm>
            <a:off x="606490" y="503853"/>
            <a:ext cx="10747310" cy="5673110"/>
          </a:xfrm>
        </p:spPr>
        <p:txBody>
          <a:bodyPr/>
          <a:lstStyle/>
          <a:p>
            <a:pPr marL="0" indent="0" algn="just">
              <a:lnSpc>
                <a:spcPct val="150000"/>
              </a:lnSpc>
              <a:buNone/>
            </a:pPr>
            <a:r>
              <a:rPr lang="en-US" b="1" i="0" dirty="0">
                <a:solidFill>
                  <a:srgbClr val="7030A0"/>
                </a:solidFill>
                <a:effectLst/>
              </a:rPr>
              <a:t>|| (Logical OR)</a:t>
            </a:r>
          </a:p>
          <a:p>
            <a:pPr algn="just">
              <a:lnSpc>
                <a:spcPct val="150000"/>
              </a:lnSpc>
            </a:pPr>
            <a:r>
              <a:rPr lang="en-US" b="0" i="0" dirty="0">
                <a:solidFill>
                  <a:srgbClr val="333333"/>
                </a:solidFill>
                <a:effectLst/>
              </a:rPr>
              <a:t>The Logical OR operator is represented with the two vertical line symbols.</a:t>
            </a:r>
          </a:p>
          <a:p>
            <a:pPr algn="just">
              <a:lnSpc>
                <a:spcPct val="150000"/>
              </a:lnSpc>
            </a:pPr>
            <a:r>
              <a:rPr lang="en-US" b="0" i="0" dirty="0">
                <a:solidFill>
                  <a:srgbClr val="333333"/>
                </a:solidFill>
                <a:effectLst/>
              </a:rPr>
              <a:t> It works opposite to the logical AND operator, as it only gives </a:t>
            </a:r>
            <a:r>
              <a:rPr lang="en-US" b="1" i="1" dirty="0">
                <a:solidFill>
                  <a:srgbClr val="333333"/>
                </a:solidFill>
                <a:effectLst/>
              </a:rPr>
              <a:t>false</a:t>
            </a:r>
            <a:r>
              <a:rPr lang="en-US" b="0" i="0" dirty="0">
                <a:solidFill>
                  <a:srgbClr val="333333"/>
                </a:solidFill>
                <a:effectLst/>
              </a:rPr>
              <a:t> when both statements of the expression are not true. Otherwise, it returns true.</a:t>
            </a:r>
          </a:p>
          <a:p>
            <a:endParaRPr lang="en-IN" dirty="0"/>
          </a:p>
        </p:txBody>
      </p:sp>
    </p:spTree>
    <p:extLst>
      <p:ext uri="{BB962C8B-B14F-4D97-AF65-F5344CB8AC3E}">
        <p14:creationId xmlns:p14="http://schemas.microsoft.com/office/powerpoint/2010/main" val="20581724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72D8C7-D4D3-3967-0FA3-0FA1DEED6DE0}"/>
              </a:ext>
            </a:extLst>
          </p:cNvPr>
          <p:cNvSpPr>
            <a:spLocks noGrp="1"/>
          </p:cNvSpPr>
          <p:nvPr>
            <p:ph idx="1"/>
          </p:nvPr>
        </p:nvSpPr>
        <p:spPr>
          <a:xfrm>
            <a:off x="838200" y="429209"/>
            <a:ext cx="10515600" cy="5747754"/>
          </a:xfrm>
        </p:spPr>
        <p:txBody>
          <a:bodyPr/>
          <a:lstStyle/>
          <a:p>
            <a:pPr marL="0" indent="0" algn="just">
              <a:lnSpc>
                <a:spcPct val="150000"/>
              </a:lnSpc>
              <a:buNone/>
            </a:pPr>
            <a:r>
              <a:rPr lang="en-US" b="1" i="0" dirty="0">
                <a:solidFill>
                  <a:srgbClr val="7030A0"/>
                </a:solidFill>
                <a:effectLst/>
              </a:rPr>
              <a:t>! (Logical NOT operator)</a:t>
            </a:r>
          </a:p>
          <a:p>
            <a:pPr algn="just">
              <a:lnSpc>
                <a:spcPct val="150000"/>
              </a:lnSpc>
            </a:pPr>
            <a:r>
              <a:rPr lang="en-US" b="0" i="0" dirty="0">
                <a:solidFill>
                  <a:srgbClr val="333333"/>
                </a:solidFill>
                <a:effectLst/>
              </a:rPr>
              <a:t>This logical operator is represented as an exclamation sign (!). This operator accepts a single argument and returns the inverse value of the corresponding argument.</a:t>
            </a:r>
          </a:p>
          <a:p>
            <a:endParaRPr lang="en-IN" dirty="0"/>
          </a:p>
        </p:txBody>
      </p:sp>
    </p:spTree>
    <p:extLst>
      <p:ext uri="{BB962C8B-B14F-4D97-AF65-F5344CB8AC3E}">
        <p14:creationId xmlns:p14="http://schemas.microsoft.com/office/powerpoint/2010/main" val="8111153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FF53FB-2CD2-89AD-2EFE-7D9A241309EA}"/>
              </a:ext>
            </a:extLst>
          </p:cNvPr>
          <p:cNvSpPr>
            <a:spLocks noGrp="1"/>
          </p:cNvSpPr>
          <p:nvPr>
            <p:ph idx="1"/>
          </p:nvPr>
        </p:nvSpPr>
        <p:spPr>
          <a:xfrm>
            <a:off x="838200" y="531845"/>
            <a:ext cx="10515600" cy="5645118"/>
          </a:xfrm>
        </p:spPr>
        <p:txBody>
          <a:bodyPr/>
          <a:lstStyle/>
          <a:p>
            <a:pPr marL="0" indent="0">
              <a:lnSpc>
                <a:spcPct val="150000"/>
              </a:lnSpc>
              <a:buNone/>
            </a:pPr>
            <a:r>
              <a:rPr lang="en-IN" b="1" i="0" dirty="0">
                <a:solidFill>
                  <a:srgbClr val="7030A0"/>
                </a:solidFill>
                <a:effectLst/>
              </a:rPr>
              <a:t> Conditional (Ternary) Operator</a:t>
            </a:r>
          </a:p>
          <a:p>
            <a:pPr>
              <a:lnSpc>
                <a:spcPct val="150000"/>
              </a:lnSpc>
            </a:pPr>
            <a:r>
              <a:rPr lang="en-US" b="0" i="0" dirty="0">
                <a:solidFill>
                  <a:srgbClr val="333333"/>
                </a:solidFill>
                <a:effectLst/>
              </a:rPr>
              <a:t>In </a:t>
            </a:r>
            <a:r>
              <a:rPr lang="en-US" dirty="0">
                <a:solidFill>
                  <a:srgbClr val="333333"/>
                </a:solidFill>
              </a:rPr>
              <a:t>C</a:t>
            </a:r>
            <a:r>
              <a:rPr lang="en-US" b="0" i="0" dirty="0">
                <a:solidFill>
                  <a:srgbClr val="333333"/>
                </a:solidFill>
                <a:effectLst/>
              </a:rPr>
              <a:t>, the</a:t>
            </a:r>
            <a:r>
              <a:rPr lang="en-US" b="0" i="0" dirty="0">
                <a:solidFill>
                  <a:srgbClr val="7030A0"/>
                </a:solidFill>
                <a:effectLst/>
              </a:rPr>
              <a:t> </a:t>
            </a:r>
            <a:r>
              <a:rPr lang="en-US" b="1" i="0" dirty="0">
                <a:solidFill>
                  <a:srgbClr val="7030A0"/>
                </a:solidFill>
                <a:effectLst/>
              </a:rPr>
              <a:t>ternary operator</a:t>
            </a:r>
            <a:r>
              <a:rPr lang="en-US" b="0" i="0" dirty="0">
                <a:solidFill>
                  <a:srgbClr val="7030A0"/>
                </a:solidFill>
                <a:effectLst/>
              </a:rPr>
              <a:t> </a:t>
            </a:r>
            <a:r>
              <a:rPr lang="en-US" b="0" i="0" dirty="0">
                <a:solidFill>
                  <a:srgbClr val="333333"/>
                </a:solidFill>
                <a:effectLst/>
              </a:rPr>
              <a:t>is a </a:t>
            </a:r>
            <a:r>
              <a:rPr lang="en-US" b="1" i="0" dirty="0">
                <a:solidFill>
                  <a:srgbClr val="7030A0"/>
                </a:solidFill>
                <a:effectLst/>
              </a:rPr>
              <a:t> conditional operator</a:t>
            </a:r>
            <a:r>
              <a:rPr lang="en-US" b="0" i="0" dirty="0">
                <a:solidFill>
                  <a:srgbClr val="333333"/>
                </a:solidFill>
                <a:effectLst/>
              </a:rPr>
              <a:t>.</a:t>
            </a:r>
          </a:p>
          <a:p>
            <a:pPr>
              <a:lnSpc>
                <a:spcPct val="150000"/>
              </a:lnSpc>
            </a:pPr>
            <a:r>
              <a:rPr lang="en-US" b="0" i="0" dirty="0">
                <a:solidFill>
                  <a:srgbClr val="333333"/>
                </a:solidFill>
                <a:effectLst/>
              </a:rPr>
              <a:t>The meaning of </a:t>
            </a:r>
            <a:r>
              <a:rPr lang="en-US" b="1" i="0" dirty="0">
                <a:solidFill>
                  <a:srgbClr val="7030A0"/>
                </a:solidFill>
                <a:effectLst/>
              </a:rPr>
              <a:t>ternary</a:t>
            </a:r>
            <a:r>
              <a:rPr lang="en-US" b="0" i="0" dirty="0">
                <a:solidFill>
                  <a:srgbClr val="333333"/>
                </a:solidFill>
                <a:effectLst/>
              </a:rPr>
              <a:t> is composed of </a:t>
            </a:r>
            <a:r>
              <a:rPr lang="en-US" b="1" i="0" dirty="0">
                <a:solidFill>
                  <a:srgbClr val="7030A0"/>
                </a:solidFill>
                <a:effectLst/>
              </a:rPr>
              <a:t>three parts</a:t>
            </a:r>
            <a:r>
              <a:rPr lang="en-US" b="0" i="0" dirty="0">
                <a:solidFill>
                  <a:srgbClr val="333333"/>
                </a:solidFill>
                <a:effectLst/>
              </a:rPr>
              <a:t>. </a:t>
            </a:r>
          </a:p>
          <a:p>
            <a:pPr>
              <a:lnSpc>
                <a:spcPct val="150000"/>
              </a:lnSpc>
            </a:pPr>
            <a:r>
              <a:rPr lang="en-US" b="0" i="0" dirty="0">
                <a:solidFill>
                  <a:srgbClr val="333333"/>
                </a:solidFill>
                <a:effectLst/>
              </a:rPr>
              <a:t>The </a:t>
            </a:r>
            <a:r>
              <a:rPr lang="en-US" b="1" i="0" dirty="0">
                <a:solidFill>
                  <a:srgbClr val="7030A0"/>
                </a:solidFill>
                <a:effectLst/>
              </a:rPr>
              <a:t>ternary operator (? :)</a:t>
            </a:r>
            <a:r>
              <a:rPr lang="en-US" b="0" i="0" dirty="0">
                <a:solidFill>
                  <a:srgbClr val="7030A0"/>
                </a:solidFill>
                <a:effectLst/>
              </a:rPr>
              <a:t> </a:t>
            </a:r>
            <a:r>
              <a:rPr lang="en-US" b="0" i="0" dirty="0">
                <a:solidFill>
                  <a:srgbClr val="333333"/>
                </a:solidFill>
                <a:effectLst/>
              </a:rPr>
              <a:t>consists of three operands.</a:t>
            </a:r>
          </a:p>
          <a:p>
            <a:pPr>
              <a:lnSpc>
                <a:spcPct val="150000"/>
              </a:lnSpc>
            </a:pPr>
            <a:r>
              <a:rPr lang="en-US" b="0" i="0" dirty="0">
                <a:solidFill>
                  <a:srgbClr val="333333"/>
                </a:solidFill>
                <a:effectLst/>
              </a:rPr>
              <a:t> It is used to </a:t>
            </a:r>
            <a:r>
              <a:rPr lang="en-US" b="1" i="0" dirty="0">
                <a:solidFill>
                  <a:srgbClr val="7030A0"/>
                </a:solidFill>
                <a:effectLst/>
              </a:rPr>
              <a:t>evaluate Boolean expressions</a:t>
            </a:r>
            <a:r>
              <a:rPr lang="en-US" b="0" i="0" dirty="0">
                <a:solidFill>
                  <a:srgbClr val="333333"/>
                </a:solidFill>
                <a:effectLst/>
              </a:rPr>
              <a:t>.</a:t>
            </a:r>
            <a:endParaRPr lang="en-US" dirty="0">
              <a:solidFill>
                <a:srgbClr val="333333"/>
              </a:solidFill>
            </a:endParaRPr>
          </a:p>
          <a:p>
            <a:pPr marL="0" indent="0" algn="just">
              <a:lnSpc>
                <a:spcPct val="150000"/>
              </a:lnSpc>
              <a:buNone/>
            </a:pPr>
            <a:r>
              <a:rPr lang="fr-FR" b="1" i="0" dirty="0" err="1">
                <a:solidFill>
                  <a:srgbClr val="7030A0"/>
                </a:solidFill>
                <a:effectLst/>
              </a:rPr>
              <a:t>Syntax</a:t>
            </a:r>
            <a:r>
              <a:rPr lang="fr-FR" b="1" i="0" dirty="0">
                <a:solidFill>
                  <a:srgbClr val="7030A0"/>
                </a:solidFill>
                <a:effectLst/>
              </a:rPr>
              <a:t>:</a:t>
            </a:r>
          </a:p>
          <a:p>
            <a:pPr marL="0" indent="0" algn="just">
              <a:lnSpc>
                <a:spcPct val="150000"/>
              </a:lnSpc>
              <a:buNone/>
            </a:pPr>
            <a:r>
              <a:rPr lang="fr-FR" b="0" i="0" dirty="0">
                <a:solidFill>
                  <a:srgbClr val="000000"/>
                </a:solidFill>
                <a:effectLst/>
              </a:rPr>
              <a:t>variable = (condition) ? expression1 : expression2  </a:t>
            </a:r>
          </a:p>
          <a:p>
            <a:endParaRPr lang="en-IN" dirty="0"/>
          </a:p>
        </p:txBody>
      </p:sp>
    </p:spTree>
    <p:extLst>
      <p:ext uri="{BB962C8B-B14F-4D97-AF65-F5344CB8AC3E}">
        <p14:creationId xmlns:p14="http://schemas.microsoft.com/office/powerpoint/2010/main" val="14884759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DF5D5A-676F-C2F4-2EF0-5561437ECCCD}"/>
              </a:ext>
            </a:extLst>
          </p:cNvPr>
          <p:cNvSpPr>
            <a:spLocks noGrp="1"/>
          </p:cNvSpPr>
          <p:nvPr>
            <p:ph idx="1"/>
          </p:nvPr>
        </p:nvSpPr>
        <p:spPr>
          <a:xfrm>
            <a:off x="940836" y="606490"/>
            <a:ext cx="10515600" cy="5467836"/>
          </a:xfrm>
        </p:spPr>
        <p:txBody>
          <a:bodyPr>
            <a:normAutofit fontScale="92500" lnSpcReduction="20000"/>
          </a:bodyPr>
          <a:lstStyle/>
          <a:p>
            <a:pPr marL="0" indent="0">
              <a:buNone/>
            </a:pPr>
            <a:r>
              <a:rPr lang="en-US" b="1" dirty="0">
                <a:solidFill>
                  <a:srgbClr val="7030A0"/>
                </a:solidFill>
              </a:rPr>
              <a:t>Special Operators</a:t>
            </a:r>
          </a:p>
          <a:p>
            <a:pPr marL="0" indent="0">
              <a:buNone/>
            </a:pPr>
            <a:r>
              <a:rPr lang="en-US" dirty="0">
                <a:solidFill>
                  <a:srgbClr val="7030A0"/>
                </a:solidFill>
              </a:rPr>
              <a:t>Comma Operator</a:t>
            </a:r>
          </a:p>
          <a:p>
            <a:pPr marL="0" indent="0">
              <a:buNone/>
            </a:pPr>
            <a:r>
              <a:rPr lang="en-US" dirty="0"/>
              <a:t>• Link related expressions </a:t>
            </a:r>
            <a:r>
              <a:rPr lang="en-US" dirty="0" err="1"/>
              <a:t>togather</a:t>
            </a:r>
            <a:endParaRPr lang="en-US" dirty="0"/>
          </a:p>
          <a:p>
            <a:pPr marL="0" indent="0">
              <a:buNone/>
            </a:pPr>
            <a:r>
              <a:rPr lang="en-US" dirty="0"/>
              <a:t>• </a:t>
            </a:r>
            <a:r>
              <a:rPr lang="en-US" dirty="0" err="1"/>
              <a:t>Eg</a:t>
            </a:r>
            <a:r>
              <a:rPr lang="en-US" dirty="0"/>
              <a:t>: int a, c = 5, d;</a:t>
            </a:r>
          </a:p>
          <a:p>
            <a:pPr marL="0" indent="0">
              <a:buNone/>
            </a:pPr>
            <a:r>
              <a:rPr lang="en-US" dirty="0" err="1">
                <a:solidFill>
                  <a:srgbClr val="7030A0"/>
                </a:solidFill>
              </a:rPr>
              <a:t>Sizeof</a:t>
            </a:r>
            <a:r>
              <a:rPr lang="en-US" dirty="0">
                <a:solidFill>
                  <a:srgbClr val="7030A0"/>
                </a:solidFill>
              </a:rPr>
              <a:t> Operator</a:t>
            </a:r>
          </a:p>
          <a:p>
            <a:pPr marL="0" indent="0">
              <a:buNone/>
            </a:pPr>
            <a:r>
              <a:rPr lang="en-US" dirty="0"/>
              <a:t>• returns the size of data</a:t>
            </a:r>
          </a:p>
          <a:p>
            <a:pPr marL="0" indent="0">
              <a:buNone/>
            </a:pPr>
            <a:r>
              <a:rPr lang="en-US" dirty="0"/>
              <a:t>• </a:t>
            </a:r>
            <a:r>
              <a:rPr lang="en-US" dirty="0" err="1"/>
              <a:t>Eg</a:t>
            </a:r>
            <a:r>
              <a:rPr lang="en-US" dirty="0"/>
              <a:t>:</a:t>
            </a:r>
          </a:p>
          <a:p>
            <a:pPr marL="0" indent="0">
              <a:buNone/>
            </a:pPr>
            <a:r>
              <a:rPr lang="en-US" dirty="0"/>
              <a:t>int </a:t>
            </a:r>
            <a:r>
              <a:rPr lang="en-US" dirty="0" err="1"/>
              <a:t>a,b</a:t>
            </a:r>
            <a:r>
              <a:rPr lang="en-US" dirty="0"/>
              <a:t>;</a:t>
            </a:r>
          </a:p>
          <a:p>
            <a:pPr marL="0" indent="0">
              <a:buNone/>
            </a:pPr>
            <a:r>
              <a:rPr lang="en-US" dirty="0"/>
              <a:t>b=</a:t>
            </a:r>
            <a:r>
              <a:rPr lang="en-US" dirty="0" err="1"/>
              <a:t>sizeof</a:t>
            </a:r>
            <a:r>
              <a:rPr lang="en-US" dirty="0"/>
              <a:t>(a);</a:t>
            </a:r>
          </a:p>
          <a:p>
            <a:pPr marL="0" indent="0">
              <a:buNone/>
            </a:pPr>
            <a:r>
              <a:rPr lang="en-US" dirty="0">
                <a:solidFill>
                  <a:srgbClr val="7030A0"/>
                </a:solidFill>
              </a:rPr>
              <a:t>&amp;- Address of Operator</a:t>
            </a:r>
          </a:p>
          <a:p>
            <a:pPr marL="0" indent="0">
              <a:buNone/>
            </a:pPr>
            <a:r>
              <a:rPr lang="en-US" dirty="0" err="1"/>
              <a:t>Eg</a:t>
            </a:r>
            <a:r>
              <a:rPr lang="en-US" dirty="0"/>
              <a:t>: &amp;a;</a:t>
            </a:r>
          </a:p>
          <a:p>
            <a:r>
              <a:rPr lang="en-US" dirty="0">
                <a:solidFill>
                  <a:srgbClr val="7030A0"/>
                </a:solidFill>
              </a:rPr>
              <a:t>- Pointer to a variable</a:t>
            </a:r>
          </a:p>
          <a:p>
            <a:r>
              <a:rPr lang="en-IN" dirty="0" err="1">
                <a:solidFill>
                  <a:srgbClr val="7030A0"/>
                </a:solidFill>
              </a:rPr>
              <a:t>Eg</a:t>
            </a:r>
            <a:r>
              <a:rPr lang="en-IN" dirty="0">
                <a:solidFill>
                  <a:srgbClr val="7030A0"/>
                </a:solidFill>
              </a:rPr>
              <a:t>: * a</a:t>
            </a:r>
          </a:p>
        </p:txBody>
      </p:sp>
    </p:spTree>
    <p:extLst>
      <p:ext uri="{BB962C8B-B14F-4D97-AF65-F5344CB8AC3E}">
        <p14:creationId xmlns:p14="http://schemas.microsoft.com/office/powerpoint/2010/main" val="10829693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69B85-78B8-8B88-EA51-A9FBA5E5744A}"/>
              </a:ext>
            </a:extLst>
          </p:cNvPr>
          <p:cNvSpPr>
            <a:spLocks noGrp="1"/>
          </p:cNvSpPr>
          <p:nvPr>
            <p:ph type="ctrTitle"/>
          </p:nvPr>
        </p:nvSpPr>
        <p:spPr/>
        <p:txBody>
          <a:bodyPr/>
          <a:lstStyle/>
          <a:p>
            <a:r>
              <a:rPr lang="en-IN" dirty="0"/>
              <a:t>Control statements</a:t>
            </a:r>
          </a:p>
        </p:txBody>
      </p:sp>
    </p:spTree>
    <p:extLst>
      <p:ext uri="{BB962C8B-B14F-4D97-AF65-F5344CB8AC3E}">
        <p14:creationId xmlns:p14="http://schemas.microsoft.com/office/powerpoint/2010/main" val="716047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ADDC1-A581-BB12-A641-F568ACF161F9}"/>
              </a:ext>
            </a:extLst>
          </p:cNvPr>
          <p:cNvSpPr>
            <a:spLocks noGrp="1"/>
          </p:cNvSpPr>
          <p:nvPr>
            <p:ph type="title"/>
          </p:nvPr>
        </p:nvSpPr>
        <p:spPr/>
        <p:txBody>
          <a:bodyPr/>
          <a:lstStyle/>
          <a:p>
            <a:r>
              <a:rPr lang="en-IN" dirty="0"/>
              <a:t>Flow  of control</a:t>
            </a:r>
          </a:p>
        </p:txBody>
      </p:sp>
      <p:sp>
        <p:nvSpPr>
          <p:cNvPr id="3" name="Content Placeholder 2">
            <a:extLst>
              <a:ext uri="{FF2B5EF4-FFF2-40B4-BE49-F238E27FC236}">
                <a16:creationId xmlns:a16="http://schemas.microsoft.com/office/drawing/2014/main" id="{1CCF2CFB-F3EE-33D8-019E-D1902DC0A6D0}"/>
              </a:ext>
            </a:extLst>
          </p:cNvPr>
          <p:cNvSpPr>
            <a:spLocks noGrp="1"/>
          </p:cNvSpPr>
          <p:nvPr>
            <p:ph idx="1"/>
          </p:nvPr>
        </p:nvSpPr>
        <p:spPr/>
        <p:txBody>
          <a:bodyPr/>
          <a:lstStyle/>
          <a:p>
            <a:r>
              <a:rPr lang="en-IN" dirty="0"/>
              <a:t>Sequential statements</a:t>
            </a:r>
          </a:p>
          <a:p>
            <a:r>
              <a:rPr lang="en-IN" dirty="0"/>
              <a:t>Selectional/Conditional  statements</a:t>
            </a:r>
          </a:p>
          <a:p>
            <a:r>
              <a:rPr lang="en-IN" dirty="0"/>
              <a:t>Loop/Iterative/Repeatation statements</a:t>
            </a:r>
          </a:p>
          <a:p>
            <a:r>
              <a:rPr lang="en-IN" dirty="0"/>
              <a:t>Jumping/transfer statements</a:t>
            </a:r>
          </a:p>
          <a:p>
            <a:endParaRPr lang="en-IN" dirty="0"/>
          </a:p>
        </p:txBody>
      </p:sp>
    </p:spTree>
    <p:extLst>
      <p:ext uri="{BB962C8B-B14F-4D97-AF65-F5344CB8AC3E}">
        <p14:creationId xmlns:p14="http://schemas.microsoft.com/office/powerpoint/2010/main" val="8324389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41BC4-6144-7338-334D-3FEC9E8D7138}"/>
              </a:ext>
            </a:extLst>
          </p:cNvPr>
          <p:cNvSpPr>
            <a:spLocks noGrp="1"/>
          </p:cNvSpPr>
          <p:nvPr>
            <p:ph type="title"/>
          </p:nvPr>
        </p:nvSpPr>
        <p:spPr/>
        <p:txBody>
          <a:bodyPr/>
          <a:lstStyle/>
          <a:p>
            <a:r>
              <a:rPr lang="en-IN" dirty="0"/>
              <a:t>Control statements </a:t>
            </a:r>
          </a:p>
        </p:txBody>
      </p:sp>
      <p:sp>
        <p:nvSpPr>
          <p:cNvPr id="3" name="Content Placeholder 2">
            <a:extLst>
              <a:ext uri="{FF2B5EF4-FFF2-40B4-BE49-F238E27FC236}">
                <a16:creationId xmlns:a16="http://schemas.microsoft.com/office/drawing/2014/main" id="{0001320D-E6D4-3D00-D35B-A944C472A3A9}"/>
              </a:ext>
            </a:extLst>
          </p:cNvPr>
          <p:cNvSpPr>
            <a:spLocks noGrp="1"/>
          </p:cNvSpPr>
          <p:nvPr>
            <p:ph idx="1"/>
          </p:nvPr>
        </p:nvSpPr>
        <p:spPr>
          <a:xfrm>
            <a:off x="838200" y="1520890"/>
            <a:ext cx="10515600" cy="4656073"/>
          </a:xfrm>
        </p:spPr>
        <p:txBody>
          <a:bodyPr/>
          <a:lstStyle/>
          <a:p>
            <a:r>
              <a:rPr lang="en-US" b="0" i="0" dirty="0">
                <a:solidFill>
                  <a:srgbClr val="202124"/>
                </a:solidFill>
                <a:effectLst/>
                <a:latin typeface="Google Sans"/>
              </a:rPr>
              <a:t>It controls the flow of a program. </a:t>
            </a:r>
          </a:p>
          <a:p>
            <a:r>
              <a:rPr lang="en-US" b="0" i="0" dirty="0">
                <a:solidFill>
                  <a:srgbClr val="202124"/>
                </a:solidFill>
                <a:effectLst/>
                <a:latin typeface="Google Sans"/>
              </a:rPr>
              <a:t>A control statement in C is </a:t>
            </a:r>
            <a:r>
              <a:rPr lang="en-US" b="0" i="0" dirty="0">
                <a:solidFill>
                  <a:srgbClr val="040C28"/>
                </a:solidFill>
                <a:effectLst/>
                <a:latin typeface="Google Sans"/>
              </a:rPr>
              <a:t>a statement </a:t>
            </a:r>
          </a:p>
          <a:p>
            <a:pPr marL="0" indent="0">
              <a:buNone/>
            </a:pPr>
            <a:r>
              <a:rPr lang="en-US" b="0" i="0" dirty="0">
                <a:solidFill>
                  <a:srgbClr val="040C28"/>
                </a:solidFill>
                <a:effectLst/>
                <a:latin typeface="Google Sans"/>
              </a:rPr>
              <a:t>that determines whether the other statements will be executed or not</a:t>
            </a:r>
            <a:r>
              <a:rPr lang="en-US" b="0" i="0" dirty="0">
                <a:solidFill>
                  <a:srgbClr val="202124"/>
                </a:solidFill>
                <a:effectLst/>
                <a:latin typeface="Google Sans"/>
              </a:rPr>
              <a:t>.</a:t>
            </a:r>
            <a:endParaRPr lang="en-IN" dirty="0"/>
          </a:p>
        </p:txBody>
      </p:sp>
    </p:spTree>
    <p:extLst>
      <p:ext uri="{BB962C8B-B14F-4D97-AF65-F5344CB8AC3E}">
        <p14:creationId xmlns:p14="http://schemas.microsoft.com/office/powerpoint/2010/main" val="6618607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09127"/>
            <a:ext cx="10515600" cy="5561142"/>
          </a:xfrm>
        </p:spPr>
        <p:txBody>
          <a:bodyPr>
            <a:normAutofit/>
          </a:bodyPr>
          <a:lstStyle/>
          <a:p>
            <a:pPr marL="0" indent="0">
              <a:buNone/>
            </a:pPr>
            <a:r>
              <a:rPr lang="en-IN" sz="3000" b="1" spc="-5" dirty="0">
                <a:solidFill>
                  <a:srgbClr val="7030A0"/>
                </a:solidFill>
              </a:rPr>
              <a:t>If</a:t>
            </a:r>
            <a:r>
              <a:rPr lang="en-IN" sz="3000" b="1" spc="-114" dirty="0">
                <a:solidFill>
                  <a:srgbClr val="7030A0"/>
                </a:solidFill>
              </a:rPr>
              <a:t> </a:t>
            </a:r>
            <a:r>
              <a:rPr lang="en-IN" sz="3000" b="1" spc="-30" dirty="0">
                <a:solidFill>
                  <a:srgbClr val="7030A0"/>
                </a:solidFill>
              </a:rPr>
              <a:t>statement</a:t>
            </a:r>
          </a:p>
          <a:p>
            <a:pPr marL="356870" marR="45720" indent="-344805">
              <a:spcBef>
                <a:spcPts val="95"/>
              </a:spcBef>
              <a:buSzPct val="56250"/>
              <a:buFont typeface="Arial MT"/>
              <a:buChar char="•"/>
              <a:tabLst>
                <a:tab pos="448309" algn="l"/>
                <a:tab pos="448945" algn="l"/>
              </a:tabLst>
            </a:pPr>
            <a:r>
              <a:rPr lang="en-US" sz="3000" dirty="0">
                <a:cs typeface="Calibri"/>
              </a:rPr>
              <a:t>if</a:t>
            </a:r>
            <a:r>
              <a:rPr lang="en-US" sz="3000" spc="-5" dirty="0">
                <a:cs typeface="Calibri"/>
              </a:rPr>
              <a:t> </a:t>
            </a:r>
            <a:r>
              <a:rPr lang="en-US" sz="3000" spc="-45" dirty="0">
                <a:cs typeface="Calibri"/>
              </a:rPr>
              <a:t>statement</a:t>
            </a:r>
            <a:r>
              <a:rPr lang="en-US" sz="3000" spc="55" dirty="0">
                <a:cs typeface="Calibri"/>
              </a:rPr>
              <a:t> </a:t>
            </a:r>
            <a:r>
              <a:rPr lang="en-US" sz="3000" spc="-10" dirty="0">
                <a:cs typeface="Calibri"/>
              </a:rPr>
              <a:t>to</a:t>
            </a:r>
            <a:r>
              <a:rPr lang="en-US" sz="3000" spc="-40" dirty="0">
                <a:cs typeface="Calibri"/>
              </a:rPr>
              <a:t> </a:t>
            </a:r>
            <a:r>
              <a:rPr lang="en-US" sz="3000" spc="-5" dirty="0">
                <a:cs typeface="Calibri"/>
              </a:rPr>
              <a:t>specify</a:t>
            </a:r>
            <a:r>
              <a:rPr lang="en-US" sz="3000" spc="-35" dirty="0">
                <a:cs typeface="Calibri"/>
              </a:rPr>
              <a:t> </a:t>
            </a:r>
            <a:r>
              <a:rPr lang="en-US" sz="3000" spc="-5" dirty="0">
                <a:cs typeface="Calibri"/>
              </a:rPr>
              <a:t>a</a:t>
            </a:r>
            <a:r>
              <a:rPr lang="en-US" sz="3000" spc="25" dirty="0">
                <a:cs typeface="Calibri"/>
              </a:rPr>
              <a:t> </a:t>
            </a:r>
            <a:r>
              <a:rPr lang="en-US" sz="3000" spc="-10" dirty="0">
                <a:cs typeface="Calibri"/>
              </a:rPr>
              <a:t>block</a:t>
            </a:r>
            <a:r>
              <a:rPr lang="en-US" sz="3000" spc="-15" dirty="0">
                <a:cs typeface="Calibri"/>
              </a:rPr>
              <a:t> </a:t>
            </a:r>
            <a:r>
              <a:rPr lang="en-US" sz="3000" spc="-5" dirty="0">
                <a:cs typeface="Calibri"/>
              </a:rPr>
              <a:t>of</a:t>
            </a:r>
            <a:r>
              <a:rPr lang="en-US" sz="3000" spc="-20" dirty="0">
                <a:cs typeface="Calibri"/>
              </a:rPr>
              <a:t> </a:t>
            </a:r>
            <a:r>
              <a:rPr lang="en-US" sz="3000" spc="-50" dirty="0">
                <a:cs typeface="Calibri"/>
              </a:rPr>
              <a:t>C </a:t>
            </a:r>
            <a:r>
              <a:rPr lang="en-US" sz="3000" spc="25" dirty="0">
                <a:cs typeface="Calibri"/>
              </a:rPr>
              <a:t> </a:t>
            </a:r>
            <a:r>
              <a:rPr lang="en-US" sz="3000" spc="-35" dirty="0">
                <a:cs typeface="Calibri"/>
              </a:rPr>
              <a:t>code</a:t>
            </a:r>
            <a:r>
              <a:rPr lang="en-US" sz="3000" spc="30" dirty="0">
                <a:cs typeface="Calibri"/>
              </a:rPr>
              <a:t> </a:t>
            </a:r>
            <a:r>
              <a:rPr lang="en-US" sz="3000" spc="-10" dirty="0">
                <a:cs typeface="Calibri"/>
              </a:rPr>
              <a:t>to </a:t>
            </a:r>
            <a:r>
              <a:rPr lang="en-US" sz="3000" spc="-710" dirty="0">
                <a:cs typeface="Calibri"/>
              </a:rPr>
              <a:t> </a:t>
            </a:r>
            <a:r>
              <a:rPr lang="en-US" sz="3000" spc="-5" dirty="0">
                <a:cs typeface="Calibri"/>
              </a:rPr>
              <a:t>be</a:t>
            </a:r>
            <a:r>
              <a:rPr lang="en-US" sz="3000" spc="-15" dirty="0">
                <a:cs typeface="Calibri"/>
              </a:rPr>
              <a:t> </a:t>
            </a:r>
            <a:r>
              <a:rPr lang="en-US" sz="3000" spc="-50" dirty="0">
                <a:cs typeface="Calibri"/>
              </a:rPr>
              <a:t>executed</a:t>
            </a:r>
            <a:r>
              <a:rPr lang="en-US" sz="3000" spc="-25" dirty="0">
                <a:cs typeface="Calibri"/>
              </a:rPr>
              <a:t> </a:t>
            </a:r>
            <a:r>
              <a:rPr lang="en-US" sz="3000" dirty="0">
                <a:cs typeface="Calibri"/>
              </a:rPr>
              <a:t>if</a:t>
            </a:r>
            <a:r>
              <a:rPr lang="en-US" sz="3000" spc="-45" dirty="0">
                <a:cs typeface="Calibri"/>
              </a:rPr>
              <a:t> </a:t>
            </a:r>
            <a:r>
              <a:rPr lang="en-US" sz="3000" spc="-5" dirty="0">
                <a:cs typeface="Calibri"/>
              </a:rPr>
              <a:t>a</a:t>
            </a:r>
            <a:r>
              <a:rPr lang="en-US" sz="3000" spc="25" dirty="0">
                <a:cs typeface="Calibri"/>
              </a:rPr>
              <a:t> </a:t>
            </a:r>
            <a:r>
              <a:rPr lang="en-US" sz="3000" spc="-10" dirty="0">
                <a:cs typeface="Calibri"/>
              </a:rPr>
              <a:t>condition</a:t>
            </a:r>
            <a:r>
              <a:rPr lang="en-US" sz="3000" spc="-50" dirty="0">
                <a:cs typeface="Calibri"/>
              </a:rPr>
              <a:t> </a:t>
            </a:r>
            <a:r>
              <a:rPr lang="en-US" sz="3000" dirty="0">
                <a:cs typeface="Calibri"/>
              </a:rPr>
              <a:t>is</a:t>
            </a:r>
            <a:r>
              <a:rPr lang="en-US" sz="3000" spc="45" dirty="0">
                <a:cs typeface="Calibri"/>
              </a:rPr>
              <a:t> </a:t>
            </a:r>
            <a:r>
              <a:rPr lang="en-US" sz="3000" spc="-10" dirty="0">
                <a:cs typeface="Calibri"/>
              </a:rPr>
              <a:t>true.</a:t>
            </a:r>
            <a:endParaRPr lang="en-US" sz="3000" dirty="0">
              <a:cs typeface="Calibri"/>
            </a:endParaRPr>
          </a:p>
          <a:p>
            <a:pPr marL="12700">
              <a:lnSpc>
                <a:spcPct val="100000"/>
              </a:lnSpc>
              <a:spcBef>
                <a:spcPts val="795"/>
              </a:spcBef>
            </a:pPr>
            <a:r>
              <a:rPr lang="en-US" sz="3000" b="1" spc="-45" dirty="0">
                <a:solidFill>
                  <a:srgbClr val="7030A0"/>
                </a:solidFill>
                <a:cs typeface="Calibri"/>
              </a:rPr>
              <a:t>Syntax:</a:t>
            </a:r>
            <a:endParaRPr lang="en-US" sz="3000" b="1" dirty="0">
              <a:solidFill>
                <a:srgbClr val="7030A0"/>
              </a:solidFill>
              <a:cs typeface="Calibri"/>
            </a:endParaRPr>
          </a:p>
          <a:p>
            <a:pPr marL="12065" indent="0">
              <a:spcBef>
                <a:spcPts val="790"/>
              </a:spcBef>
              <a:buNone/>
              <a:tabLst>
                <a:tab pos="356870" algn="l"/>
                <a:tab pos="357505" algn="l"/>
              </a:tabLst>
            </a:pPr>
            <a:r>
              <a:rPr lang="en-US" sz="3000" dirty="0">
                <a:cs typeface="Calibri"/>
              </a:rPr>
              <a:t>if</a:t>
            </a:r>
            <a:r>
              <a:rPr lang="en-US" sz="3000" spc="-65" dirty="0">
                <a:cs typeface="Calibri"/>
              </a:rPr>
              <a:t> </a:t>
            </a:r>
            <a:r>
              <a:rPr lang="en-US" sz="3000" spc="-10" dirty="0">
                <a:cs typeface="Calibri"/>
              </a:rPr>
              <a:t>(</a:t>
            </a:r>
            <a:r>
              <a:rPr lang="en-US" sz="3000" i="1" spc="-10" dirty="0">
                <a:cs typeface="Calibri"/>
              </a:rPr>
              <a:t>condition</a:t>
            </a:r>
            <a:r>
              <a:rPr lang="en-US" sz="3000" spc="-10" dirty="0">
                <a:cs typeface="Calibri"/>
              </a:rPr>
              <a:t>)</a:t>
            </a:r>
            <a:r>
              <a:rPr lang="en-US" sz="3000" spc="10" dirty="0">
                <a:cs typeface="Calibri"/>
              </a:rPr>
              <a:t> </a:t>
            </a:r>
            <a:r>
              <a:rPr lang="en-US" sz="3000" spc="-5" dirty="0">
                <a:cs typeface="Calibri"/>
              </a:rPr>
              <a:t>{</a:t>
            </a:r>
            <a:endParaRPr lang="en-US" sz="3000" dirty="0">
              <a:cs typeface="Calibri"/>
            </a:endParaRPr>
          </a:p>
          <a:p>
            <a:pPr marL="0" marR="5080" indent="0">
              <a:lnSpc>
                <a:spcPct val="100000"/>
              </a:lnSpc>
              <a:spcBef>
                <a:spcPts val="819"/>
              </a:spcBef>
              <a:buNone/>
            </a:pPr>
            <a:r>
              <a:rPr lang="en-US" sz="3000" i="1" dirty="0">
                <a:cs typeface="Calibri"/>
              </a:rPr>
              <a:t>//</a:t>
            </a:r>
            <a:r>
              <a:rPr lang="en-US" sz="3000" i="1" spc="-50" dirty="0">
                <a:cs typeface="Calibri"/>
              </a:rPr>
              <a:t> </a:t>
            </a:r>
            <a:r>
              <a:rPr lang="en-US" sz="3000" i="1" spc="-10" dirty="0">
                <a:cs typeface="Calibri"/>
              </a:rPr>
              <a:t>block</a:t>
            </a:r>
            <a:r>
              <a:rPr lang="en-US" sz="3000" i="1" spc="-5" dirty="0">
                <a:cs typeface="Calibri"/>
              </a:rPr>
              <a:t> of </a:t>
            </a:r>
            <a:r>
              <a:rPr lang="en-US" sz="3000" i="1" spc="-40" dirty="0">
                <a:cs typeface="Calibri"/>
              </a:rPr>
              <a:t>code</a:t>
            </a:r>
            <a:r>
              <a:rPr lang="en-US" sz="3000" i="1" spc="80" dirty="0">
                <a:cs typeface="Calibri"/>
              </a:rPr>
              <a:t> </a:t>
            </a:r>
            <a:r>
              <a:rPr lang="en-US" sz="3000" i="1" spc="-35" dirty="0">
                <a:cs typeface="Calibri"/>
              </a:rPr>
              <a:t>to </a:t>
            </a:r>
            <a:r>
              <a:rPr lang="en-US" sz="3000" i="1" spc="-25" dirty="0">
                <a:cs typeface="Calibri"/>
              </a:rPr>
              <a:t>be</a:t>
            </a:r>
            <a:r>
              <a:rPr lang="en-US" sz="3000" i="1" spc="30" dirty="0">
                <a:cs typeface="Calibri"/>
              </a:rPr>
              <a:t> </a:t>
            </a:r>
            <a:r>
              <a:rPr lang="en-US" sz="3000" i="1" spc="-45" dirty="0">
                <a:cs typeface="Calibri"/>
              </a:rPr>
              <a:t>executed</a:t>
            </a:r>
            <a:r>
              <a:rPr lang="en-US" sz="3000" i="1" spc="15" dirty="0">
                <a:cs typeface="Calibri"/>
              </a:rPr>
              <a:t> </a:t>
            </a:r>
            <a:r>
              <a:rPr lang="en-US" sz="3000" i="1" dirty="0">
                <a:cs typeface="Calibri"/>
              </a:rPr>
              <a:t>if</a:t>
            </a:r>
            <a:r>
              <a:rPr lang="en-US" sz="3000" i="1" spc="-20" dirty="0">
                <a:cs typeface="Calibri"/>
              </a:rPr>
              <a:t> </a:t>
            </a:r>
            <a:r>
              <a:rPr lang="en-US" sz="3000" i="1" spc="-10" dirty="0">
                <a:cs typeface="Calibri"/>
              </a:rPr>
              <a:t>the</a:t>
            </a:r>
            <a:r>
              <a:rPr lang="en-US" sz="3000" i="1" spc="10" dirty="0">
                <a:cs typeface="Calibri"/>
              </a:rPr>
              <a:t> </a:t>
            </a:r>
            <a:r>
              <a:rPr lang="en-US" sz="3000" i="1" spc="-10" dirty="0">
                <a:cs typeface="Calibri"/>
              </a:rPr>
              <a:t>condition </a:t>
            </a:r>
            <a:r>
              <a:rPr lang="en-US" sz="3000" i="1" spc="-5" dirty="0">
                <a:cs typeface="Calibri"/>
              </a:rPr>
              <a:t>is </a:t>
            </a:r>
            <a:r>
              <a:rPr lang="en-US" sz="3000" i="1" spc="-710" dirty="0">
                <a:cs typeface="Calibri"/>
              </a:rPr>
              <a:t> </a:t>
            </a:r>
            <a:r>
              <a:rPr lang="en-US" sz="3000" i="1" spc="-5" dirty="0">
                <a:cs typeface="Calibri"/>
              </a:rPr>
              <a:t>true</a:t>
            </a:r>
            <a:r>
              <a:rPr lang="en-US" sz="3000" i="1" dirty="0">
                <a:cs typeface="Calibri"/>
              </a:rPr>
              <a:t> </a:t>
            </a:r>
            <a:r>
              <a:rPr lang="en-US" sz="3000" spc="-5" dirty="0">
                <a:cs typeface="Calibri"/>
              </a:rPr>
              <a:t>}</a:t>
            </a:r>
          </a:p>
          <a:p>
            <a:pPr marL="0" marR="5080" indent="0">
              <a:lnSpc>
                <a:spcPct val="100000"/>
              </a:lnSpc>
              <a:spcBef>
                <a:spcPts val="819"/>
              </a:spcBef>
              <a:buNone/>
            </a:pPr>
            <a:r>
              <a:rPr lang="en-US" sz="3000" b="1" spc="-5" dirty="0">
                <a:solidFill>
                  <a:srgbClr val="7030A0"/>
                </a:solidFill>
                <a:cs typeface="Calibri"/>
              </a:rPr>
              <a:t>Real time Example:</a:t>
            </a:r>
          </a:p>
          <a:p>
            <a:pPr marL="0" marR="5080" indent="0">
              <a:lnSpc>
                <a:spcPct val="100000"/>
              </a:lnSpc>
              <a:spcBef>
                <a:spcPts val="819"/>
              </a:spcBef>
              <a:buNone/>
            </a:pPr>
            <a:r>
              <a:rPr lang="en-US" sz="3000" b="1" spc="-5" dirty="0">
                <a:solidFill>
                  <a:srgbClr val="7030A0"/>
                </a:solidFill>
                <a:cs typeface="Calibri"/>
              </a:rPr>
              <a:t>If there is raining , we  will not play in the ground</a:t>
            </a:r>
            <a:endParaRPr lang="en-US" sz="3000" b="1" dirty="0">
              <a:solidFill>
                <a:srgbClr val="7030A0"/>
              </a:solidFill>
              <a:cs typeface="Calibri"/>
            </a:endParaRPr>
          </a:p>
          <a:p>
            <a:pPr marL="0" indent="0">
              <a:buNone/>
            </a:pPr>
            <a:endParaRPr lang="en-IN" b="1" dirty="0">
              <a:solidFill>
                <a:srgbClr val="7030A0"/>
              </a:solidFill>
            </a:endParaRPr>
          </a:p>
        </p:txBody>
      </p:sp>
    </p:spTree>
    <p:extLst>
      <p:ext uri="{BB962C8B-B14F-4D97-AF65-F5344CB8AC3E}">
        <p14:creationId xmlns:p14="http://schemas.microsoft.com/office/powerpoint/2010/main" val="35461451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3812" y="548681"/>
            <a:ext cx="10328988" cy="6113376"/>
          </a:xfrm>
        </p:spPr>
        <p:txBody>
          <a:bodyPr/>
          <a:lstStyle/>
          <a:p>
            <a:pPr marL="0" indent="0">
              <a:buNone/>
            </a:pPr>
            <a:r>
              <a:rPr lang="en-IN" sz="3000" b="1" spc="-5" dirty="0">
                <a:solidFill>
                  <a:srgbClr val="7030A0"/>
                </a:solidFill>
              </a:rPr>
              <a:t>If</a:t>
            </a:r>
            <a:r>
              <a:rPr lang="en-IN" sz="3000" b="1" spc="-40" dirty="0">
                <a:solidFill>
                  <a:srgbClr val="7030A0"/>
                </a:solidFill>
              </a:rPr>
              <a:t> </a:t>
            </a:r>
            <a:r>
              <a:rPr lang="en-IN" sz="3000" b="1" spc="-5" dirty="0">
                <a:solidFill>
                  <a:srgbClr val="7030A0"/>
                </a:solidFill>
              </a:rPr>
              <a:t>else</a:t>
            </a:r>
            <a:r>
              <a:rPr lang="en-IN" sz="3000" b="1" spc="-60" dirty="0">
                <a:solidFill>
                  <a:srgbClr val="7030A0"/>
                </a:solidFill>
              </a:rPr>
              <a:t> </a:t>
            </a:r>
            <a:r>
              <a:rPr lang="en-IN" sz="3000" b="1" spc="-30" dirty="0">
                <a:solidFill>
                  <a:srgbClr val="7030A0"/>
                </a:solidFill>
              </a:rPr>
              <a:t>statement</a:t>
            </a:r>
          </a:p>
          <a:p>
            <a:pPr marL="12065" marR="37465" indent="0">
              <a:lnSpc>
                <a:spcPts val="2880"/>
              </a:lnSpc>
              <a:spcBef>
                <a:spcPts val="795"/>
              </a:spcBef>
              <a:buNone/>
              <a:tabLst>
                <a:tab pos="356870" algn="l"/>
                <a:tab pos="357505" algn="l"/>
              </a:tabLst>
            </a:pPr>
            <a:r>
              <a:rPr lang="en-US" sz="3000" dirty="0">
                <a:cs typeface="Calibri"/>
              </a:rPr>
              <a:t>  else</a:t>
            </a:r>
            <a:r>
              <a:rPr lang="en-US" sz="3000" spc="-45" dirty="0">
                <a:cs typeface="Calibri"/>
              </a:rPr>
              <a:t> </a:t>
            </a:r>
            <a:r>
              <a:rPr lang="en-US" sz="3000" spc="-40" dirty="0">
                <a:cs typeface="Calibri"/>
              </a:rPr>
              <a:t>statement</a:t>
            </a:r>
            <a:r>
              <a:rPr lang="en-US" sz="3000" spc="-105" dirty="0">
                <a:cs typeface="Calibri"/>
              </a:rPr>
              <a:t> </a:t>
            </a:r>
            <a:r>
              <a:rPr lang="en-US" sz="3000" spc="-25" dirty="0">
                <a:cs typeface="Calibri"/>
              </a:rPr>
              <a:t>to</a:t>
            </a:r>
            <a:r>
              <a:rPr lang="en-US" sz="3000" spc="-55" dirty="0">
                <a:cs typeface="Calibri"/>
              </a:rPr>
              <a:t> </a:t>
            </a:r>
            <a:r>
              <a:rPr lang="en-US" sz="3000" spc="5" dirty="0">
                <a:cs typeface="Calibri"/>
              </a:rPr>
              <a:t>specify</a:t>
            </a:r>
            <a:r>
              <a:rPr lang="en-US" sz="3000" spc="-55" dirty="0">
                <a:cs typeface="Calibri"/>
              </a:rPr>
              <a:t> </a:t>
            </a:r>
            <a:r>
              <a:rPr lang="en-US" sz="3000" dirty="0">
                <a:cs typeface="Calibri"/>
              </a:rPr>
              <a:t>a</a:t>
            </a:r>
            <a:r>
              <a:rPr lang="en-US" sz="3000" spc="-5" dirty="0">
                <a:cs typeface="Calibri"/>
              </a:rPr>
              <a:t> block</a:t>
            </a:r>
            <a:r>
              <a:rPr lang="en-US" sz="3000" spc="-85" dirty="0">
                <a:cs typeface="Calibri"/>
              </a:rPr>
              <a:t> </a:t>
            </a:r>
            <a:r>
              <a:rPr lang="en-US" sz="3000" spc="-5" dirty="0">
                <a:cs typeface="Calibri"/>
              </a:rPr>
              <a:t>of </a:t>
            </a:r>
            <a:r>
              <a:rPr lang="en-US" sz="3000" spc="-10" dirty="0">
                <a:cs typeface="Calibri"/>
              </a:rPr>
              <a:t>code</a:t>
            </a:r>
            <a:r>
              <a:rPr lang="en-US" sz="3000" spc="-110" dirty="0">
                <a:cs typeface="Calibri"/>
              </a:rPr>
              <a:t> </a:t>
            </a:r>
            <a:r>
              <a:rPr lang="en-US" sz="3000" spc="-25" dirty="0">
                <a:cs typeface="Calibri"/>
              </a:rPr>
              <a:t>to</a:t>
            </a:r>
            <a:r>
              <a:rPr lang="en-US" sz="3000" spc="-10" dirty="0">
                <a:cs typeface="Calibri"/>
              </a:rPr>
              <a:t> </a:t>
            </a:r>
            <a:r>
              <a:rPr lang="en-US" sz="3000" spc="-5" dirty="0">
                <a:cs typeface="Calibri"/>
              </a:rPr>
              <a:t>be </a:t>
            </a:r>
            <a:r>
              <a:rPr lang="en-US" sz="3000" spc="-665" dirty="0">
                <a:cs typeface="Calibri"/>
              </a:rPr>
              <a:t> </a:t>
            </a:r>
            <a:r>
              <a:rPr lang="en-US" sz="3000" spc="-45" dirty="0">
                <a:cs typeface="Calibri"/>
              </a:rPr>
              <a:t>executed</a:t>
            </a:r>
            <a:r>
              <a:rPr lang="en-US" sz="3000" spc="-105" dirty="0">
                <a:cs typeface="Calibri"/>
              </a:rPr>
              <a:t> </a:t>
            </a:r>
            <a:r>
              <a:rPr lang="en-US" sz="3000" dirty="0">
                <a:cs typeface="Calibri"/>
              </a:rPr>
              <a:t>if the</a:t>
            </a:r>
            <a:r>
              <a:rPr lang="en-US" sz="3000" spc="-60" dirty="0">
                <a:cs typeface="Calibri"/>
              </a:rPr>
              <a:t> </a:t>
            </a:r>
            <a:r>
              <a:rPr lang="en-US" sz="3000" spc="-5" dirty="0">
                <a:cs typeface="Calibri"/>
              </a:rPr>
              <a:t>condition</a:t>
            </a:r>
            <a:r>
              <a:rPr lang="en-US" sz="3000" spc="-130" dirty="0">
                <a:cs typeface="Calibri"/>
              </a:rPr>
              <a:t> </a:t>
            </a:r>
            <a:r>
              <a:rPr lang="en-US" sz="3000" dirty="0">
                <a:cs typeface="Calibri"/>
              </a:rPr>
              <a:t>is</a:t>
            </a:r>
            <a:r>
              <a:rPr lang="en-US" sz="3000" spc="-5" dirty="0">
                <a:cs typeface="Calibri"/>
              </a:rPr>
              <a:t> </a:t>
            </a:r>
            <a:r>
              <a:rPr lang="en-US" sz="3000" spc="-10" dirty="0">
                <a:cs typeface="Calibri"/>
              </a:rPr>
              <a:t>false.</a:t>
            </a:r>
            <a:endParaRPr lang="en-US" sz="3000" dirty="0">
              <a:cs typeface="Calibri"/>
            </a:endParaRPr>
          </a:p>
          <a:p>
            <a:pPr marL="12065" indent="0">
              <a:lnSpc>
                <a:spcPts val="3579"/>
              </a:lnSpc>
              <a:buNone/>
              <a:tabLst>
                <a:tab pos="356870" algn="l"/>
                <a:tab pos="357505" algn="l"/>
              </a:tabLst>
            </a:pPr>
            <a:r>
              <a:rPr lang="en-US" sz="3000" b="1" spc="-40" dirty="0">
                <a:solidFill>
                  <a:srgbClr val="7030A0"/>
                </a:solidFill>
                <a:cs typeface="Calibri"/>
              </a:rPr>
              <a:t>Syntax:</a:t>
            </a:r>
            <a:endParaRPr lang="en-US" sz="3000" b="1" dirty="0">
              <a:solidFill>
                <a:srgbClr val="7030A0"/>
              </a:solidFill>
              <a:cs typeface="Calibri"/>
            </a:endParaRPr>
          </a:p>
          <a:p>
            <a:pPr marL="0" indent="0">
              <a:lnSpc>
                <a:spcPct val="100000"/>
              </a:lnSpc>
              <a:buNone/>
            </a:pPr>
            <a:r>
              <a:rPr lang="en-US" sz="3000" dirty="0">
                <a:cs typeface="Calibri"/>
              </a:rPr>
              <a:t>if</a:t>
            </a:r>
            <a:r>
              <a:rPr lang="en-US" sz="3000" spc="-60" dirty="0">
                <a:cs typeface="Calibri"/>
              </a:rPr>
              <a:t> </a:t>
            </a:r>
            <a:r>
              <a:rPr lang="en-US" sz="3000" spc="-10" dirty="0">
                <a:cs typeface="Calibri"/>
              </a:rPr>
              <a:t>(</a:t>
            </a:r>
            <a:r>
              <a:rPr lang="en-US" sz="3000" i="1" spc="-10" dirty="0">
                <a:cs typeface="Calibri"/>
              </a:rPr>
              <a:t>condition</a:t>
            </a:r>
            <a:r>
              <a:rPr lang="en-US" sz="3000" spc="-10" dirty="0">
                <a:cs typeface="Calibri"/>
              </a:rPr>
              <a:t>)</a:t>
            </a:r>
            <a:r>
              <a:rPr lang="en-US" sz="3000" spc="-145" dirty="0">
                <a:cs typeface="Calibri"/>
              </a:rPr>
              <a:t> </a:t>
            </a:r>
            <a:r>
              <a:rPr lang="en-US" sz="3000" dirty="0">
                <a:cs typeface="Calibri"/>
              </a:rPr>
              <a:t>{</a:t>
            </a:r>
          </a:p>
          <a:p>
            <a:pPr marL="0" marR="86995" indent="0">
              <a:lnSpc>
                <a:spcPts val="2910"/>
              </a:lnSpc>
              <a:spcBef>
                <a:spcPts val="725"/>
              </a:spcBef>
              <a:buNone/>
            </a:pPr>
            <a:r>
              <a:rPr lang="en-US" sz="3000" i="1" spc="-10" dirty="0">
                <a:cs typeface="Calibri"/>
              </a:rPr>
              <a:t>//</a:t>
            </a:r>
            <a:r>
              <a:rPr lang="en-US" sz="3000" i="1" spc="-20" dirty="0">
                <a:cs typeface="Calibri"/>
              </a:rPr>
              <a:t> </a:t>
            </a:r>
            <a:r>
              <a:rPr lang="en-US" sz="3000" i="1" spc="-5" dirty="0">
                <a:cs typeface="Calibri"/>
              </a:rPr>
              <a:t>block</a:t>
            </a:r>
            <a:r>
              <a:rPr lang="en-US" sz="3000" i="1" spc="-50" dirty="0">
                <a:cs typeface="Calibri"/>
              </a:rPr>
              <a:t> </a:t>
            </a:r>
            <a:r>
              <a:rPr lang="en-US" sz="3000" i="1" spc="-5" dirty="0">
                <a:cs typeface="Calibri"/>
              </a:rPr>
              <a:t>of</a:t>
            </a:r>
            <a:r>
              <a:rPr lang="en-US" sz="3000" i="1" spc="-10" dirty="0">
                <a:cs typeface="Calibri"/>
              </a:rPr>
              <a:t> </a:t>
            </a:r>
            <a:r>
              <a:rPr lang="en-US" sz="3000" i="1" spc="-15" dirty="0">
                <a:cs typeface="Calibri"/>
              </a:rPr>
              <a:t>code</a:t>
            </a:r>
            <a:r>
              <a:rPr lang="en-US" sz="3000" i="1" spc="-50" dirty="0">
                <a:cs typeface="Calibri"/>
              </a:rPr>
              <a:t> </a:t>
            </a:r>
            <a:r>
              <a:rPr lang="en-US" sz="3000" i="1" spc="-35" dirty="0">
                <a:cs typeface="Calibri"/>
              </a:rPr>
              <a:t>to </a:t>
            </a:r>
            <a:r>
              <a:rPr lang="en-US" sz="3000" i="1" spc="-5" dirty="0">
                <a:cs typeface="Calibri"/>
              </a:rPr>
              <a:t>be</a:t>
            </a:r>
            <a:r>
              <a:rPr lang="en-US" sz="3000" i="1" spc="5" dirty="0">
                <a:cs typeface="Calibri"/>
              </a:rPr>
              <a:t> </a:t>
            </a:r>
            <a:r>
              <a:rPr lang="en-US" sz="3000" i="1" spc="-45" dirty="0">
                <a:cs typeface="Calibri"/>
              </a:rPr>
              <a:t>executed </a:t>
            </a:r>
            <a:r>
              <a:rPr lang="en-US" sz="3000" i="1" dirty="0">
                <a:cs typeface="Calibri"/>
              </a:rPr>
              <a:t>if</a:t>
            </a:r>
            <a:r>
              <a:rPr lang="en-US" sz="3000" i="1" spc="-5" dirty="0">
                <a:cs typeface="Calibri"/>
              </a:rPr>
              <a:t> </a:t>
            </a:r>
            <a:r>
              <a:rPr lang="en-US" sz="3000" i="1" dirty="0">
                <a:cs typeface="Calibri"/>
              </a:rPr>
              <a:t>the</a:t>
            </a:r>
            <a:r>
              <a:rPr lang="en-US" sz="3000" i="1" spc="-25" dirty="0">
                <a:cs typeface="Calibri"/>
              </a:rPr>
              <a:t> </a:t>
            </a:r>
            <a:r>
              <a:rPr lang="en-US" sz="3000" i="1" spc="-10" dirty="0">
                <a:cs typeface="Calibri"/>
              </a:rPr>
              <a:t>condition</a:t>
            </a:r>
            <a:r>
              <a:rPr lang="en-US" sz="3000" i="1" spc="-145" dirty="0">
                <a:cs typeface="Calibri"/>
              </a:rPr>
              <a:t> </a:t>
            </a:r>
            <a:r>
              <a:rPr lang="en-US" sz="3000" i="1" dirty="0">
                <a:cs typeface="Calibri"/>
              </a:rPr>
              <a:t>is </a:t>
            </a:r>
            <a:r>
              <a:rPr lang="en-US" sz="3000" i="1" spc="-665" dirty="0">
                <a:cs typeface="Calibri"/>
              </a:rPr>
              <a:t> </a:t>
            </a:r>
            <a:r>
              <a:rPr lang="en-US" sz="3000" i="1" dirty="0">
                <a:cs typeface="Calibri"/>
              </a:rPr>
              <a:t>true</a:t>
            </a:r>
            <a:r>
              <a:rPr lang="en-US" sz="3000" dirty="0">
                <a:cs typeface="Calibri"/>
              </a:rPr>
              <a:t>}</a:t>
            </a:r>
          </a:p>
          <a:p>
            <a:pPr marL="0" indent="0">
              <a:lnSpc>
                <a:spcPts val="3565"/>
              </a:lnSpc>
              <a:buNone/>
            </a:pPr>
            <a:r>
              <a:rPr lang="en-US" sz="3000" dirty="0">
                <a:cs typeface="Calibri"/>
              </a:rPr>
              <a:t>else</a:t>
            </a:r>
            <a:r>
              <a:rPr lang="en-US" sz="3000" spc="-125" dirty="0">
                <a:cs typeface="Calibri"/>
              </a:rPr>
              <a:t> </a:t>
            </a:r>
            <a:r>
              <a:rPr lang="en-US" sz="3000" dirty="0">
                <a:cs typeface="Calibri"/>
              </a:rPr>
              <a:t>{</a:t>
            </a:r>
          </a:p>
          <a:p>
            <a:pPr marL="12700" marR="5080" indent="0">
              <a:lnSpc>
                <a:spcPts val="2910"/>
              </a:lnSpc>
              <a:spcBef>
                <a:spcPts val="720"/>
              </a:spcBef>
              <a:buNone/>
            </a:pPr>
            <a:r>
              <a:rPr lang="en-US" sz="3000" i="1" spc="-10" dirty="0">
                <a:cs typeface="Calibri"/>
              </a:rPr>
              <a:t>//</a:t>
            </a:r>
            <a:r>
              <a:rPr lang="en-US" sz="3000" i="1" spc="-20" dirty="0">
                <a:cs typeface="Calibri"/>
              </a:rPr>
              <a:t> </a:t>
            </a:r>
            <a:r>
              <a:rPr lang="en-US" sz="3000" i="1" spc="-5" dirty="0">
                <a:cs typeface="Calibri"/>
              </a:rPr>
              <a:t>block</a:t>
            </a:r>
            <a:r>
              <a:rPr lang="en-US" sz="3000" i="1" spc="-50" dirty="0">
                <a:cs typeface="Calibri"/>
              </a:rPr>
              <a:t> </a:t>
            </a:r>
            <a:r>
              <a:rPr lang="en-US" sz="3000" i="1" spc="-5" dirty="0">
                <a:cs typeface="Calibri"/>
              </a:rPr>
              <a:t>of</a:t>
            </a:r>
            <a:r>
              <a:rPr lang="en-US" sz="3000" i="1" spc="-35" dirty="0">
                <a:cs typeface="Calibri"/>
              </a:rPr>
              <a:t> </a:t>
            </a:r>
            <a:r>
              <a:rPr lang="en-US" sz="3000" i="1" spc="-30" dirty="0">
                <a:cs typeface="Calibri"/>
              </a:rPr>
              <a:t>code</a:t>
            </a:r>
            <a:r>
              <a:rPr lang="en-US" sz="3000" i="1" spc="25" dirty="0">
                <a:cs typeface="Calibri"/>
              </a:rPr>
              <a:t> </a:t>
            </a:r>
            <a:r>
              <a:rPr lang="en-US" sz="3000" i="1" spc="-35" dirty="0">
                <a:cs typeface="Calibri"/>
              </a:rPr>
              <a:t>to </a:t>
            </a:r>
            <a:r>
              <a:rPr lang="en-US" sz="3000" i="1" spc="-5" dirty="0">
                <a:cs typeface="Calibri"/>
              </a:rPr>
              <a:t>be</a:t>
            </a:r>
            <a:r>
              <a:rPr lang="en-US" sz="3000" i="1" dirty="0">
                <a:cs typeface="Calibri"/>
              </a:rPr>
              <a:t> </a:t>
            </a:r>
            <a:r>
              <a:rPr lang="en-US" sz="3000" i="1" spc="-45" dirty="0">
                <a:cs typeface="Calibri"/>
              </a:rPr>
              <a:t>executed </a:t>
            </a:r>
            <a:r>
              <a:rPr lang="en-US" sz="3000" i="1" dirty="0">
                <a:cs typeface="Calibri"/>
              </a:rPr>
              <a:t>if</a:t>
            </a:r>
            <a:r>
              <a:rPr lang="en-US" sz="3000" i="1" spc="-30" dirty="0">
                <a:cs typeface="Calibri"/>
              </a:rPr>
              <a:t> </a:t>
            </a:r>
            <a:r>
              <a:rPr lang="en-US" sz="3000" i="1" dirty="0">
                <a:cs typeface="Calibri"/>
              </a:rPr>
              <a:t>the</a:t>
            </a:r>
            <a:r>
              <a:rPr lang="en-US" sz="3000" i="1" spc="-10" dirty="0">
                <a:cs typeface="Calibri"/>
              </a:rPr>
              <a:t> condition</a:t>
            </a:r>
            <a:r>
              <a:rPr lang="en-US" sz="3000" i="1" spc="-145" dirty="0">
                <a:cs typeface="Calibri"/>
              </a:rPr>
              <a:t> </a:t>
            </a:r>
            <a:r>
              <a:rPr lang="en-US" sz="3000" i="1" dirty="0">
                <a:cs typeface="Calibri"/>
              </a:rPr>
              <a:t>is </a:t>
            </a:r>
            <a:r>
              <a:rPr lang="en-US" sz="3000" i="1" spc="-665" dirty="0">
                <a:cs typeface="Calibri"/>
              </a:rPr>
              <a:t> </a:t>
            </a:r>
            <a:r>
              <a:rPr lang="en-US" sz="3000" i="1" spc="-35" dirty="0">
                <a:cs typeface="Calibri"/>
              </a:rPr>
              <a:t>false</a:t>
            </a:r>
            <a:endParaRPr lang="en-US" sz="3000" dirty="0">
              <a:cs typeface="Calibri"/>
            </a:endParaRPr>
          </a:p>
          <a:p>
            <a:pPr marL="0" indent="0">
              <a:lnSpc>
                <a:spcPts val="3540"/>
              </a:lnSpc>
              <a:buNone/>
            </a:pPr>
            <a:r>
              <a:rPr lang="en-US" sz="3000" dirty="0">
                <a:cs typeface="Calibri"/>
              </a:rPr>
              <a:t>}</a:t>
            </a:r>
          </a:p>
          <a:p>
            <a:r>
              <a:rPr lang="en-IN" b="1" dirty="0">
                <a:solidFill>
                  <a:srgbClr val="7030A0"/>
                </a:solidFill>
              </a:rPr>
              <a:t>Real time Example</a:t>
            </a:r>
          </a:p>
          <a:p>
            <a:pPr marL="0" indent="0">
              <a:buNone/>
            </a:pPr>
            <a:r>
              <a:rPr lang="en-US" sz="2800" b="1" spc="-5" dirty="0">
                <a:solidFill>
                  <a:srgbClr val="7030A0"/>
                </a:solidFill>
                <a:cs typeface="Calibri"/>
              </a:rPr>
              <a:t>If there is raining . we  will not play in the </a:t>
            </a:r>
            <a:r>
              <a:rPr lang="en-US" sz="2800" b="1" spc="-5" dirty="0" err="1">
                <a:solidFill>
                  <a:srgbClr val="7030A0"/>
                </a:solidFill>
                <a:cs typeface="Calibri"/>
              </a:rPr>
              <a:t>ground,else</a:t>
            </a:r>
            <a:endParaRPr lang="en-US" sz="2800" b="1" spc="-5" dirty="0">
              <a:solidFill>
                <a:srgbClr val="7030A0"/>
              </a:solidFill>
              <a:cs typeface="Calibri"/>
            </a:endParaRPr>
          </a:p>
          <a:p>
            <a:pPr marL="0" indent="0">
              <a:buNone/>
            </a:pPr>
            <a:r>
              <a:rPr lang="en-US" b="1" spc="-5" dirty="0">
                <a:solidFill>
                  <a:srgbClr val="7030A0"/>
                </a:solidFill>
                <a:cs typeface="Calibri"/>
              </a:rPr>
              <a:t>We will play in the ground.</a:t>
            </a:r>
            <a:endParaRPr lang="en-US" sz="2800" b="1" dirty="0">
              <a:solidFill>
                <a:srgbClr val="7030A0"/>
              </a:solidFill>
              <a:cs typeface="Calibri"/>
            </a:endParaRPr>
          </a:p>
          <a:p>
            <a:pPr marL="0" indent="0">
              <a:buNone/>
            </a:pPr>
            <a:endParaRPr lang="en-IN" b="1" dirty="0">
              <a:solidFill>
                <a:srgbClr val="7030A0"/>
              </a:solidFill>
            </a:endParaRPr>
          </a:p>
        </p:txBody>
      </p:sp>
    </p:spTree>
    <p:extLst>
      <p:ext uri="{BB962C8B-B14F-4D97-AF65-F5344CB8AC3E}">
        <p14:creationId xmlns:p14="http://schemas.microsoft.com/office/powerpoint/2010/main" val="41597344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5819" y="404665"/>
            <a:ext cx="10823511" cy="6294715"/>
          </a:xfrm>
        </p:spPr>
        <p:txBody>
          <a:bodyPr/>
          <a:lstStyle/>
          <a:p>
            <a:pPr marL="0" indent="0">
              <a:buNone/>
            </a:pPr>
            <a:r>
              <a:rPr lang="en-IN" b="1" spc="-10" dirty="0">
                <a:solidFill>
                  <a:srgbClr val="7030A0"/>
                </a:solidFill>
              </a:rPr>
              <a:t>Else</a:t>
            </a:r>
            <a:r>
              <a:rPr lang="en-IN" b="1" spc="-55" dirty="0">
                <a:solidFill>
                  <a:srgbClr val="7030A0"/>
                </a:solidFill>
              </a:rPr>
              <a:t> </a:t>
            </a:r>
            <a:r>
              <a:rPr lang="en-IN" b="1" spc="-5" dirty="0">
                <a:solidFill>
                  <a:srgbClr val="7030A0"/>
                </a:solidFill>
              </a:rPr>
              <a:t>if</a:t>
            </a:r>
            <a:r>
              <a:rPr lang="en-IN" b="1" spc="-60" dirty="0">
                <a:solidFill>
                  <a:srgbClr val="7030A0"/>
                </a:solidFill>
              </a:rPr>
              <a:t> </a:t>
            </a:r>
            <a:r>
              <a:rPr lang="en-IN" b="1" spc="-30" dirty="0">
                <a:solidFill>
                  <a:srgbClr val="7030A0"/>
                </a:solidFill>
              </a:rPr>
              <a:t>statement</a:t>
            </a:r>
          </a:p>
          <a:p>
            <a:pPr marL="12065" marR="205104" indent="0">
              <a:lnSpc>
                <a:spcPts val="2620"/>
              </a:lnSpc>
              <a:spcBef>
                <a:spcPts val="715"/>
              </a:spcBef>
              <a:buNone/>
              <a:tabLst>
                <a:tab pos="356870" algn="l"/>
                <a:tab pos="357505" algn="l"/>
              </a:tabLst>
            </a:pPr>
            <a:r>
              <a:rPr lang="en-US" sz="3000" dirty="0">
                <a:cs typeface="Calibri"/>
              </a:rPr>
              <a:t> else</a:t>
            </a:r>
            <a:r>
              <a:rPr lang="en-US" sz="3000" spc="-40" dirty="0">
                <a:cs typeface="Calibri"/>
              </a:rPr>
              <a:t> </a:t>
            </a:r>
            <a:r>
              <a:rPr lang="en-US" sz="3000" dirty="0">
                <a:cs typeface="Calibri"/>
              </a:rPr>
              <a:t>if</a:t>
            </a:r>
            <a:r>
              <a:rPr lang="en-US" sz="3000" spc="5" dirty="0">
                <a:cs typeface="Calibri"/>
              </a:rPr>
              <a:t> </a:t>
            </a:r>
            <a:r>
              <a:rPr lang="en-US" sz="3000" spc="-35" dirty="0">
                <a:cs typeface="Calibri"/>
              </a:rPr>
              <a:t>statement</a:t>
            </a:r>
            <a:r>
              <a:rPr lang="en-US" sz="3000" spc="-114" dirty="0">
                <a:cs typeface="Calibri"/>
              </a:rPr>
              <a:t> </a:t>
            </a:r>
            <a:r>
              <a:rPr lang="en-US" sz="3000" spc="-10" dirty="0">
                <a:cs typeface="Calibri"/>
              </a:rPr>
              <a:t>to</a:t>
            </a:r>
            <a:r>
              <a:rPr lang="en-US" sz="3000" spc="-70" dirty="0">
                <a:cs typeface="Calibri"/>
              </a:rPr>
              <a:t> </a:t>
            </a:r>
            <a:r>
              <a:rPr lang="en-US" sz="3000" dirty="0">
                <a:cs typeface="Calibri"/>
              </a:rPr>
              <a:t>specify</a:t>
            </a:r>
            <a:r>
              <a:rPr lang="en-US" sz="3000" spc="-70" dirty="0">
                <a:cs typeface="Calibri"/>
              </a:rPr>
              <a:t> </a:t>
            </a:r>
            <a:r>
              <a:rPr lang="en-US" sz="3000" spc="5" dirty="0">
                <a:cs typeface="Calibri"/>
              </a:rPr>
              <a:t>a</a:t>
            </a:r>
            <a:r>
              <a:rPr lang="en-US" sz="3000" spc="-35" dirty="0">
                <a:cs typeface="Calibri"/>
              </a:rPr>
              <a:t> </a:t>
            </a:r>
            <a:r>
              <a:rPr lang="en-US" sz="3000" spc="-10" dirty="0">
                <a:cs typeface="Calibri"/>
              </a:rPr>
              <a:t>new</a:t>
            </a:r>
            <a:r>
              <a:rPr lang="en-US" sz="3000" spc="-25" dirty="0">
                <a:cs typeface="Calibri"/>
              </a:rPr>
              <a:t> </a:t>
            </a:r>
            <a:r>
              <a:rPr lang="en-US" sz="3000" dirty="0">
                <a:cs typeface="Calibri"/>
              </a:rPr>
              <a:t>condition</a:t>
            </a:r>
            <a:r>
              <a:rPr lang="en-US" sz="3000" spc="-135" dirty="0">
                <a:cs typeface="Calibri"/>
              </a:rPr>
              <a:t> </a:t>
            </a:r>
            <a:r>
              <a:rPr lang="en-US" sz="3000" dirty="0">
                <a:cs typeface="Calibri"/>
              </a:rPr>
              <a:t>if</a:t>
            </a:r>
            <a:r>
              <a:rPr lang="en-US" sz="3000" spc="10" dirty="0">
                <a:cs typeface="Calibri"/>
              </a:rPr>
              <a:t> </a:t>
            </a:r>
            <a:r>
              <a:rPr lang="en-US" sz="3000" spc="5" dirty="0">
                <a:cs typeface="Calibri"/>
              </a:rPr>
              <a:t>the</a:t>
            </a:r>
            <a:r>
              <a:rPr lang="en-US" sz="3000" spc="-45" dirty="0">
                <a:cs typeface="Calibri"/>
              </a:rPr>
              <a:t> </a:t>
            </a:r>
            <a:r>
              <a:rPr lang="en-US" sz="3000" spc="-40" dirty="0">
                <a:cs typeface="Calibri"/>
              </a:rPr>
              <a:t>first </a:t>
            </a:r>
            <a:r>
              <a:rPr lang="en-US" sz="3000" spc="-595" dirty="0">
                <a:cs typeface="Calibri"/>
              </a:rPr>
              <a:t> </a:t>
            </a:r>
            <a:r>
              <a:rPr lang="en-US" sz="3000" dirty="0">
                <a:cs typeface="Calibri"/>
              </a:rPr>
              <a:t>condition</a:t>
            </a:r>
            <a:r>
              <a:rPr lang="en-US" sz="3000" spc="-150" dirty="0">
                <a:cs typeface="Calibri"/>
              </a:rPr>
              <a:t> </a:t>
            </a:r>
            <a:r>
              <a:rPr lang="en-US" sz="3000" dirty="0">
                <a:cs typeface="Calibri"/>
              </a:rPr>
              <a:t>is</a:t>
            </a:r>
            <a:r>
              <a:rPr lang="en-US" sz="3000" spc="-40" dirty="0">
                <a:cs typeface="Calibri"/>
              </a:rPr>
              <a:t> </a:t>
            </a:r>
            <a:r>
              <a:rPr lang="en-US" sz="3000" spc="-10" dirty="0">
                <a:cs typeface="Calibri"/>
              </a:rPr>
              <a:t>false.</a:t>
            </a:r>
            <a:endParaRPr lang="en-US" sz="3000" dirty="0">
              <a:cs typeface="Calibri"/>
            </a:endParaRPr>
          </a:p>
          <a:p>
            <a:pPr marL="0" indent="0">
              <a:lnSpc>
                <a:spcPts val="3135"/>
              </a:lnSpc>
              <a:buNone/>
            </a:pPr>
            <a:r>
              <a:rPr lang="en-US" sz="3000" b="1" spc="-35" dirty="0">
                <a:solidFill>
                  <a:srgbClr val="7030A0"/>
                </a:solidFill>
                <a:cs typeface="Calibri"/>
              </a:rPr>
              <a:t>Syntax:</a:t>
            </a:r>
            <a:endParaRPr lang="en-US" sz="3000" b="1" dirty="0">
              <a:solidFill>
                <a:srgbClr val="7030A0"/>
              </a:solidFill>
              <a:cs typeface="Calibri"/>
            </a:endParaRPr>
          </a:p>
          <a:p>
            <a:pPr marL="0" indent="0">
              <a:lnSpc>
                <a:spcPts val="3360"/>
              </a:lnSpc>
              <a:buNone/>
            </a:pPr>
            <a:r>
              <a:rPr lang="en-US" sz="3000" dirty="0">
                <a:cs typeface="Calibri"/>
              </a:rPr>
              <a:t>if</a:t>
            </a:r>
            <a:r>
              <a:rPr lang="en-US" sz="3000" spc="-30" dirty="0">
                <a:cs typeface="Calibri"/>
              </a:rPr>
              <a:t> </a:t>
            </a:r>
            <a:r>
              <a:rPr lang="en-US" sz="3000" spc="-15" dirty="0">
                <a:cs typeface="Calibri"/>
              </a:rPr>
              <a:t>(</a:t>
            </a:r>
            <a:r>
              <a:rPr lang="en-US" sz="3000" i="1" spc="-15" dirty="0">
                <a:cs typeface="Calibri"/>
              </a:rPr>
              <a:t>c</a:t>
            </a:r>
            <a:r>
              <a:rPr lang="en-US" sz="3000" i="1" spc="-5" dirty="0">
                <a:cs typeface="Calibri"/>
              </a:rPr>
              <a:t>onditi</a:t>
            </a:r>
            <a:r>
              <a:rPr lang="en-US" sz="3000" i="1" spc="-25" dirty="0">
                <a:cs typeface="Calibri"/>
              </a:rPr>
              <a:t>o</a:t>
            </a:r>
            <a:r>
              <a:rPr lang="en-US" sz="3000" i="1" dirty="0">
                <a:cs typeface="Calibri"/>
              </a:rPr>
              <a:t>n</a:t>
            </a:r>
            <a:r>
              <a:rPr lang="en-US" sz="3000" i="1" spc="-15" dirty="0">
                <a:cs typeface="Calibri"/>
              </a:rPr>
              <a:t>1</a:t>
            </a:r>
            <a:r>
              <a:rPr lang="en-US" sz="3000" dirty="0">
                <a:cs typeface="Calibri"/>
              </a:rPr>
              <a:t>)</a:t>
            </a:r>
            <a:r>
              <a:rPr lang="en-US" sz="3000" spc="-145" dirty="0">
                <a:cs typeface="Calibri"/>
              </a:rPr>
              <a:t> </a:t>
            </a:r>
            <a:r>
              <a:rPr lang="en-US" sz="3000" dirty="0">
                <a:cs typeface="Calibri"/>
              </a:rPr>
              <a:t>{</a:t>
            </a:r>
          </a:p>
          <a:p>
            <a:pPr marL="12700" marR="448945" indent="0">
              <a:lnSpc>
                <a:spcPct val="80000"/>
              </a:lnSpc>
              <a:spcBef>
                <a:spcPts val="795"/>
              </a:spcBef>
              <a:buNone/>
            </a:pPr>
            <a:r>
              <a:rPr lang="en-US" sz="3000" i="1" spc="-5" dirty="0">
                <a:solidFill>
                  <a:srgbClr val="001F5F"/>
                </a:solidFill>
                <a:cs typeface="Calibri"/>
              </a:rPr>
              <a:t>//</a:t>
            </a:r>
            <a:r>
              <a:rPr lang="en-US" sz="3000" i="1" dirty="0">
                <a:solidFill>
                  <a:srgbClr val="001F5F"/>
                </a:solidFill>
                <a:cs typeface="Calibri"/>
              </a:rPr>
              <a:t> block</a:t>
            </a:r>
            <a:r>
              <a:rPr lang="en-US" sz="3000" i="1" spc="-70" dirty="0">
                <a:solidFill>
                  <a:srgbClr val="001F5F"/>
                </a:solidFill>
                <a:cs typeface="Calibri"/>
              </a:rPr>
              <a:t> </a:t>
            </a:r>
            <a:r>
              <a:rPr lang="en-US" sz="3000" i="1" dirty="0">
                <a:solidFill>
                  <a:srgbClr val="001F5F"/>
                </a:solidFill>
                <a:cs typeface="Calibri"/>
              </a:rPr>
              <a:t>of</a:t>
            </a:r>
            <a:r>
              <a:rPr lang="en-US" sz="3000" i="1" spc="-5" dirty="0">
                <a:solidFill>
                  <a:srgbClr val="001F5F"/>
                </a:solidFill>
                <a:cs typeface="Calibri"/>
              </a:rPr>
              <a:t> code</a:t>
            </a:r>
            <a:r>
              <a:rPr lang="en-US" sz="3000" i="1" spc="-55" dirty="0">
                <a:solidFill>
                  <a:srgbClr val="001F5F"/>
                </a:solidFill>
                <a:cs typeface="Calibri"/>
              </a:rPr>
              <a:t> </a:t>
            </a:r>
            <a:r>
              <a:rPr lang="en-US" sz="3000" i="1" spc="-25" dirty="0">
                <a:solidFill>
                  <a:srgbClr val="001F5F"/>
                </a:solidFill>
                <a:cs typeface="Calibri"/>
              </a:rPr>
              <a:t>to</a:t>
            </a:r>
            <a:r>
              <a:rPr lang="en-US" sz="3000" i="1" spc="-35" dirty="0">
                <a:solidFill>
                  <a:srgbClr val="001F5F"/>
                </a:solidFill>
                <a:cs typeface="Calibri"/>
              </a:rPr>
              <a:t> </a:t>
            </a:r>
            <a:r>
              <a:rPr lang="en-US" sz="3000" i="1" dirty="0">
                <a:solidFill>
                  <a:srgbClr val="001F5F"/>
                </a:solidFill>
                <a:cs typeface="Calibri"/>
              </a:rPr>
              <a:t>be</a:t>
            </a:r>
            <a:r>
              <a:rPr lang="en-US" sz="3000" i="1" spc="-5" dirty="0">
                <a:solidFill>
                  <a:srgbClr val="001F5F"/>
                </a:solidFill>
                <a:cs typeface="Calibri"/>
              </a:rPr>
              <a:t> </a:t>
            </a:r>
            <a:r>
              <a:rPr lang="en-US" sz="3000" i="1" spc="-35" dirty="0">
                <a:solidFill>
                  <a:srgbClr val="001F5F"/>
                </a:solidFill>
                <a:cs typeface="Calibri"/>
              </a:rPr>
              <a:t>executed</a:t>
            </a:r>
            <a:r>
              <a:rPr lang="en-US" sz="3000" i="1" spc="-105" dirty="0">
                <a:solidFill>
                  <a:srgbClr val="001F5F"/>
                </a:solidFill>
                <a:cs typeface="Calibri"/>
              </a:rPr>
              <a:t> </a:t>
            </a:r>
            <a:r>
              <a:rPr lang="en-US" sz="3000" i="1" dirty="0">
                <a:solidFill>
                  <a:srgbClr val="001F5F"/>
                </a:solidFill>
                <a:cs typeface="Calibri"/>
              </a:rPr>
              <a:t>if</a:t>
            </a:r>
            <a:r>
              <a:rPr lang="en-US" sz="3000" i="1" spc="-25" dirty="0">
                <a:solidFill>
                  <a:srgbClr val="001F5F"/>
                </a:solidFill>
                <a:cs typeface="Calibri"/>
              </a:rPr>
              <a:t> </a:t>
            </a:r>
            <a:r>
              <a:rPr lang="en-US" sz="3000" i="1" spc="-5" dirty="0">
                <a:solidFill>
                  <a:srgbClr val="001F5F"/>
                </a:solidFill>
                <a:cs typeface="Calibri"/>
              </a:rPr>
              <a:t>condition1</a:t>
            </a:r>
            <a:r>
              <a:rPr lang="en-US" sz="3000" i="1" spc="-130" dirty="0">
                <a:solidFill>
                  <a:srgbClr val="001F5F"/>
                </a:solidFill>
                <a:cs typeface="Calibri"/>
              </a:rPr>
              <a:t> </a:t>
            </a:r>
            <a:r>
              <a:rPr lang="en-US" sz="3000" i="1" dirty="0">
                <a:solidFill>
                  <a:srgbClr val="001F5F"/>
                </a:solidFill>
                <a:cs typeface="Calibri"/>
              </a:rPr>
              <a:t>is </a:t>
            </a:r>
            <a:r>
              <a:rPr lang="en-US" sz="3000" i="1" spc="-5" dirty="0">
                <a:solidFill>
                  <a:srgbClr val="001F5F"/>
                </a:solidFill>
                <a:cs typeface="Calibri"/>
              </a:rPr>
              <a:t>true</a:t>
            </a:r>
            <a:r>
              <a:rPr lang="en-US" sz="3000" i="1" spc="15" dirty="0">
                <a:solidFill>
                  <a:srgbClr val="001F5F"/>
                </a:solidFill>
                <a:cs typeface="Calibri"/>
              </a:rPr>
              <a:t> </a:t>
            </a:r>
            <a:r>
              <a:rPr lang="en-US" sz="3000" dirty="0">
                <a:cs typeface="Calibri"/>
              </a:rPr>
              <a:t>} </a:t>
            </a:r>
            <a:r>
              <a:rPr lang="en-US" sz="3000" spc="-615" dirty="0">
                <a:cs typeface="Calibri"/>
              </a:rPr>
              <a:t> </a:t>
            </a:r>
            <a:r>
              <a:rPr lang="en-US" sz="3000" dirty="0">
                <a:cs typeface="Calibri"/>
              </a:rPr>
              <a:t>else</a:t>
            </a:r>
            <a:r>
              <a:rPr lang="en-US" sz="3000" spc="-45" dirty="0">
                <a:cs typeface="Calibri"/>
              </a:rPr>
              <a:t> </a:t>
            </a:r>
            <a:r>
              <a:rPr lang="en-US" sz="3000" dirty="0">
                <a:cs typeface="Calibri"/>
              </a:rPr>
              <a:t>if</a:t>
            </a:r>
            <a:r>
              <a:rPr lang="en-US" sz="3000" spc="-55" dirty="0">
                <a:cs typeface="Calibri"/>
              </a:rPr>
              <a:t> </a:t>
            </a:r>
            <a:r>
              <a:rPr lang="en-US" sz="3000" spc="-5" dirty="0">
                <a:cs typeface="Calibri"/>
              </a:rPr>
              <a:t>(</a:t>
            </a:r>
            <a:r>
              <a:rPr lang="en-US" sz="3000" i="1" spc="-5" dirty="0">
                <a:cs typeface="Calibri"/>
              </a:rPr>
              <a:t>condition2</a:t>
            </a:r>
            <a:r>
              <a:rPr lang="en-US" sz="3000" spc="-5" dirty="0">
                <a:cs typeface="Calibri"/>
              </a:rPr>
              <a:t>)</a:t>
            </a:r>
            <a:r>
              <a:rPr lang="en-US" sz="3000" spc="-95" dirty="0">
                <a:cs typeface="Calibri"/>
              </a:rPr>
              <a:t> </a:t>
            </a:r>
            <a:r>
              <a:rPr lang="en-US" sz="3000" dirty="0">
                <a:cs typeface="Calibri"/>
              </a:rPr>
              <a:t>{</a:t>
            </a:r>
          </a:p>
          <a:p>
            <a:pPr marL="12700" marR="5080" indent="0">
              <a:lnSpc>
                <a:spcPts val="2690"/>
              </a:lnSpc>
              <a:spcBef>
                <a:spcPts val="700"/>
              </a:spcBef>
              <a:buNone/>
            </a:pPr>
            <a:r>
              <a:rPr lang="en-US" sz="3000" i="1" spc="-5" dirty="0">
                <a:solidFill>
                  <a:srgbClr val="001F5F"/>
                </a:solidFill>
                <a:cs typeface="Calibri"/>
              </a:rPr>
              <a:t>//</a:t>
            </a:r>
            <a:r>
              <a:rPr lang="en-US" sz="3000" i="1" spc="5" dirty="0">
                <a:solidFill>
                  <a:srgbClr val="001F5F"/>
                </a:solidFill>
                <a:cs typeface="Calibri"/>
              </a:rPr>
              <a:t> </a:t>
            </a:r>
            <a:r>
              <a:rPr lang="en-US" sz="3000" i="1" dirty="0">
                <a:solidFill>
                  <a:srgbClr val="001F5F"/>
                </a:solidFill>
                <a:cs typeface="Calibri"/>
              </a:rPr>
              <a:t>block</a:t>
            </a:r>
            <a:r>
              <a:rPr lang="en-US" sz="3000" i="1" spc="-65" dirty="0">
                <a:solidFill>
                  <a:srgbClr val="001F5F"/>
                </a:solidFill>
                <a:cs typeface="Calibri"/>
              </a:rPr>
              <a:t> </a:t>
            </a:r>
            <a:r>
              <a:rPr lang="en-US" sz="3000" i="1" dirty="0">
                <a:solidFill>
                  <a:srgbClr val="001F5F"/>
                </a:solidFill>
                <a:cs typeface="Calibri"/>
              </a:rPr>
              <a:t>of</a:t>
            </a:r>
            <a:r>
              <a:rPr lang="en-US" sz="3000" i="1" spc="-5" dirty="0">
                <a:solidFill>
                  <a:srgbClr val="001F5F"/>
                </a:solidFill>
                <a:cs typeface="Calibri"/>
              </a:rPr>
              <a:t> code</a:t>
            </a:r>
            <a:r>
              <a:rPr lang="en-US" sz="3000" i="1" spc="-60" dirty="0">
                <a:solidFill>
                  <a:srgbClr val="001F5F"/>
                </a:solidFill>
                <a:cs typeface="Calibri"/>
              </a:rPr>
              <a:t> </a:t>
            </a:r>
            <a:r>
              <a:rPr lang="en-US" sz="3000" i="1" spc="-25" dirty="0">
                <a:solidFill>
                  <a:srgbClr val="001F5F"/>
                </a:solidFill>
                <a:cs typeface="Calibri"/>
              </a:rPr>
              <a:t>to</a:t>
            </a:r>
            <a:r>
              <a:rPr lang="en-US" sz="3000" i="1" spc="-40" dirty="0">
                <a:solidFill>
                  <a:srgbClr val="001F5F"/>
                </a:solidFill>
                <a:cs typeface="Calibri"/>
              </a:rPr>
              <a:t> </a:t>
            </a:r>
            <a:r>
              <a:rPr lang="en-US" sz="3000" i="1" dirty="0">
                <a:solidFill>
                  <a:srgbClr val="001F5F"/>
                </a:solidFill>
                <a:cs typeface="Calibri"/>
              </a:rPr>
              <a:t>be</a:t>
            </a:r>
            <a:r>
              <a:rPr lang="en-US" sz="3000" i="1" spc="-5" dirty="0">
                <a:solidFill>
                  <a:srgbClr val="001F5F"/>
                </a:solidFill>
                <a:cs typeface="Calibri"/>
              </a:rPr>
              <a:t> </a:t>
            </a:r>
            <a:r>
              <a:rPr lang="en-US" sz="3000" i="1" spc="-35" dirty="0">
                <a:solidFill>
                  <a:srgbClr val="001F5F"/>
                </a:solidFill>
                <a:cs typeface="Calibri"/>
              </a:rPr>
              <a:t>executed</a:t>
            </a:r>
            <a:r>
              <a:rPr lang="en-US" sz="3000" i="1" spc="-114" dirty="0">
                <a:solidFill>
                  <a:srgbClr val="001F5F"/>
                </a:solidFill>
                <a:cs typeface="Calibri"/>
              </a:rPr>
              <a:t> </a:t>
            </a:r>
            <a:r>
              <a:rPr lang="en-US" sz="3000" i="1" dirty="0">
                <a:solidFill>
                  <a:srgbClr val="001F5F"/>
                </a:solidFill>
                <a:cs typeface="Calibri"/>
              </a:rPr>
              <a:t>if</a:t>
            </a:r>
            <a:r>
              <a:rPr lang="en-US" sz="3000" i="1" spc="-5" dirty="0">
                <a:solidFill>
                  <a:srgbClr val="001F5F"/>
                </a:solidFill>
                <a:cs typeface="Calibri"/>
              </a:rPr>
              <a:t> </a:t>
            </a:r>
            <a:r>
              <a:rPr lang="en-US" sz="3000" i="1" dirty="0">
                <a:solidFill>
                  <a:srgbClr val="001F5F"/>
                </a:solidFill>
                <a:cs typeface="Calibri"/>
              </a:rPr>
              <a:t>the</a:t>
            </a:r>
            <a:r>
              <a:rPr lang="en-US" sz="3000" i="1" spc="-35" dirty="0">
                <a:solidFill>
                  <a:srgbClr val="001F5F"/>
                </a:solidFill>
                <a:cs typeface="Calibri"/>
              </a:rPr>
              <a:t> </a:t>
            </a:r>
            <a:r>
              <a:rPr lang="en-US" sz="3000" i="1" spc="-5" dirty="0">
                <a:solidFill>
                  <a:srgbClr val="001F5F"/>
                </a:solidFill>
                <a:cs typeface="Calibri"/>
              </a:rPr>
              <a:t>condition1</a:t>
            </a:r>
            <a:r>
              <a:rPr lang="en-US" sz="3000" i="1" spc="-114" dirty="0">
                <a:solidFill>
                  <a:srgbClr val="001F5F"/>
                </a:solidFill>
                <a:cs typeface="Calibri"/>
              </a:rPr>
              <a:t> </a:t>
            </a:r>
            <a:r>
              <a:rPr lang="en-US" sz="3000" i="1" dirty="0">
                <a:solidFill>
                  <a:srgbClr val="001F5F"/>
                </a:solidFill>
                <a:cs typeface="Calibri"/>
              </a:rPr>
              <a:t>is </a:t>
            </a:r>
            <a:r>
              <a:rPr lang="en-US" sz="3000" i="1" spc="-5" dirty="0">
                <a:solidFill>
                  <a:srgbClr val="001F5F"/>
                </a:solidFill>
                <a:cs typeface="Calibri"/>
              </a:rPr>
              <a:t>false </a:t>
            </a:r>
            <a:r>
              <a:rPr lang="en-US" sz="3000" i="1" spc="-620" dirty="0">
                <a:solidFill>
                  <a:srgbClr val="001F5F"/>
                </a:solidFill>
                <a:cs typeface="Calibri"/>
              </a:rPr>
              <a:t> </a:t>
            </a:r>
            <a:r>
              <a:rPr lang="en-US" sz="3000" i="1" dirty="0">
                <a:solidFill>
                  <a:srgbClr val="001F5F"/>
                </a:solidFill>
                <a:cs typeface="Calibri"/>
              </a:rPr>
              <a:t>and</a:t>
            </a:r>
            <a:r>
              <a:rPr lang="en-US" sz="3000" i="1" spc="-40" dirty="0">
                <a:solidFill>
                  <a:srgbClr val="001F5F"/>
                </a:solidFill>
                <a:cs typeface="Calibri"/>
              </a:rPr>
              <a:t> </a:t>
            </a:r>
            <a:r>
              <a:rPr lang="en-US" sz="3000" i="1" spc="-5" dirty="0">
                <a:solidFill>
                  <a:srgbClr val="001F5F"/>
                </a:solidFill>
                <a:cs typeface="Calibri"/>
              </a:rPr>
              <a:t>condition2</a:t>
            </a:r>
            <a:r>
              <a:rPr lang="en-US" sz="3000" i="1" spc="-114" dirty="0">
                <a:solidFill>
                  <a:srgbClr val="001F5F"/>
                </a:solidFill>
                <a:cs typeface="Calibri"/>
              </a:rPr>
              <a:t> </a:t>
            </a:r>
            <a:r>
              <a:rPr lang="en-US" sz="3000" i="1" dirty="0">
                <a:solidFill>
                  <a:srgbClr val="001F5F"/>
                </a:solidFill>
                <a:cs typeface="Calibri"/>
              </a:rPr>
              <a:t>is</a:t>
            </a:r>
            <a:r>
              <a:rPr lang="en-US" sz="3000" i="1" spc="15" dirty="0">
                <a:solidFill>
                  <a:srgbClr val="001F5F"/>
                </a:solidFill>
                <a:cs typeface="Calibri"/>
              </a:rPr>
              <a:t> </a:t>
            </a:r>
            <a:r>
              <a:rPr lang="en-US" sz="3000" i="1" spc="-5" dirty="0">
                <a:solidFill>
                  <a:srgbClr val="001F5F"/>
                </a:solidFill>
                <a:cs typeface="Calibri"/>
              </a:rPr>
              <a:t>true</a:t>
            </a:r>
            <a:r>
              <a:rPr lang="en-US" sz="3000" i="1" spc="-20" dirty="0">
                <a:solidFill>
                  <a:srgbClr val="001F5F"/>
                </a:solidFill>
                <a:cs typeface="Calibri"/>
              </a:rPr>
              <a:t> </a:t>
            </a:r>
            <a:r>
              <a:rPr lang="en-US" sz="3000" dirty="0">
                <a:cs typeface="Calibri"/>
              </a:rPr>
              <a:t>}</a:t>
            </a:r>
          </a:p>
          <a:p>
            <a:pPr marL="0" indent="0">
              <a:lnSpc>
                <a:spcPts val="3220"/>
              </a:lnSpc>
              <a:buNone/>
            </a:pPr>
            <a:r>
              <a:rPr lang="en-US" sz="3000" dirty="0">
                <a:cs typeface="Calibri"/>
              </a:rPr>
              <a:t>else</a:t>
            </a:r>
            <a:r>
              <a:rPr lang="en-US" sz="3000" spc="-125" dirty="0">
                <a:cs typeface="Calibri"/>
              </a:rPr>
              <a:t> </a:t>
            </a:r>
            <a:r>
              <a:rPr lang="en-US" sz="3000" dirty="0">
                <a:cs typeface="Calibri"/>
              </a:rPr>
              <a:t>{</a:t>
            </a:r>
          </a:p>
          <a:p>
            <a:pPr marL="12700" marR="281305" indent="0">
              <a:lnSpc>
                <a:spcPts val="2590"/>
              </a:lnSpc>
              <a:spcBef>
                <a:spcPts val="655"/>
              </a:spcBef>
              <a:buNone/>
            </a:pPr>
            <a:r>
              <a:rPr lang="en-US" sz="3000" i="1" dirty="0">
                <a:solidFill>
                  <a:srgbClr val="001F5F"/>
                </a:solidFill>
                <a:cs typeface="Calibri"/>
              </a:rPr>
              <a:t>//</a:t>
            </a:r>
            <a:r>
              <a:rPr lang="en-US" sz="3000" i="1" spc="-10" dirty="0">
                <a:solidFill>
                  <a:srgbClr val="001F5F"/>
                </a:solidFill>
                <a:cs typeface="Calibri"/>
              </a:rPr>
              <a:t> </a:t>
            </a:r>
            <a:r>
              <a:rPr lang="en-US" sz="3000" i="1" dirty="0">
                <a:solidFill>
                  <a:srgbClr val="001F5F"/>
                </a:solidFill>
                <a:cs typeface="Calibri"/>
              </a:rPr>
              <a:t>block</a:t>
            </a:r>
            <a:r>
              <a:rPr lang="en-US" sz="3000" i="1" spc="-25" dirty="0">
                <a:solidFill>
                  <a:srgbClr val="001F5F"/>
                </a:solidFill>
                <a:cs typeface="Calibri"/>
              </a:rPr>
              <a:t> </a:t>
            </a:r>
            <a:r>
              <a:rPr lang="en-US" sz="3000" i="1" dirty="0">
                <a:solidFill>
                  <a:srgbClr val="001F5F"/>
                </a:solidFill>
                <a:cs typeface="Calibri"/>
              </a:rPr>
              <a:t>of</a:t>
            </a:r>
            <a:r>
              <a:rPr lang="en-US" sz="3000" i="1" spc="-45" dirty="0">
                <a:solidFill>
                  <a:srgbClr val="001F5F"/>
                </a:solidFill>
                <a:cs typeface="Calibri"/>
              </a:rPr>
              <a:t> </a:t>
            </a:r>
            <a:r>
              <a:rPr lang="en-US" sz="3000" i="1" spc="-5" dirty="0">
                <a:solidFill>
                  <a:srgbClr val="001F5F"/>
                </a:solidFill>
                <a:cs typeface="Calibri"/>
              </a:rPr>
              <a:t>code</a:t>
            </a:r>
            <a:r>
              <a:rPr lang="en-US" sz="3000" i="1" spc="-35" dirty="0">
                <a:solidFill>
                  <a:srgbClr val="001F5F"/>
                </a:solidFill>
                <a:cs typeface="Calibri"/>
              </a:rPr>
              <a:t> </a:t>
            </a:r>
            <a:r>
              <a:rPr lang="en-US" sz="3000" i="1" spc="-10" dirty="0">
                <a:solidFill>
                  <a:srgbClr val="001F5F"/>
                </a:solidFill>
                <a:cs typeface="Calibri"/>
              </a:rPr>
              <a:t>to</a:t>
            </a:r>
            <a:r>
              <a:rPr lang="en-US" sz="3000" i="1" spc="-55" dirty="0">
                <a:solidFill>
                  <a:srgbClr val="001F5F"/>
                </a:solidFill>
                <a:cs typeface="Calibri"/>
              </a:rPr>
              <a:t> </a:t>
            </a:r>
            <a:r>
              <a:rPr lang="en-US" sz="3000" i="1" dirty="0">
                <a:solidFill>
                  <a:srgbClr val="001F5F"/>
                </a:solidFill>
                <a:cs typeface="Calibri"/>
              </a:rPr>
              <a:t>be</a:t>
            </a:r>
            <a:r>
              <a:rPr lang="en-US" sz="3000" i="1" spc="-35" dirty="0">
                <a:solidFill>
                  <a:srgbClr val="001F5F"/>
                </a:solidFill>
                <a:cs typeface="Calibri"/>
              </a:rPr>
              <a:t> </a:t>
            </a:r>
            <a:r>
              <a:rPr lang="en-US" sz="3000" i="1" spc="-20" dirty="0">
                <a:solidFill>
                  <a:srgbClr val="001F5F"/>
                </a:solidFill>
                <a:cs typeface="Calibri"/>
              </a:rPr>
              <a:t>executed</a:t>
            </a:r>
            <a:r>
              <a:rPr lang="en-US" sz="3000" i="1" spc="-175" dirty="0">
                <a:solidFill>
                  <a:srgbClr val="001F5F"/>
                </a:solidFill>
                <a:cs typeface="Calibri"/>
              </a:rPr>
              <a:t> </a:t>
            </a:r>
            <a:r>
              <a:rPr lang="en-US" sz="3000" i="1" dirty="0">
                <a:solidFill>
                  <a:srgbClr val="001F5F"/>
                </a:solidFill>
                <a:cs typeface="Calibri"/>
              </a:rPr>
              <a:t>if</a:t>
            </a:r>
            <a:r>
              <a:rPr lang="en-US" sz="3000" i="1" spc="5" dirty="0">
                <a:solidFill>
                  <a:srgbClr val="001F5F"/>
                </a:solidFill>
                <a:cs typeface="Calibri"/>
              </a:rPr>
              <a:t> the</a:t>
            </a:r>
            <a:r>
              <a:rPr lang="en-US" sz="3000" i="1" spc="-10" dirty="0">
                <a:solidFill>
                  <a:srgbClr val="001F5F"/>
                </a:solidFill>
                <a:cs typeface="Calibri"/>
              </a:rPr>
              <a:t> </a:t>
            </a:r>
            <a:r>
              <a:rPr lang="en-US" sz="3000" i="1" spc="-5" dirty="0">
                <a:solidFill>
                  <a:srgbClr val="001F5F"/>
                </a:solidFill>
                <a:cs typeface="Calibri"/>
              </a:rPr>
              <a:t>condition1</a:t>
            </a:r>
            <a:r>
              <a:rPr lang="en-US" sz="3000" i="1" spc="-130" dirty="0">
                <a:solidFill>
                  <a:srgbClr val="001F5F"/>
                </a:solidFill>
                <a:cs typeface="Calibri"/>
              </a:rPr>
              <a:t> </a:t>
            </a:r>
            <a:r>
              <a:rPr lang="en-US" sz="3000" i="1" dirty="0">
                <a:solidFill>
                  <a:srgbClr val="001F5F"/>
                </a:solidFill>
                <a:cs typeface="Calibri"/>
              </a:rPr>
              <a:t>is</a:t>
            </a:r>
            <a:r>
              <a:rPr lang="en-US" sz="3000" i="1" spc="-5" dirty="0">
                <a:solidFill>
                  <a:srgbClr val="001F5F"/>
                </a:solidFill>
                <a:cs typeface="Calibri"/>
              </a:rPr>
              <a:t> </a:t>
            </a:r>
            <a:r>
              <a:rPr lang="en-US" sz="3000" i="1" spc="-10" dirty="0">
                <a:solidFill>
                  <a:srgbClr val="001F5F"/>
                </a:solidFill>
                <a:cs typeface="Calibri"/>
              </a:rPr>
              <a:t>false </a:t>
            </a:r>
            <a:r>
              <a:rPr lang="en-US" sz="3000" i="1" spc="-595" dirty="0">
                <a:solidFill>
                  <a:srgbClr val="001F5F"/>
                </a:solidFill>
                <a:cs typeface="Calibri"/>
              </a:rPr>
              <a:t> </a:t>
            </a:r>
            <a:r>
              <a:rPr lang="en-US" sz="3000" i="1" dirty="0">
                <a:solidFill>
                  <a:srgbClr val="001F5F"/>
                </a:solidFill>
                <a:cs typeface="Calibri"/>
              </a:rPr>
              <a:t>and</a:t>
            </a:r>
            <a:r>
              <a:rPr lang="en-US" sz="3000" i="1" spc="-45" dirty="0">
                <a:solidFill>
                  <a:srgbClr val="001F5F"/>
                </a:solidFill>
                <a:cs typeface="Calibri"/>
              </a:rPr>
              <a:t> </a:t>
            </a:r>
            <a:r>
              <a:rPr lang="en-US" sz="3000" i="1" spc="-5" dirty="0">
                <a:solidFill>
                  <a:srgbClr val="001F5F"/>
                </a:solidFill>
                <a:cs typeface="Calibri"/>
              </a:rPr>
              <a:t>condition2</a:t>
            </a:r>
            <a:r>
              <a:rPr lang="en-US" sz="3000" i="1" spc="-135" dirty="0">
                <a:solidFill>
                  <a:srgbClr val="001F5F"/>
                </a:solidFill>
                <a:cs typeface="Calibri"/>
              </a:rPr>
              <a:t> </a:t>
            </a:r>
            <a:r>
              <a:rPr lang="en-US" sz="3000" i="1" dirty="0">
                <a:solidFill>
                  <a:srgbClr val="001F5F"/>
                </a:solidFill>
                <a:cs typeface="Calibri"/>
              </a:rPr>
              <a:t>is</a:t>
            </a:r>
            <a:r>
              <a:rPr lang="en-US" sz="3000" i="1" spc="-10" dirty="0">
                <a:solidFill>
                  <a:srgbClr val="001F5F"/>
                </a:solidFill>
                <a:cs typeface="Calibri"/>
              </a:rPr>
              <a:t> false</a:t>
            </a:r>
            <a:r>
              <a:rPr lang="en-US" sz="3000" i="1" spc="-85" dirty="0">
                <a:solidFill>
                  <a:srgbClr val="001F5F"/>
                </a:solidFill>
                <a:cs typeface="Calibri"/>
              </a:rPr>
              <a:t> </a:t>
            </a:r>
            <a:r>
              <a:rPr lang="en-US" sz="3000" dirty="0">
                <a:cs typeface="Calibri"/>
              </a:rPr>
              <a:t>}</a:t>
            </a:r>
          </a:p>
          <a:p>
            <a:pPr marL="12700" marR="281305" indent="0">
              <a:lnSpc>
                <a:spcPts val="2590"/>
              </a:lnSpc>
              <a:spcBef>
                <a:spcPts val="655"/>
              </a:spcBef>
              <a:buNone/>
            </a:pPr>
            <a:r>
              <a:rPr lang="en-US" sz="3000" b="1" dirty="0">
                <a:solidFill>
                  <a:srgbClr val="7030A0"/>
                </a:solidFill>
                <a:cs typeface="Calibri"/>
              </a:rPr>
              <a:t>Real time Example:</a:t>
            </a:r>
          </a:p>
          <a:p>
            <a:pPr marL="12700" marR="281305" indent="0">
              <a:lnSpc>
                <a:spcPts val="2590"/>
              </a:lnSpc>
              <a:spcBef>
                <a:spcPts val="655"/>
              </a:spcBef>
              <a:buNone/>
            </a:pPr>
            <a:r>
              <a:rPr lang="en-US" sz="3000" b="1" dirty="0">
                <a:solidFill>
                  <a:srgbClr val="7030A0"/>
                </a:solidFill>
                <a:cs typeface="Calibri"/>
              </a:rPr>
              <a:t>Student mark system , Income tax  payment.</a:t>
            </a:r>
          </a:p>
          <a:p>
            <a:pPr marL="0" indent="0">
              <a:buNone/>
            </a:pPr>
            <a:endParaRPr lang="en-IN" sz="3000" b="1" dirty="0">
              <a:solidFill>
                <a:srgbClr val="7030A0"/>
              </a:solidFill>
            </a:endParaRPr>
          </a:p>
        </p:txBody>
      </p:sp>
    </p:spTree>
    <p:extLst>
      <p:ext uri="{BB962C8B-B14F-4D97-AF65-F5344CB8AC3E}">
        <p14:creationId xmlns:p14="http://schemas.microsoft.com/office/powerpoint/2010/main" val="32262233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5192" y="476673"/>
            <a:ext cx="10664890" cy="6260029"/>
          </a:xfrm>
        </p:spPr>
        <p:txBody>
          <a:bodyPr>
            <a:normAutofit/>
          </a:bodyPr>
          <a:lstStyle/>
          <a:p>
            <a:pPr marL="0" indent="0">
              <a:buNone/>
            </a:pPr>
            <a:r>
              <a:rPr lang="en-IN" b="1" dirty="0">
                <a:solidFill>
                  <a:srgbClr val="7030A0"/>
                </a:solidFill>
              </a:rPr>
              <a:t>Nested if statement</a:t>
            </a:r>
          </a:p>
          <a:p>
            <a:r>
              <a:rPr lang="en-US" dirty="0"/>
              <a:t>The nested if statement represents the </a:t>
            </a:r>
            <a:r>
              <a:rPr lang="en-US" b="1" i="1" dirty="0">
                <a:solidFill>
                  <a:srgbClr val="7030A0"/>
                </a:solidFill>
              </a:rPr>
              <a:t>if block within another if block</a:t>
            </a:r>
            <a:r>
              <a:rPr lang="en-US" b="1" dirty="0">
                <a:solidFill>
                  <a:srgbClr val="7030A0"/>
                </a:solidFill>
              </a:rPr>
              <a:t>.</a:t>
            </a:r>
          </a:p>
          <a:p>
            <a:r>
              <a:rPr lang="en-US" dirty="0"/>
              <a:t> Here, the inner if block condition executes only when </a:t>
            </a:r>
            <a:r>
              <a:rPr lang="en-US" b="1" dirty="0">
                <a:solidFill>
                  <a:srgbClr val="7030A0"/>
                </a:solidFill>
              </a:rPr>
              <a:t>outer if block condition is true.</a:t>
            </a:r>
          </a:p>
          <a:p>
            <a:pPr marL="0" indent="0">
              <a:buNone/>
            </a:pPr>
            <a:r>
              <a:rPr lang="en-IN" b="1" dirty="0">
                <a:solidFill>
                  <a:srgbClr val="7030A0"/>
                </a:solidFill>
              </a:rPr>
              <a:t>Syntax:</a:t>
            </a:r>
          </a:p>
          <a:p>
            <a:pPr marL="0" indent="0">
              <a:buNone/>
            </a:pPr>
            <a:r>
              <a:rPr lang="en-US" b="1" dirty="0"/>
              <a:t>if</a:t>
            </a:r>
            <a:r>
              <a:rPr lang="en-US" dirty="0"/>
              <a:t>(condition){    </a:t>
            </a:r>
          </a:p>
          <a:p>
            <a:pPr marL="0" indent="0">
              <a:buNone/>
            </a:pPr>
            <a:r>
              <a:rPr lang="en-US" dirty="0"/>
              <a:t>     //code to be executed    </a:t>
            </a:r>
          </a:p>
          <a:p>
            <a:pPr marL="0" indent="0">
              <a:buNone/>
            </a:pPr>
            <a:r>
              <a:rPr lang="en-US" dirty="0"/>
              <a:t>          </a:t>
            </a:r>
            <a:r>
              <a:rPr lang="en-US" b="1" dirty="0"/>
              <a:t>if</a:t>
            </a:r>
            <a:r>
              <a:rPr lang="en-US" dirty="0"/>
              <a:t>(condition){  </a:t>
            </a:r>
          </a:p>
          <a:p>
            <a:pPr marL="0" indent="0">
              <a:buNone/>
            </a:pPr>
            <a:r>
              <a:rPr lang="en-US" dirty="0"/>
              <a:t>             //code to be executed    </a:t>
            </a:r>
          </a:p>
          <a:p>
            <a:pPr marL="0" indent="0">
              <a:buNone/>
            </a:pPr>
            <a:r>
              <a:rPr lang="en-US" dirty="0"/>
              <a:t>    }  }  </a:t>
            </a:r>
          </a:p>
          <a:p>
            <a:pPr marL="0" indent="0">
              <a:buNone/>
            </a:pPr>
            <a:r>
              <a:rPr lang="en-US" b="1" dirty="0">
                <a:solidFill>
                  <a:srgbClr val="7030A0"/>
                </a:solidFill>
              </a:rPr>
              <a:t>Real Time Example:</a:t>
            </a:r>
          </a:p>
          <a:p>
            <a:pPr marL="0" indent="0">
              <a:buNone/>
            </a:pPr>
            <a:r>
              <a:rPr lang="en-US" dirty="0"/>
              <a:t>Blood Donation conditions.</a:t>
            </a:r>
          </a:p>
          <a:p>
            <a:pPr marL="0" indent="0">
              <a:buNone/>
            </a:pPr>
            <a:endParaRPr lang="en-IN" sz="3000" b="1" dirty="0">
              <a:solidFill>
                <a:srgbClr val="7030A0"/>
              </a:solidFill>
            </a:endParaRPr>
          </a:p>
        </p:txBody>
      </p:sp>
    </p:spTree>
    <p:extLst>
      <p:ext uri="{BB962C8B-B14F-4D97-AF65-F5344CB8AC3E}">
        <p14:creationId xmlns:p14="http://schemas.microsoft.com/office/powerpoint/2010/main" val="29138155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951722" y="286722"/>
            <a:ext cx="9270191" cy="5676900"/>
          </a:xfrm>
        </p:spPr>
        <p:txBody>
          <a:bodyPr>
            <a:normAutofit/>
          </a:bodyPr>
          <a:lstStyle/>
          <a:p>
            <a:pPr marL="0" indent="0">
              <a:buNone/>
            </a:pPr>
            <a:r>
              <a:rPr lang="en-IN" b="1" spc="-25" dirty="0">
                <a:solidFill>
                  <a:srgbClr val="7030A0"/>
                </a:solidFill>
              </a:rPr>
              <a:t>switch</a:t>
            </a:r>
            <a:r>
              <a:rPr lang="en-IN" b="1" spc="-35" dirty="0">
                <a:solidFill>
                  <a:srgbClr val="7030A0"/>
                </a:solidFill>
              </a:rPr>
              <a:t> </a:t>
            </a:r>
            <a:r>
              <a:rPr lang="en-IN" b="1" spc="-30" dirty="0">
                <a:solidFill>
                  <a:srgbClr val="7030A0"/>
                </a:solidFill>
              </a:rPr>
              <a:t>statement</a:t>
            </a:r>
          </a:p>
          <a:p>
            <a:r>
              <a:rPr lang="en-US" sz="3000" dirty="0"/>
              <a:t>The </a:t>
            </a:r>
            <a:r>
              <a:rPr lang="en-US" sz="3000" i="1" dirty="0"/>
              <a:t>switch statement</a:t>
            </a:r>
            <a:r>
              <a:rPr lang="en-US" sz="3000" dirty="0"/>
              <a:t> executes one statement from multiple conditions. It is like </a:t>
            </a:r>
            <a:r>
              <a:rPr lang="en-US" sz="3000" dirty="0">
                <a:hlinkClick r:id="rId2"/>
              </a:rPr>
              <a:t>if-else-if</a:t>
            </a:r>
            <a:r>
              <a:rPr lang="en-US" sz="3000" dirty="0"/>
              <a:t> ladder statement</a:t>
            </a:r>
            <a:r>
              <a:rPr lang="en-US" dirty="0"/>
              <a:t>.</a:t>
            </a:r>
          </a:p>
          <a:p>
            <a:pPr marL="0" indent="0">
              <a:buNone/>
            </a:pPr>
            <a:r>
              <a:rPr lang="en-US" b="1" dirty="0">
                <a:solidFill>
                  <a:srgbClr val="7030A0"/>
                </a:solidFill>
              </a:rPr>
              <a:t>Syntax</a:t>
            </a:r>
          </a:p>
          <a:p>
            <a:r>
              <a:rPr lang="en-US" b="1" dirty="0"/>
              <a:t>switch</a:t>
            </a:r>
            <a:r>
              <a:rPr lang="en-US" dirty="0"/>
              <a:t>(expression){    </a:t>
            </a:r>
          </a:p>
          <a:p>
            <a:r>
              <a:rPr lang="en-US" b="1" dirty="0"/>
              <a:t>case</a:t>
            </a:r>
            <a:r>
              <a:rPr lang="en-US" dirty="0"/>
              <a:t> value1:    </a:t>
            </a:r>
          </a:p>
          <a:p>
            <a:r>
              <a:rPr lang="en-US" dirty="0"/>
              <a:t> //code to be executed;    </a:t>
            </a:r>
          </a:p>
          <a:p>
            <a:r>
              <a:rPr lang="en-US" dirty="0"/>
              <a:t> </a:t>
            </a:r>
            <a:r>
              <a:rPr lang="en-US" b="1" dirty="0"/>
              <a:t>break</a:t>
            </a:r>
            <a:r>
              <a:rPr lang="en-US" dirty="0"/>
              <a:t>;  //optional  </a:t>
            </a:r>
          </a:p>
          <a:p>
            <a:r>
              <a:rPr lang="en-US" b="1" dirty="0"/>
              <a:t>default</a:t>
            </a:r>
            <a:r>
              <a:rPr lang="en-US" dirty="0"/>
              <a:t>:     </a:t>
            </a:r>
          </a:p>
          <a:p>
            <a:r>
              <a:rPr lang="en-US" dirty="0"/>
              <a:t>  code to be executed </a:t>
            </a:r>
            <a:r>
              <a:rPr lang="en-US" b="1" dirty="0"/>
              <a:t>if</a:t>
            </a:r>
            <a:r>
              <a:rPr lang="en-US" dirty="0"/>
              <a:t> all cases are not matched;  }    </a:t>
            </a:r>
          </a:p>
          <a:p>
            <a:pPr marL="0" indent="0">
              <a:buNone/>
            </a:pPr>
            <a:endParaRPr lang="en-US" b="1" dirty="0">
              <a:solidFill>
                <a:srgbClr val="7030A0"/>
              </a:solidFill>
            </a:endParaRPr>
          </a:p>
          <a:p>
            <a:pPr marL="0" indent="0">
              <a:buNone/>
            </a:pPr>
            <a:endParaRPr lang="en-IN" b="1" dirty="0">
              <a:solidFill>
                <a:srgbClr val="7030A0"/>
              </a:solidFill>
            </a:endParaRPr>
          </a:p>
        </p:txBody>
      </p:sp>
    </p:spTree>
    <p:extLst>
      <p:ext uri="{BB962C8B-B14F-4D97-AF65-F5344CB8AC3E}">
        <p14:creationId xmlns:p14="http://schemas.microsoft.com/office/powerpoint/2010/main" val="37503609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635DF-D4ED-3700-3B65-BF765B791BE7}"/>
              </a:ext>
            </a:extLst>
          </p:cNvPr>
          <p:cNvSpPr>
            <a:spLocks noGrp="1"/>
          </p:cNvSpPr>
          <p:nvPr>
            <p:ph type="title"/>
          </p:nvPr>
        </p:nvSpPr>
        <p:spPr/>
        <p:txBody>
          <a:bodyPr/>
          <a:lstStyle/>
          <a:p>
            <a:r>
              <a:rPr lang="en-IN" dirty="0"/>
              <a:t>Loop/Iterative/Repeatation statements</a:t>
            </a:r>
          </a:p>
        </p:txBody>
      </p:sp>
      <p:sp>
        <p:nvSpPr>
          <p:cNvPr id="3" name="Content Placeholder 2">
            <a:extLst>
              <a:ext uri="{FF2B5EF4-FFF2-40B4-BE49-F238E27FC236}">
                <a16:creationId xmlns:a16="http://schemas.microsoft.com/office/drawing/2014/main" id="{467E049C-A723-C96C-EF37-7C028167E176}"/>
              </a:ext>
            </a:extLst>
          </p:cNvPr>
          <p:cNvSpPr>
            <a:spLocks noGrp="1"/>
          </p:cNvSpPr>
          <p:nvPr>
            <p:ph idx="1"/>
          </p:nvPr>
        </p:nvSpPr>
        <p:spPr/>
        <p:txBody>
          <a:bodyPr/>
          <a:lstStyle/>
          <a:p>
            <a:r>
              <a:rPr lang="en-US" b="0" i="0" dirty="0">
                <a:solidFill>
                  <a:srgbClr val="202124"/>
                </a:solidFill>
                <a:effectLst/>
              </a:rPr>
              <a:t>Loops is </a:t>
            </a:r>
            <a:r>
              <a:rPr lang="en-US" b="0" i="0" dirty="0">
                <a:solidFill>
                  <a:srgbClr val="040C28"/>
                </a:solidFill>
                <a:effectLst/>
              </a:rPr>
              <a:t> used to </a:t>
            </a:r>
            <a:r>
              <a:rPr lang="en-US" b="1" i="0" dirty="0">
                <a:solidFill>
                  <a:srgbClr val="7030A0"/>
                </a:solidFill>
                <a:effectLst/>
              </a:rPr>
              <a:t>execute a particular part of the</a:t>
            </a:r>
          </a:p>
          <a:p>
            <a:pPr marL="0" indent="0">
              <a:buNone/>
            </a:pPr>
            <a:r>
              <a:rPr lang="en-US" b="1" dirty="0">
                <a:solidFill>
                  <a:srgbClr val="7030A0"/>
                </a:solidFill>
              </a:rPr>
              <a:t>  </a:t>
            </a:r>
            <a:r>
              <a:rPr lang="en-US" b="1" i="0" dirty="0">
                <a:solidFill>
                  <a:srgbClr val="7030A0"/>
                </a:solidFill>
                <a:effectLst/>
              </a:rPr>
              <a:t>program repeatedly , if a given condition evaluates to be true.</a:t>
            </a:r>
          </a:p>
          <a:p>
            <a:pPr marL="0" indent="0">
              <a:buNone/>
            </a:pPr>
            <a:endParaRPr lang="en-US" b="1" i="0" dirty="0">
              <a:solidFill>
                <a:srgbClr val="7030A0"/>
              </a:solidFill>
              <a:effectLst/>
            </a:endParaRPr>
          </a:p>
          <a:p>
            <a:r>
              <a:rPr lang="en-US" b="1" i="0" dirty="0">
                <a:solidFill>
                  <a:srgbClr val="7030A0"/>
                </a:solidFill>
                <a:effectLst/>
              </a:rPr>
              <a:t>For example,</a:t>
            </a:r>
            <a:endParaRPr lang="en-US" b="1" dirty="0">
              <a:solidFill>
                <a:srgbClr val="7030A0"/>
              </a:solidFill>
              <a:latin typeface="arial" panose="020B0604020202020204" pitchFamily="34" charset="0"/>
            </a:endParaRPr>
          </a:p>
          <a:p>
            <a:r>
              <a:rPr lang="en-US" b="0" i="0" dirty="0">
                <a:solidFill>
                  <a:srgbClr val="333333"/>
                </a:solidFill>
                <a:effectLst/>
              </a:rPr>
              <a:t>You put your favorite song on a repeat mode. It is also a loop.</a:t>
            </a:r>
          </a:p>
          <a:p>
            <a:pPr fontAlgn="base"/>
            <a:r>
              <a:rPr lang="en-US" b="0" i="0" dirty="0">
                <a:solidFill>
                  <a:srgbClr val="333333"/>
                </a:solidFill>
                <a:effectLst/>
              </a:rPr>
              <a:t>Software of the ATM machine is in a loop to process transaction after</a:t>
            </a:r>
          </a:p>
          <a:p>
            <a:pPr marL="0" indent="0" fontAlgn="base">
              <a:buNone/>
            </a:pPr>
            <a:r>
              <a:rPr lang="en-US" dirty="0">
                <a:solidFill>
                  <a:srgbClr val="333333"/>
                </a:solidFill>
              </a:rPr>
              <a:t>  </a:t>
            </a:r>
            <a:r>
              <a:rPr lang="en-US" b="0" i="0" dirty="0">
                <a:solidFill>
                  <a:srgbClr val="333333"/>
                </a:solidFill>
                <a:effectLst/>
              </a:rPr>
              <a:t> transaction until you acknowledge that you have no more to do. </a:t>
            </a:r>
          </a:p>
          <a:p>
            <a:endParaRPr lang="en-IN" dirty="0"/>
          </a:p>
        </p:txBody>
      </p:sp>
    </p:spTree>
    <p:extLst>
      <p:ext uri="{BB962C8B-B14F-4D97-AF65-F5344CB8AC3E}">
        <p14:creationId xmlns:p14="http://schemas.microsoft.com/office/powerpoint/2010/main" val="2179945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7C6B-5BBD-A849-2CFB-47DFE2967394}"/>
              </a:ext>
            </a:extLst>
          </p:cNvPr>
          <p:cNvSpPr>
            <a:spLocks noGrp="1"/>
          </p:cNvSpPr>
          <p:nvPr>
            <p:ph type="title"/>
          </p:nvPr>
        </p:nvSpPr>
        <p:spPr/>
        <p:txBody>
          <a:bodyPr/>
          <a:lstStyle/>
          <a:p>
            <a:r>
              <a:rPr lang="en-IN" dirty="0"/>
              <a:t>Types of loops</a:t>
            </a:r>
          </a:p>
        </p:txBody>
      </p:sp>
      <p:sp>
        <p:nvSpPr>
          <p:cNvPr id="3" name="Content Placeholder 2">
            <a:extLst>
              <a:ext uri="{FF2B5EF4-FFF2-40B4-BE49-F238E27FC236}">
                <a16:creationId xmlns:a16="http://schemas.microsoft.com/office/drawing/2014/main" id="{FAE9C2A7-F5AB-E096-6BA2-44A21192D7CA}"/>
              </a:ext>
            </a:extLst>
          </p:cNvPr>
          <p:cNvSpPr>
            <a:spLocks noGrp="1"/>
          </p:cNvSpPr>
          <p:nvPr>
            <p:ph idx="1"/>
          </p:nvPr>
        </p:nvSpPr>
        <p:spPr/>
        <p:txBody>
          <a:bodyPr/>
          <a:lstStyle/>
          <a:p>
            <a:pPr marL="0" indent="0">
              <a:buNone/>
            </a:pPr>
            <a:r>
              <a:rPr lang="en-IN" dirty="0"/>
              <a:t>There are </a:t>
            </a:r>
            <a:r>
              <a:rPr lang="en-IN" b="1" dirty="0">
                <a:solidFill>
                  <a:srgbClr val="7030A0"/>
                </a:solidFill>
              </a:rPr>
              <a:t>three types </a:t>
            </a:r>
            <a:r>
              <a:rPr lang="en-IN" dirty="0"/>
              <a:t>of loop</a:t>
            </a:r>
          </a:p>
          <a:p>
            <a:r>
              <a:rPr lang="en-IN" dirty="0"/>
              <a:t>for loop\Entry check loop</a:t>
            </a:r>
          </a:p>
          <a:p>
            <a:r>
              <a:rPr lang="en-IN" dirty="0"/>
              <a:t>While loop\Entry check loop</a:t>
            </a:r>
          </a:p>
          <a:p>
            <a:r>
              <a:rPr lang="en-IN" dirty="0"/>
              <a:t>Do while loop\Exist check loop</a:t>
            </a:r>
          </a:p>
        </p:txBody>
      </p:sp>
    </p:spTree>
    <p:extLst>
      <p:ext uri="{BB962C8B-B14F-4D97-AF65-F5344CB8AC3E}">
        <p14:creationId xmlns:p14="http://schemas.microsoft.com/office/powerpoint/2010/main" val="106923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93103"/>
            <a:ext cx="10515600" cy="4655976"/>
          </a:xfrm>
        </p:spPr>
        <p:txBody>
          <a:bodyPr>
            <a:normAutofit/>
          </a:bodyPr>
          <a:lstStyle/>
          <a:p>
            <a:pPr marL="0" indent="0">
              <a:buNone/>
            </a:pPr>
            <a:r>
              <a:rPr lang="en-IN" b="1" dirty="0">
                <a:solidFill>
                  <a:srgbClr val="7030A0"/>
                </a:solidFill>
              </a:rPr>
              <a:t>for Loop</a:t>
            </a:r>
            <a:endParaRPr lang="en-US" b="1" dirty="0">
              <a:solidFill>
                <a:srgbClr val="7030A0"/>
              </a:solidFill>
            </a:endParaRPr>
          </a:p>
          <a:p>
            <a:pPr marL="0" indent="0">
              <a:buNone/>
            </a:pPr>
            <a:r>
              <a:rPr lang="en-IN" sz="3000" b="1" dirty="0">
                <a:solidFill>
                  <a:srgbClr val="7030A0"/>
                </a:solidFill>
              </a:rPr>
              <a:t>Syntax:</a:t>
            </a:r>
          </a:p>
          <a:p>
            <a:pPr marL="0" indent="0">
              <a:buNone/>
            </a:pPr>
            <a:r>
              <a:rPr lang="en-US" sz="3000" b="1" dirty="0"/>
              <a:t>for</a:t>
            </a:r>
            <a:r>
              <a:rPr lang="en-US" sz="3000" dirty="0"/>
              <a:t>(initialization; condition; increment/decrement)</a:t>
            </a:r>
          </a:p>
          <a:p>
            <a:pPr marL="0" indent="0">
              <a:buNone/>
            </a:pPr>
            <a:r>
              <a:rPr lang="en-US" sz="3000" dirty="0"/>
              <a:t>{    </a:t>
            </a:r>
          </a:p>
          <a:p>
            <a:pPr marL="0" indent="0">
              <a:buNone/>
            </a:pPr>
            <a:r>
              <a:rPr lang="en-US" sz="3000" dirty="0"/>
              <a:t>//statement or code to be executed    </a:t>
            </a:r>
          </a:p>
          <a:p>
            <a:pPr marL="0" indent="0">
              <a:buNone/>
            </a:pPr>
            <a:r>
              <a:rPr lang="en-US" sz="3000" dirty="0"/>
              <a:t>}    </a:t>
            </a:r>
          </a:p>
          <a:p>
            <a:pPr marL="0" indent="0">
              <a:buNone/>
            </a:pPr>
            <a:endParaRPr lang="en-IN" sz="3000" b="1" dirty="0">
              <a:solidFill>
                <a:srgbClr val="7030A0"/>
              </a:solidFill>
            </a:endParaRPr>
          </a:p>
        </p:txBody>
      </p:sp>
    </p:spTree>
    <p:extLst>
      <p:ext uri="{BB962C8B-B14F-4D97-AF65-F5344CB8AC3E}">
        <p14:creationId xmlns:p14="http://schemas.microsoft.com/office/powerpoint/2010/main" val="7535945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123FD7-E40B-CC28-2378-AB6B0A8C7887}"/>
              </a:ext>
            </a:extLst>
          </p:cNvPr>
          <p:cNvSpPr>
            <a:spLocks noGrp="1"/>
          </p:cNvSpPr>
          <p:nvPr>
            <p:ph idx="1"/>
          </p:nvPr>
        </p:nvSpPr>
        <p:spPr>
          <a:xfrm>
            <a:off x="838200" y="587829"/>
            <a:ext cx="10515600" cy="5589134"/>
          </a:xfrm>
        </p:spPr>
        <p:txBody>
          <a:bodyPr/>
          <a:lstStyle/>
          <a:p>
            <a:pPr marL="0" indent="0">
              <a:buNone/>
            </a:pPr>
            <a:r>
              <a:rPr lang="en-IN" b="1" dirty="0">
                <a:solidFill>
                  <a:srgbClr val="7030A0"/>
                </a:solidFill>
              </a:rPr>
              <a:t>for loop have 5 types</a:t>
            </a:r>
          </a:p>
          <a:p>
            <a:r>
              <a:rPr lang="en-IN" dirty="0"/>
              <a:t>for  loop using  increment</a:t>
            </a:r>
          </a:p>
          <a:p>
            <a:r>
              <a:rPr lang="en-IN" dirty="0"/>
              <a:t>for  loop using  decrement</a:t>
            </a:r>
          </a:p>
          <a:p>
            <a:r>
              <a:rPr lang="en-IN" dirty="0"/>
              <a:t>for  loop using  infinity</a:t>
            </a:r>
          </a:p>
          <a:p>
            <a:r>
              <a:rPr lang="en-IN" dirty="0"/>
              <a:t>Nested for loop</a:t>
            </a:r>
          </a:p>
          <a:p>
            <a:pPr marL="0" indent="0">
              <a:buNone/>
            </a:pPr>
            <a:endParaRPr lang="en-IN" dirty="0"/>
          </a:p>
          <a:p>
            <a:endParaRPr lang="en-IN" dirty="0"/>
          </a:p>
        </p:txBody>
      </p:sp>
    </p:spTree>
    <p:extLst>
      <p:ext uri="{BB962C8B-B14F-4D97-AF65-F5344CB8AC3E}">
        <p14:creationId xmlns:p14="http://schemas.microsoft.com/office/powerpoint/2010/main" val="4701373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548681"/>
            <a:ext cx="8229600" cy="5577483"/>
          </a:xfrm>
        </p:spPr>
        <p:txBody>
          <a:bodyPr>
            <a:noAutofit/>
          </a:bodyPr>
          <a:lstStyle/>
          <a:p>
            <a:pPr marL="0" indent="0">
              <a:buNone/>
            </a:pPr>
            <a:r>
              <a:rPr lang="en-IN" sz="3000" b="1" dirty="0">
                <a:solidFill>
                  <a:srgbClr val="7030A0"/>
                </a:solidFill>
              </a:rPr>
              <a:t>While Loop</a:t>
            </a:r>
            <a:endParaRPr lang="en-US" sz="3000" dirty="0"/>
          </a:p>
          <a:p>
            <a:pPr marL="0" indent="0">
              <a:buNone/>
            </a:pPr>
            <a:r>
              <a:rPr lang="en-US" sz="3000" b="1" dirty="0">
                <a:solidFill>
                  <a:srgbClr val="7030A0"/>
                </a:solidFill>
              </a:rPr>
              <a:t>Syntax</a:t>
            </a:r>
          </a:p>
          <a:p>
            <a:pPr marL="0" indent="0">
              <a:buNone/>
            </a:pPr>
            <a:r>
              <a:rPr lang="en-US" sz="3000" b="1" dirty="0"/>
              <a:t>while</a:t>
            </a:r>
            <a:r>
              <a:rPr lang="en-US" sz="3000" dirty="0"/>
              <a:t> (condition){    </a:t>
            </a:r>
          </a:p>
          <a:p>
            <a:pPr marL="0" indent="0">
              <a:buNone/>
            </a:pPr>
            <a:r>
              <a:rPr lang="en-US" sz="3000" dirty="0"/>
              <a:t>//code to be executed   </a:t>
            </a:r>
          </a:p>
          <a:p>
            <a:pPr marL="0" indent="0">
              <a:buNone/>
            </a:pPr>
            <a:r>
              <a:rPr lang="en-US" sz="3000" dirty="0"/>
              <a:t>Increment / decrement statement  </a:t>
            </a:r>
          </a:p>
          <a:p>
            <a:pPr marL="0" indent="0">
              <a:buNone/>
            </a:pPr>
            <a:r>
              <a:rPr lang="en-US" sz="3000" dirty="0"/>
              <a:t>}    </a:t>
            </a:r>
          </a:p>
          <a:p>
            <a:pPr marL="0" indent="0">
              <a:buNone/>
            </a:pPr>
            <a:br>
              <a:rPr lang="en-US" sz="3000" dirty="0"/>
            </a:br>
            <a:endParaRPr lang="en-IN" sz="3000" dirty="0"/>
          </a:p>
        </p:txBody>
      </p:sp>
    </p:spTree>
    <p:extLst>
      <p:ext uri="{BB962C8B-B14F-4D97-AF65-F5344CB8AC3E}">
        <p14:creationId xmlns:p14="http://schemas.microsoft.com/office/powerpoint/2010/main" val="13154698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CFE72B-9CE7-E3FB-4AD4-6A933B5B610C}"/>
              </a:ext>
            </a:extLst>
          </p:cNvPr>
          <p:cNvSpPr>
            <a:spLocks noGrp="1"/>
          </p:cNvSpPr>
          <p:nvPr>
            <p:ph idx="1"/>
          </p:nvPr>
        </p:nvSpPr>
        <p:spPr>
          <a:xfrm>
            <a:off x="838200" y="811763"/>
            <a:ext cx="10515600" cy="5365200"/>
          </a:xfrm>
        </p:spPr>
        <p:txBody>
          <a:bodyPr/>
          <a:lstStyle/>
          <a:p>
            <a:pPr marL="0" indent="0">
              <a:buNone/>
            </a:pPr>
            <a:r>
              <a:rPr lang="en-IN" b="1" dirty="0">
                <a:solidFill>
                  <a:srgbClr val="7030A0"/>
                </a:solidFill>
              </a:rPr>
              <a:t>Types of While loop</a:t>
            </a:r>
          </a:p>
          <a:p>
            <a:r>
              <a:rPr lang="en-IN" dirty="0"/>
              <a:t>While loop using Increment</a:t>
            </a:r>
          </a:p>
          <a:p>
            <a:r>
              <a:rPr lang="en-IN" dirty="0"/>
              <a:t>While loop using decrement</a:t>
            </a:r>
          </a:p>
          <a:p>
            <a:r>
              <a:rPr lang="en-IN" dirty="0"/>
              <a:t>Infinity while loop</a:t>
            </a:r>
          </a:p>
        </p:txBody>
      </p:sp>
    </p:spTree>
    <p:extLst>
      <p:ext uri="{BB962C8B-B14F-4D97-AF65-F5344CB8AC3E}">
        <p14:creationId xmlns:p14="http://schemas.microsoft.com/office/powerpoint/2010/main" val="7056884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0465" y="476673"/>
            <a:ext cx="9520335" cy="5649491"/>
          </a:xfrm>
        </p:spPr>
        <p:txBody>
          <a:bodyPr>
            <a:normAutofit fontScale="25000" lnSpcReduction="20000"/>
          </a:bodyPr>
          <a:lstStyle/>
          <a:p>
            <a:pPr marL="0" indent="0">
              <a:buNone/>
            </a:pPr>
            <a:r>
              <a:rPr lang="en-IN" sz="12000" b="1" dirty="0">
                <a:solidFill>
                  <a:srgbClr val="7030A0"/>
                </a:solidFill>
              </a:rPr>
              <a:t>do-while Loop</a:t>
            </a:r>
          </a:p>
          <a:p>
            <a:r>
              <a:rPr lang="en-US" sz="12000" dirty="0"/>
              <a:t>If the number of iteration is not fixed and you must have to execute the loop at least once, it is recommended to use a do-while loop.</a:t>
            </a:r>
          </a:p>
          <a:p>
            <a:r>
              <a:rPr lang="en-US" sz="12000" b="1" dirty="0">
                <a:solidFill>
                  <a:srgbClr val="7030A0"/>
                </a:solidFill>
              </a:rPr>
              <a:t>Syntax:</a:t>
            </a:r>
          </a:p>
          <a:p>
            <a:pPr marL="0" indent="0">
              <a:buNone/>
            </a:pPr>
            <a:r>
              <a:rPr lang="en-US" sz="12000" b="1" dirty="0"/>
              <a:t>do</a:t>
            </a:r>
          </a:p>
          <a:p>
            <a:pPr marL="0" indent="0">
              <a:buNone/>
            </a:pPr>
            <a:r>
              <a:rPr lang="en-US" sz="12000" dirty="0"/>
              <a:t>{    </a:t>
            </a:r>
          </a:p>
          <a:p>
            <a:pPr marL="0" indent="0">
              <a:buNone/>
            </a:pPr>
            <a:r>
              <a:rPr lang="en-US" sz="12000" dirty="0"/>
              <a:t>//code to be executed / loop body  </a:t>
            </a:r>
          </a:p>
          <a:p>
            <a:pPr marL="0" indent="0">
              <a:buNone/>
            </a:pPr>
            <a:r>
              <a:rPr lang="en-US" sz="12000" dirty="0"/>
              <a:t>//update statement   </a:t>
            </a:r>
          </a:p>
          <a:p>
            <a:pPr marL="0" indent="0">
              <a:buNone/>
            </a:pPr>
            <a:r>
              <a:rPr lang="en-US" sz="12000" dirty="0"/>
              <a:t>}</a:t>
            </a:r>
            <a:r>
              <a:rPr lang="en-US" sz="12000" b="1" dirty="0"/>
              <a:t>while</a:t>
            </a:r>
            <a:r>
              <a:rPr lang="en-US" sz="12000" dirty="0"/>
              <a:t> (condition);  </a:t>
            </a:r>
          </a:p>
          <a:p>
            <a:pPr marL="0" indent="0">
              <a:buNone/>
            </a:pPr>
            <a:endParaRPr lang="en-US" sz="12000" dirty="0"/>
          </a:p>
          <a:p>
            <a:pPr marL="0" indent="0">
              <a:buNone/>
            </a:pPr>
            <a:r>
              <a:rPr lang="en-US" sz="12000" dirty="0"/>
              <a:t> </a:t>
            </a:r>
          </a:p>
          <a:p>
            <a:pPr marL="0" indent="0">
              <a:buNone/>
            </a:pPr>
            <a:br>
              <a:rPr lang="en-US" sz="12000" dirty="0"/>
            </a:br>
            <a:endParaRPr lang="en-IN" sz="12000" b="1" dirty="0">
              <a:solidFill>
                <a:srgbClr val="7030A0"/>
              </a:solidFill>
            </a:endParaRPr>
          </a:p>
          <a:p>
            <a:endParaRPr lang="en-IN" dirty="0"/>
          </a:p>
        </p:txBody>
      </p:sp>
    </p:spTree>
    <p:extLst>
      <p:ext uri="{BB962C8B-B14F-4D97-AF65-F5344CB8AC3E}">
        <p14:creationId xmlns:p14="http://schemas.microsoft.com/office/powerpoint/2010/main" val="9774743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9D54D-C386-754C-D377-A8070B57033D}"/>
              </a:ext>
            </a:extLst>
          </p:cNvPr>
          <p:cNvSpPr>
            <a:spLocks noGrp="1"/>
          </p:cNvSpPr>
          <p:nvPr>
            <p:ph type="title"/>
          </p:nvPr>
        </p:nvSpPr>
        <p:spPr/>
        <p:txBody>
          <a:bodyPr/>
          <a:lstStyle/>
          <a:p>
            <a:r>
              <a:rPr lang="en-IN" dirty="0"/>
              <a:t>Transfer or Jumping Statements</a:t>
            </a:r>
          </a:p>
        </p:txBody>
      </p:sp>
      <p:sp>
        <p:nvSpPr>
          <p:cNvPr id="3" name="Content Placeholder 2">
            <a:extLst>
              <a:ext uri="{FF2B5EF4-FFF2-40B4-BE49-F238E27FC236}">
                <a16:creationId xmlns:a16="http://schemas.microsoft.com/office/drawing/2014/main" id="{E5DEE5CB-26C4-2C34-0571-AECAE9493DEA}"/>
              </a:ext>
            </a:extLst>
          </p:cNvPr>
          <p:cNvSpPr>
            <a:spLocks noGrp="1"/>
          </p:cNvSpPr>
          <p:nvPr>
            <p:ph idx="1"/>
          </p:nvPr>
        </p:nvSpPr>
        <p:spPr/>
        <p:txBody>
          <a:bodyPr/>
          <a:lstStyle/>
          <a:p>
            <a:r>
              <a:rPr lang="en-US" b="0" i="0" dirty="0">
                <a:solidFill>
                  <a:srgbClr val="040C28"/>
                </a:solidFill>
                <a:effectLst/>
              </a:rPr>
              <a:t>Jumping statements are control statements that transfer execution control from one point to another point in the program</a:t>
            </a:r>
            <a:r>
              <a:rPr lang="en-US" b="0" i="0" dirty="0">
                <a:solidFill>
                  <a:srgbClr val="202124"/>
                </a:solidFill>
                <a:effectLst/>
              </a:rPr>
              <a:t>.</a:t>
            </a:r>
          </a:p>
          <a:p>
            <a:r>
              <a:rPr lang="en-US" b="0" i="0" dirty="0">
                <a:solidFill>
                  <a:srgbClr val="202124"/>
                </a:solidFill>
                <a:effectLst/>
              </a:rPr>
              <a:t> </a:t>
            </a:r>
            <a:r>
              <a:rPr lang="en-US" b="1" dirty="0">
                <a:solidFill>
                  <a:srgbClr val="7030A0"/>
                </a:solidFill>
              </a:rPr>
              <a:t>b</a:t>
            </a:r>
            <a:r>
              <a:rPr lang="en-US" b="1" i="0" dirty="0">
                <a:solidFill>
                  <a:srgbClr val="7030A0"/>
                </a:solidFill>
                <a:effectLst/>
              </a:rPr>
              <a:t>reak statement.</a:t>
            </a:r>
          </a:p>
          <a:p>
            <a:r>
              <a:rPr lang="en-US" b="1" i="0" dirty="0">
                <a:solidFill>
                  <a:srgbClr val="7030A0"/>
                </a:solidFill>
                <a:effectLst/>
              </a:rPr>
              <a:t> continue statement</a:t>
            </a:r>
            <a:r>
              <a:rPr lang="en-US" b="1" i="0" dirty="0">
                <a:solidFill>
                  <a:srgbClr val="7030A0"/>
                </a:solidFill>
                <a:effectLst/>
                <a:latin typeface="Google Sans"/>
              </a:rPr>
              <a:t>.</a:t>
            </a:r>
          </a:p>
          <a:p>
            <a:r>
              <a:rPr lang="en-US" b="1" dirty="0" err="1">
                <a:solidFill>
                  <a:srgbClr val="7030A0"/>
                </a:solidFill>
                <a:latin typeface="Google Sans"/>
              </a:rPr>
              <a:t>goto</a:t>
            </a:r>
            <a:r>
              <a:rPr lang="en-US" b="1" dirty="0">
                <a:solidFill>
                  <a:srgbClr val="7030A0"/>
                </a:solidFill>
                <a:latin typeface="Google Sans"/>
              </a:rPr>
              <a:t> </a:t>
            </a:r>
            <a:r>
              <a:rPr lang="en-US" b="1" i="0" dirty="0">
                <a:solidFill>
                  <a:srgbClr val="7030A0"/>
                </a:solidFill>
                <a:effectLst/>
              </a:rPr>
              <a:t>statement</a:t>
            </a:r>
            <a:r>
              <a:rPr lang="en-US" b="1" i="0" dirty="0">
                <a:solidFill>
                  <a:srgbClr val="7030A0"/>
                </a:solidFill>
                <a:effectLst/>
                <a:latin typeface="Google Sans"/>
              </a:rPr>
              <a:t>.</a:t>
            </a:r>
            <a:endParaRPr lang="en-IN" b="1" dirty="0">
              <a:solidFill>
                <a:srgbClr val="7030A0"/>
              </a:solidFill>
            </a:endParaRPr>
          </a:p>
        </p:txBody>
      </p:sp>
    </p:spTree>
    <p:extLst>
      <p:ext uri="{BB962C8B-B14F-4D97-AF65-F5344CB8AC3E}">
        <p14:creationId xmlns:p14="http://schemas.microsoft.com/office/powerpoint/2010/main" val="23301475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FC2150-B28C-DDFC-3324-2A154CB9B5E2}"/>
              </a:ext>
            </a:extLst>
          </p:cNvPr>
          <p:cNvSpPr>
            <a:spLocks noGrp="1"/>
          </p:cNvSpPr>
          <p:nvPr>
            <p:ph idx="1"/>
          </p:nvPr>
        </p:nvSpPr>
        <p:spPr>
          <a:xfrm>
            <a:off x="838200" y="597159"/>
            <a:ext cx="10515600" cy="5579804"/>
          </a:xfrm>
        </p:spPr>
        <p:txBody>
          <a:bodyPr/>
          <a:lstStyle/>
          <a:p>
            <a:pPr marL="0" indent="0">
              <a:buNone/>
            </a:pPr>
            <a:r>
              <a:rPr lang="en-IN" b="1" dirty="0">
                <a:solidFill>
                  <a:srgbClr val="7030A0"/>
                </a:solidFill>
              </a:rPr>
              <a:t>Break Statement</a:t>
            </a:r>
          </a:p>
          <a:p>
            <a:r>
              <a:rPr lang="en-US" sz="2800" dirty="0"/>
              <a:t>The </a:t>
            </a:r>
            <a:r>
              <a:rPr lang="en-US" dirty="0"/>
              <a:t>C</a:t>
            </a:r>
            <a:r>
              <a:rPr lang="en-US" sz="2800" dirty="0"/>
              <a:t> </a:t>
            </a:r>
            <a:r>
              <a:rPr lang="en-US" sz="2800" i="1" dirty="0"/>
              <a:t>break</a:t>
            </a:r>
            <a:r>
              <a:rPr lang="en-US" sz="2800" dirty="0"/>
              <a:t> statement is used to break loop or </a:t>
            </a:r>
            <a:r>
              <a:rPr lang="en-US" sz="2800" dirty="0">
                <a:hlinkClick r:id="rId2"/>
              </a:rPr>
              <a:t>switch</a:t>
            </a:r>
            <a:r>
              <a:rPr lang="en-US" sz="2800" dirty="0"/>
              <a:t> statement. It breaks the current flow of the program at specified condition.</a:t>
            </a:r>
          </a:p>
          <a:p>
            <a:r>
              <a:rPr lang="en-US" sz="2800" dirty="0"/>
              <a:t> In case of inner loop, it breaks only inner loop.</a:t>
            </a:r>
          </a:p>
          <a:p>
            <a:pPr marL="0" indent="0">
              <a:buNone/>
            </a:pPr>
            <a:r>
              <a:rPr lang="en-US" sz="2800" b="1" dirty="0">
                <a:solidFill>
                  <a:srgbClr val="7030A0"/>
                </a:solidFill>
              </a:rPr>
              <a:t>   Syntax:</a:t>
            </a:r>
          </a:p>
          <a:p>
            <a:pPr marL="0" indent="0">
              <a:buNone/>
            </a:pPr>
            <a:r>
              <a:rPr lang="en-IN" sz="2800" dirty="0"/>
              <a:t>   jump-statement;    </a:t>
            </a:r>
          </a:p>
          <a:p>
            <a:pPr marL="0" indent="0">
              <a:buNone/>
            </a:pPr>
            <a:r>
              <a:rPr lang="en-IN" sz="2800" b="1" dirty="0"/>
              <a:t>   break</a:t>
            </a:r>
            <a:r>
              <a:rPr lang="en-IN" sz="2800" dirty="0"/>
              <a:t>;  </a:t>
            </a:r>
          </a:p>
          <a:p>
            <a:pPr marL="0" indent="0">
              <a:buNone/>
            </a:pPr>
            <a:endParaRPr lang="en-IN" dirty="0"/>
          </a:p>
        </p:txBody>
      </p:sp>
    </p:spTree>
    <p:extLst>
      <p:ext uri="{BB962C8B-B14F-4D97-AF65-F5344CB8AC3E}">
        <p14:creationId xmlns:p14="http://schemas.microsoft.com/office/powerpoint/2010/main" val="4724013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5303A3-F187-C32F-7847-24E7E5AE7FC3}"/>
              </a:ext>
            </a:extLst>
          </p:cNvPr>
          <p:cNvSpPr>
            <a:spLocks noGrp="1"/>
          </p:cNvSpPr>
          <p:nvPr>
            <p:ph idx="1"/>
          </p:nvPr>
        </p:nvSpPr>
        <p:spPr>
          <a:xfrm>
            <a:off x="838200" y="625151"/>
            <a:ext cx="10515600" cy="5551812"/>
          </a:xfrm>
        </p:spPr>
        <p:txBody>
          <a:bodyPr/>
          <a:lstStyle/>
          <a:p>
            <a:pPr marL="0" indent="0">
              <a:buNone/>
            </a:pPr>
            <a:r>
              <a:rPr lang="en-IN" b="1" dirty="0">
                <a:solidFill>
                  <a:srgbClr val="7030A0"/>
                </a:solidFill>
              </a:rPr>
              <a:t>Continue Statement</a:t>
            </a:r>
          </a:p>
          <a:p>
            <a:r>
              <a:rPr lang="en-US" sz="2800" dirty="0"/>
              <a:t>The </a:t>
            </a:r>
            <a:r>
              <a:rPr lang="en-US" dirty="0"/>
              <a:t>C</a:t>
            </a:r>
            <a:r>
              <a:rPr lang="en-US" sz="2800" b="1" dirty="0">
                <a:solidFill>
                  <a:srgbClr val="7030A0"/>
                </a:solidFill>
              </a:rPr>
              <a:t> </a:t>
            </a:r>
            <a:r>
              <a:rPr lang="en-US" sz="2800" b="1" i="1" dirty="0">
                <a:solidFill>
                  <a:srgbClr val="7030A0"/>
                </a:solidFill>
              </a:rPr>
              <a:t>continue statement</a:t>
            </a:r>
            <a:r>
              <a:rPr lang="en-US" sz="2800" dirty="0"/>
              <a:t> is used to </a:t>
            </a:r>
            <a:r>
              <a:rPr lang="en-US" sz="2800" b="1" dirty="0">
                <a:solidFill>
                  <a:srgbClr val="7030A0"/>
                </a:solidFill>
              </a:rPr>
              <a:t>continue the loop.</a:t>
            </a:r>
            <a:r>
              <a:rPr lang="en-US" sz="2800" dirty="0"/>
              <a:t> </a:t>
            </a:r>
          </a:p>
          <a:p>
            <a:r>
              <a:rPr lang="en-US" sz="2800" dirty="0"/>
              <a:t>It continues the </a:t>
            </a:r>
            <a:r>
              <a:rPr lang="en-US" sz="2800" b="1" dirty="0">
                <a:solidFill>
                  <a:srgbClr val="7030A0"/>
                </a:solidFill>
              </a:rPr>
              <a:t>current flow </a:t>
            </a:r>
            <a:r>
              <a:rPr lang="en-US" sz="2800" dirty="0"/>
              <a:t>of the program and </a:t>
            </a:r>
            <a:r>
              <a:rPr lang="en-US" sz="2800" b="1" dirty="0">
                <a:solidFill>
                  <a:srgbClr val="7030A0"/>
                </a:solidFill>
              </a:rPr>
              <a:t>skips the remaining code </a:t>
            </a:r>
            <a:r>
              <a:rPr lang="en-US" sz="2800" dirty="0"/>
              <a:t>at the specified condition.</a:t>
            </a:r>
          </a:p>
          <a:p>
            <a:r>
              <a:rPr lang="en-US" sz="2800" dirty="0"/>
              <a:t> </a:t>
            </a:r>
            <a:r>
              <a:rPr lang="en-US" sz="2800" b="1" dirty="0">
                <a:solidFill>
                  <a:srgbClr val="7030A0"/>
                </a:solidFill>
              </a:rPr>
              <a:t>In case of an inner loop, it continues the inner loop only.</a:t>
            </a:r>
          </a:p>
          <a:p>
            <a:pPr marL="0" indent="0">
              <a:buNone/>
            </a:pPr>
            <a:r>
              <a:rPr lang="en-IN" sz="2800" b="1" dirty="0">
                <a:solidFill>
                  <a:srgbClr val="7030A0"/>
                </a:solidFill>
              </a:rPr>
              <a:t>Syntax:</a:t>
            </a:r>
          </a:p>
          <a:p>
            <a:pPr marL="0" indent="0">
              <a:buNone/>
            </a:pPr>
            <a:r>
              <a:rPr lang="en-IN" sz="2800" dirty="0"/>
              <a:t>         jump-statement;    </a:t>
            </a:r>
          </a:p>
          <a:p>
            <a:pPr marL="0" indent="0">
              <a:buNone/>
            </a:pPr>
            <a:r>
              <a:rPr lang="en-IN" sz="2800" b="1" dirty="0"/>
              <a:t>         continue</a:t>
            </a:r>
            <a:r>
              <a:rPr lang="en-IN" sz="2800" dirty="0"/>
              <a:t>;  </a:t>
            </a:r>
          </a:p>
          <a:p>
            <a:pPr marL="0" indent="0">
              <a:buNone/>
            </a:pPr>
            <a:endParaRPr lang="en-IN" sz="2800" b="1" dirty="0">
              <a:solidFill>
                <a:srgbClr val="7030A0"/>
              </a:solidFill>
            </a:endParaRPr>
          </a:p>
          <a:p>
            <a:endParaRPr lang="en-IN" dirty="0"/>
          </a:p>
        </p:txBody>
      </p:sp>
    </p:spTree>
    <p:extLst>
      <p:ext uri="{BB962C8B-B14F-4D97-AF65-F5344CB8AC3E}">
        <p14:creationId xmlns:p14="http://schemas.microsoft.com/office/powerpoint/2010/main" val="35153351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082A1F-2559-B742-FBCE-16A394F70C2B}"/>
              </a:ext>
            </a:extLst>
          </p:cNvPr>
          <p:cNvSpPr>
            <a:spLocks noGrp="1"/>
          </p:cNvSpPr>
          <p:nvPr>
            <p:ph idx="1"/>
          </p:nvPr>
        </p:nvSpPr>
        <p:spPr>
          <a:xfrm>
            <a:off x="838200" y="531845"/>
            <a:ext cx="10515600" cy="5645118"/>
          </a:xfrm>
        </p:spPr>
        <p:txBody>
          <a:bodyPr/>
          <a:lstStyle/>
          <a:p>
            <a:r>
              <a:rPr lang="en-IN" b="1" dirty="0" err="1">
                <a:solidFill>
                  <a:srgbClr val="7030A0"/>
                </a:solidFill>
              </a:rPr>
              <a:t>goto</a:t>
            </a:r>
            <a:r>
              <a:rPr lang="en-IN" b="1" dirty="0">
                <a:solidFill>
                  <a:srgbClr val="7030A0"/>
                </a:solidFill>
              </a:rPr>
              <a:t> Statement</a:t>
            </a:r>
          </a:p>
          <a:p>
            <a:pPr>
              <a:lnSpc>
                <a:spcPct val="150000"/>
              </a:lnSpc>
            </a:pPr>
            <a:r>
              <a:rPr lang="en-US" b="0" i="0" dirty="0">
                <a:solidFill>
                  <a:srgbClr val="333333"/>
                </a:solidFill>
                <a:effectLst/>
              </a:rPr>
              <a:t>The </a:t>
            </a:r>
            <a:r>
              <a:rPr lang="en-US" b="0" i="0" dirty="0" err="1">
                <a:solidFill>
                  <a:srgbClr val="333333"/>
                </a:solidFill>
                <a:effectLst/>
              </a:rPr>
              <a:t>goto</a:t>
            </a:r>
            <a:r>
              <a:rPr lang="en-US" b="0" i="0" dirty="0">
                <a:solidFill>
                  <a:srgbClr val="333333"/>
                </a:solidFill>
                <a:effectLst/>
              </a:rPr>
              <a:t> statement is known as jump statement in C.</a:t>
            </a:r>
          </a:p>
          <a:p>
            <a:pPr>
              <a:lnSpc>
                <a:spcPct val="150000"/>
              </a:lnSpc>
            </a:pPr>
            <a:r>
              <a:rPr lang="en-US" b="0" i="0" dirty="0">
                <a:solidFill>
                  <a:srgbClr val="333333"/>
                </a:solidFill>
                <a:effectLst/>
              </a:rPr>
              <a:t> As the name suggests, </a:t>
            </a:r>
            <a:r>
              <a:rPr lang="en-US" b="0" i="0" dirty="0" err="1">
                <a:solidFill>
                  <a:srgbClr val="333333"/>
                </a:solidFill>
                <a:effectLst/>
              </a:rPr>
              <a:t>goto</a:t>
            </a:r>
            <a:r>
              <a:rPr lang="en-US" b="0" i="0" dirty="0">
                <a:solidFill>
                  <a:srgbClr val="333333"/>
                </a:solidFill>
                <a:effectLst/>
              </a:rPr>
              <a:t> is used to transfer the program control to a predefined label.</a:t>
            </a:r>
          </a:p>
          <a:p>
            <a:pPr>
              <a:lnSpc>
                <a:spcPct val="150000"/>
              </a:lnSpc>
            </a:pPr>
            <a:r>
              <a:rPr lang="en-US" b="0" i="0" dirty="0">
                <a:solidFill>
                  <a:srgbClr val="333333"/>
                </a:solidFill>
                <a:effectLst/>
              </a:rPr>
              <a:t> The </a:t>
            </a:r>
            <a:r>
              <a:rPr lang="en-US" b="0" i="0" dirty="0" err="1">
                <a:solidFill>
                  <a:srgbClr val="333333"/>
                </a:solidFill>
                <a:effectLst/>
              </a:rPr>
              <a:t>goto</a:t>
            </a:r>
            <a:r>
              <a:rPr lang="en-US" b="0" i="0" dirty="0">
                <a:solidFill>
                  <a:srgbClr val="333333"/>
                </a:solidFill>
                <a:effectLst/>
              </a:rPr>
              <a:t> </a:t>
            </a:r>
            <a:r>
              <a:rPr lang="en-US" b="0" i="0" dirty="0" err="1">
                <a:solidFill>
                  <a:srgbClr val="333333"/>
                </a:solidFill>
                <a:effectLst/>
              </a:rPr>
              <a:t>statment</a:t>
            </a:r>
            <a:r>
              <a:rPr lang="en-US" b="0" i="0" dirty="0">
                <a:solidFill>
                  <a:srgbClr val="333333"/>
                </a:solidFill>
                <a:effectLst/>
              </a:rPr>
              <a:t> can be used to repeat some part of the code for a particular condition</a:t>
            </a:r>
            <a:endParaRPr lang="en-IN" b="1" dirty="0">
              <a:solidFill>
                <a:srgbClr val="7030A0"/>
              </a:solidFill>
            </a:endParaRPr>
          </a:p>
          <a:p>
            <a:endParaRPr lang="en-IN" dirty="0"/>
          </a:p>
        </p:txBody>
      </p:sp>
    </p:spTree>
    <p:extLst>
      <p:ext uri="{BB962C8B-B14F-4D97-AF65-F5344CB8AC3E}">
        <p14:creationId xmlns:p14="http://schemas.microsoft.com/office/powerpoint/2010/main" val="11742119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4D1CD9-7412-611A-098F-9AE2C0A9ADB9}"/>
              </a:ext>
            </a:extLst>
          </p:cNvPr>
          <p:cNvSpPr>
            <a:spLocks noGrp="1"/>
          </p:cNvSpPr>
          <p:nvPr>
            <p:ph idx="1"/>
          </p:nvPr>
        </p:nvSpPr>
        <p:spPr>
          <a:xfrm>
            <a:off x="838200" y="615820"/>
            <a:ext cx="10515600" cy="5561143"/>
          </a:xfrm>
        </p:spPr>
        <p:txBody>
          <a:bodyPr>
            <a:normAutofit/>
          </a:bodyPr>
          <a:lstStyle/>
          <a:p>
            <a:pPr marL="0" indent="0" algn="just">
              <a:buNone/>
            </a:pPr>
            <a:r>
              <a:rPr lang="en-IN" b="0" i="0" dirty="0">
                <a:solidFill>
                  <a:srgbClr val="0000FF"/>
                </a:solidFill>
                <a:effectLst/>
              </a:rPr>
              <a:t>Example</a:t>
            </a:r>
          </a:p>
          <a:p>
            <a:pPr marL="0" indent="0">
              <a:buNone/>
            </a:pPr>
            <a:r>
              <a:rPr lang="en-IN" dirty="0"/>
              <a:t>#include &lt;</a:t>
            </a:r>
            <a:r>
              <a:rPr lang="en-IN" dirty="0" err="1"/>
              <a:t>stdio.h</a:t>
            </a:r>
            <a:r>
              <a:rPr lang="en-IN" dirty="0"/>
              <a:t>&gt;</a:t>
            </a:r>
          </a:p>
          <a:p>
            <a:pPr marL="0" indent="0">
              <a:buNone/>
            </a:pPr>
            <a:r>
              <a:rPr lang="en-IN" dirty="0"/>
              <a:t>int main()</a:t>
            </a:r>
          </a:p>
          <a:p>
            <a:pPr marL="0" indent="0">
              <a:buNone/>
            </a:pPr>
            <a:r>
              <a:rPr lang="en-IN" dirty="0"/>
              <a:t>{</a:t>
            </a:r>
          </a:p>
          <a:p>
            <a:pPr marL="0" indent="0">
              <a:buNone/>
            </a:pPr>
            <a:r>
              <a:rPr lang="en-IN" dirty="0"/>
              <a:t>  </a:t>
            </a:r>
            <a:r>
              <a:rPr lang="en-IN" dirty="0" err="1"/>
              <a:t>printf</a:t>
            </a:r>
            <a:r>
              <a:rPr lang="en-IN" dirty="0"/>
              <a:t>("hi\n");</a:t>
            </a:r>
          </a:p>
          <a:p>
            <a:pPr marL="0" indent="0">
              <a:buNone/>
            </a:pPr>
            <a:r>
              <a:rPr lang="en-IN" dirty="0"/>
              <a:t>  </a:t>
            </a:r>
            <a:r>
              <a:rPr lang="en-IN" dirty="0" err="1"/>
              <a:t>goto</a:t>
            </a:r>
            <a:r>
              <a:rPr lang="en-IN" dirty="0"/>
              <a:t> </a:t>
            </a:r>
            <a:r>
              <a:rPr lang="en-IN" dirty="0" err="1"/>
              <a:t>kokila</a:t>
            </a:r>
            <a:r>
              <a:rPr lang="en-IN" dirty="0"/>
              <a:t>;</a:t>
            </a:r>
          </a:p>
          <a:p>
            <a:pPr marL="0" indent="0">
              <a:buNone/>
            </a:pPr>
            <a:r>
              <a:rPr lang="en-IN" dirty="0"/>
              <a:t>  </a:t>
            </a:r>
            <a:r>
              <a:rPr lang="en-IN" dirty="0" err="1"/>
              <a:t>printf</a:t>
            </a:r>
            <a:r>
              <a:rPr lang="en-IN" dirty="0"/>
              <a:t>("ga\n");</a:t>
            </a:r>
          </a:p>
          <a:p>
            <a:pPr marL="0" indent="0">
              <a:buNone/>
            </a:pPr>
            <a:r>
              <a:rPr lang="en-IN" dirty="0"/>
              <a:t>  </a:t>
            </a:r>
            <a:r>
              <a:rPr lang="en-IN" dirty="0" err="1"/>
              <a:t>kokila:printf</a:t>
            </a:r>
            <a:r>
              <a:rPr lang="en-IN" dirty="0"/>
              <a:t>("bye");</a:t>
            </a:r>
          </a:p>
          <a:p>
            <a:pPr marL="0" indent="0">
              <a:buNone/>
            </a:pPr>
            <a:r>
              <a:rPr lang="en-IN" dirty="0"/>
              <a:t>}</a:t>
            </a:r>
          </a:p>
        </p:txBody>
      </p:sp>
    </p:spTree>
    <p:extLst>
      <p:ext uri="{BB962C8B-B14F-4D97-AF65-F5344CB8AC3E}">
        <p14:creationId xmlns:p14="http://schemas.microsoft.com/office/powerpoint/2010/main" val="31854907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0D1E66-53F4-7600-7AF1-24029BB94B68}"/>
              </a:ext>
            </a:extLst>
          </p:cNvPr>
          <p:cNvSpPr>
            <a:spLocks noGrp="1"/>
          </p:cNvSpPr>
          <p:nvPr>
            <p:ph idx="1"/>
          </p:nvPr>
        </p:nvSpPr>
        <p:spPr>
          <a:xfrm>
            <a:off x="940837" y="522514"/>
            <a:ext cx="10515600" cy="5682441"/>
          </a:xfrm>
        </p:spPr>
        <p:txBody>
          <a:bodyPr/>
          <a:lstStyle/>
          <a:p>
            <a:pPr marL="0" indent="0">
              <a:buNone/>
            </a:pPr>
            <a:r>
              <a:rPr lang="en-US" sz="3200" b="1" dirty="0">
                <a:solidFill>
                  <a:srgbClr val="7030A0"/>
                </a:solidFill>
                <a:latin typeface="Calibri" panose="020F0502020204030204" pitchFamily="34" charset="0"/>
                <a:cs typeface="Calibri" panose="020F0502020204030204" pitchFamily="34" charset="0"/>
              </a:rPr>
              <a:t>Arrays in c</a:t>
            </a:r>
          </a:p>
          <a:p>
            <a:pPr>
              <a:lnSpc>
                <a:spcPct val="150000"/>
              </a:lnSpc>
            </a:pPr>
            <a:r>
              <a:rPr lang="en-US" sz="2800" dirty="0">
                <a:latin typeface="Calibri" panose="020F0502020204030204" pitchFamily="34" charset="0"/>
                <a:cs typeface="Calibri" panose="020F0502020204030204" pitchFamily="34" charset="0"/>
              </a:rPr>
              <a:t>An array is defined as the collection of similar type of data items stored at contiguous memory locations.</a:t>
            </a:r>
          </a:p>
          <a:p>
            <a:pPr>
              <a:lnSpc>
                <a:spcPct val="150000"/>
              </a:lnSpc>
            </a:pPr>
            <a:r>
              <a:rPr lang="en-US" sz="2800" dirty="0">
                <a:latin typeface="Calibri" panose="020F0502020204030204" pitchFamily="34" charset="0"/>
                <a:cs typeface="Calibri" panose="020F0502020204030204" pitchFamily="34" charset="0"/>
              </a:rPr>
              <a:t> int Numbers[] = {90, 50, 60, 100}; To access an array element, refer to its index number.</a:t>
            </a:r>
          </a:p>
          <a:p>
            <a:pPr>
              <a:lnSpc>
                <a:spcPct val="150000"/>
              </a:lnSpc>
            </a:pPr>
            <a:r>
              <a:rPr lang="en-US" sz="2800" dirty="0">
                <a:latin typeface="Calibri" panose="020F0502020204030204" pitchFamily="34" charset="0"/>
                <a:cs typeface="Calibri" panose="020F0502020204030204" pitchFamily="34" charset="0"/>
              </a:rPr>
              <a:t> Array indexes start with 0: [0] is the first element. [1] is the second element, </a:t>
            </a:r>
            <a:r>
              <a:rPr lang="en-US" sz="2800" dirty="0" err="1">
                <a:latin typeface="Calibri" panose="020F0502020204030204" pitchFamily="34" charset="0"/>
                <a:cs typeface="Calibri" panose="020F0502020204030204" pitchFamily="34" charset="0"/>
              </a:rPr>
              <a:t>etc</a:t>
            </a:r>
            <a:endParaRPr lang="en-US" sz="2800" dirty="0">
              <a:latin typeface="Calibri" panose="020F0502020204030204" pitchFamily="34" charset="0"/>
              <a:cs typeface="Calibri" panose="020F0502020204030204" pitchFamily="34" charset="0"/>
            </a:endParaRPr>
          </a:p>
          <a:p>
            <a:pPr marL="0" indent="0">
              <a:buNone/>
            </a:pPr>
            <a:endParaRPr lang="en-IN" dirty="0"/>
          </a:p>
        </p:txBody>
      </p:sp>
    </p:spTree>
    <p:extLst>
      <p:ext uri="{BB962C8B-B14F-4D97-AF65-F5344CB8AC3E}">
        <p14:creationId xmlns:p14="http://schemas.microsoft.com/office/powerpoint/2010/main" val="28035045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57C8F3-2341-079E-EAC4-4F9AF55ED3B8}"/>
              </a:ext>
            </a:extLst>
          </p:cNvPr>
          <p:cNvSpPr>
            <a:spLocks noGrp="1"/>
          </p:cNvSpPr>
          <p:nvPr>
            <p:ph idx="1"/>
          </p:nvPr>
        </p:nvSpPr>
        <p:spPr>
          <a:xfrm>
            <a:off x="838200" y="541176"/>
            <a:ext cx="10515600" cy="5635787"/>
          </a:xfrm>
        </p:spPr>
        <p:txBody>
          <a:bodyPr/>
          <a:lstStyle/>
          <a:p>
            <a:r>
              <a:rPr lang="en-US" dirty="0"/>
              <a:t>An array is </a:t>
            </a:r>
            <a:r>
              <a:rPr lang="en-US" b="1" dirty="0"/>
              <a:t>a container object that holds a fixed number of values of a single type</a:t>
            </a:r>
            <a:r>
              <a:rPr lang="en-US" dirty="0"/>
              <a:t>. The length of an array is established when the array is created. After creation, its length is fixed. </a:t>
            </a:r>
          </a:p>
          <a:p>
            <a:endParaRPr lang="en-US" dirty="0"/>
          </a:p>
          <a:p>
            <a:endParaRPr lang="en-US" dirty="0"/>
          </a:p>
          <a:p>
            <a:endParaRPr lang="en-US" dirty="0"/>
          </a:p>
          <a:p>
            <a:endParaRPr lang="en-US" dirty="0"/>
          </a:p>
          <a:p>
            <a:r>
              <a:rPr lang="en-US" b="1" dirty="0"/>
              <a:t>Real time Example:</a:t>
            </a:r>
          </a:p>
          <a:p>
            <a:r>
              <a:rPr lang="en-US" b="1" dirty="0"/>
              <a:t>Mobile number saving.</a:t>
            </a:r>
          </a:p>
          <a:p>
            <a:r>
              <a:rPr lang="en-US" b="1" dirty="0"/>
              <a:t>Show room.</a:t>
            </a:r>
          </a:p>
          <a:p>
            <a:endParaRPr lang="en-IN" dirty="0"/>
          </a:p>
        </p:txBody>
      </p:sp>
      <p:pic>
        <p:nvPicPr>
          <p:cNvPr id="4" name="Picture 2" descr="C:\Users\STAFF\Desktop\Kokila\array.gif">
            <a:extLst>
              <a:ext uri="{FF2B5EF4-FFF2-40B4-BE49-F238E27FC236}">
                <a16:creationId xmlns:a16="http://schemas.microsoft.com/office/drawing/2014/main" id="{67AC5FB1-F43E-E96C-B978-2DCDCDB029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0733" y="1941422"/>
            <a:ext cx="5688632" cy="1584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853243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0094B4-BD0D-6CC3-28F9-4E7485EDF780}"/>
              </a:ext>
            </a:extLst>
          </p:cNvPr>
          <p:cNvSpPr>
            <a:spLocks noGrp="1"/>
          </p:cNvSpPr>
          <p:nvPr>
            <p:ph idx="1"/>
          </p:nvPr>
        </p:nvSpPr>
        <p:spPr>
          <a:xfrm>
            <a:off x="838200" y="653143"/>
            <a:ext cx="10515600" cy="5523820"/>
          </a:xfrm>
        </p:spPr>
        <p:txBody>
          <a:bodyPr/>
          <a:lstStyle/>
          <a:p>
            <a:pPr marL="0" indent="0">
              <a:buNone/>
            </a:pPr>
            <a:r>
              <a:rPr lang="en-US" b="1" dirty="0">
                <a:solidFill>
                  <a:srgbClr val="7030A0"/>
                </a:solidFill>
              </a:rPr>
              <a:t>Advantages</a:t>
            </a:r>
          </a:p>
          <a:p>
            <a:r>
              <a:rPr lang="en-US" sz="2800" b="1" dirty="0">
                <a:solidFill>
                  <a:srgbClr val="7030A0"/>
                </a:solidFill>
              </a:rPr>
              <a:t>Code Optimization</a:t>
            </a:r>
            <a:r>
              <a:rPr lang="en-US" sz="2800" b="1" dirty="0"/>
              <a:t>:</a:t>
            </a:r>
            <a:r>
              <a:rPr lang="en-US" sz="2800" dirty="0"/>
              <a:t> It makes the code optimized, we can retrieve or sort the data efficiently.</a:t>
            </a:r>
          </a:p>
          <a:p>
            <a:r>
              <a:rPr lang="en-US" sz="2800" b="1" dirty="0">
                <a:solidFill>
                  <a:srgbClr val="7030A0"/>
                </a:solidFill>
              </a:rPr>
              <a:t>Random access:</a:t>
            </a:r>
            <a:r>
              <a:rPr lang="en-US" sz="2800" dirty="0"/>
              <a:t> We can get any data located at an index position.</a:t>
            </a:r>
          </a:p>
          <a:p>
            <a:pPr marL="0" indent="0">
              <a:buNone/>
            </a:pPr>
            <a:r>
              <a:rPr lang="en-IN" b="1" dirty="0">
                <a:solidFill>
                  <a:srgbClr val="7030A0"/>
                </a:solidFill>
              </a:rPr>
              <a:t>Disadvantages</a:t>
            </a:r>
          </a:p>
          <a:p>
            <a:r>
              <a:rPr lang="en-US" sz="2400" b="1" dirty="0">
                <a:solidFill>
                  <a:srgbClr val="7030A0"/>
                </a:solidFill>
                <a:latin typeface="Calibri" panose="020F0502020204030204" pitchFamily="34" charset="0"/>
                <a:cs typeface="Calibri" panose="020F0502020204030204" pitchFamily="34" charset="0"/>
              </a:rPr>
              <a:t>Size Limit:</a:t>
            </a:r>
            <a:r>
              <a:rPr lang="en-US" sz="2400" dirty="0">
                <a:latin typeface="Calibri" panose="020F0502020204030204" pitchFamily="34" charset="0"/>
                <a:cs typeface="Calibri" panose="020F0502020204030204" pitchFamily="34" charset="0"/>
              </a:rPr>
              <a:t> We can store only the fixed size of elements in the array. It doesn't grow its size at runtime.</a:t>
            </a:r>
            <a:endParaRPr lang="en-IN" sz="2400" b="1" dirty="0">
              <a:solidFill>
                <a:srgbClr val="7030A0"/>
              </a:solidFill>
              <a:latin typeface="Calibri" panose="020F0502020204030204" pitchFamily="34" charset="0"/>
              <a:cs typeface="Calibri" panose="020F0502020204030204" pitchFamily="34" charset="0"/>
            </a:endParaRPr>
          </a:p>
          <a:p>
            <a:endParaRPr lang="en-IN" dirty="0"/>
          </a:p>
        </p:txBody>
      </p:sp>
    </p:spTree>
    <p:extLst>
      <p:ext uri="{BB962C8B-B14F-4D97-AF65-F5344CB8AC3E}">
        <p14:creationId xmlns:p14="http://schemas.microsoft.com/office/powerpoint/2010/main" val="2909968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6A1F0C-B1B8-7FCB-7CEC-DEFA774420C9}"/>
              </a:ext>
            </a:extLst>
          </p:cNvPr>
          <p:cNvSpPr>
            <a:spLocks noGrp="1"/>
          </p:cNvSpPr>
          <p:nvPr>
            <p:ph idx="1"/>
          </p:nvPr>
        </p:nvSpPr>
        <p:spPr>
          <a:xfrm>
            <a:off x="838200" y="587829"/>
            <a:ext cx="10515600" cy="5589134"/>
          </a:xfrm>
        </p:spPr>
        <p:txBody>
          <a:bodyPr/>
          <a:lstStyle/>
          <a:p>
            <a:pPr marL="0" indent="0">
              <a:buNone/>
            </a:pPr>
            <a:r>
              <a:rPr lang="en-US" b="1" dirty="0">
                <a:solidFill>
                  <a:srgbClr val="7030A0"/>
                </a:solidFill>
              </a:rPr>
              <a:t>Types of Array in java</a:t>
            </a:r>
          </a:p>
          <a:p>
            <a:pPr marL="0" indent="0">
              <a:buNone/>
            </a:pPr>
            <a:r>
              <a:rPr lang="en-US" sz="2800" dirty="0"/>
              <a:t>There are </a:t>
            </a:r>
            <a:r>
              <a:rPr lang="en-US" sz="2800" dirty="0">
                <a:solidFill>
                  <a:srgbClr val="7030A0"/>
                </a:solidFill>
              </a:rPr>
              <a:t>two types </a:t>
            </a:r>
            <a:r>
              <a:rPr lang="en-US" sz="2800" dirty="0"/>
              <a:t>of array.</a:t>
            </a:r>
          </a:p>
          <a:p>
            <a:r>
              <a:rPr lang="en-US" sz="2800" dirty="0"/>
              <a:t>Single Dimensional Array</a:t>
            </a:r>
          </a:p>
          <a:p>
            <a:r>
              <a:rPr lang="en-US" sz="2800" dirty="0"/>
              <a:t>Multidimensional Array</a:t>
            </a:r>
          </a:p>
          <a:p>
            <a:pPr marL="0" indent="0">
              <a:buNone/>
            </a:pPr>
            <a:r>
              <a:rPr lang="en-US" sz="2800" dirty="0"/>
              <a:t>Declaring an array</a:t>
            </a:r>
          </a:p>
          <a:p>
            <a:pPr marL="0" indent="0">
              <a:buNone/>
            </a:pPr>
            <a:r>
              <a:rPr lang="en-US" sz="2800" dirty="0"/>
              <a:t>Single Dimensional Array</a:t>
            </a:r>
          </a:p>
          <a:p>
            <a:pPr marL="0" indent="0">
              <a:buNone/>
            </a:pPr>
            <a:r>
              <a:rPr lang="en-US" b="0" i="0" dirty="0">
                <a:solidFill>
                  <a:srgbClr val="0000CD"/>
                </a:solidFill>
                <a:effectLst/>
                <a:latin typeface="Consolas" panose="020B0609020204030204" pitchFamily="49" charset="0"/>
              </a:rPr>
              <a:t>int</a:t>
            </a:r>
            <a:r>
              <a:rPr lang="en-US" b="0" i="0" dirty="0">
                <a:solidFill>
                  <a:srgbClr val="000000"/>
                </a:solidFill>
                <a:effectLst/>
                <a:latin typeface="Consolas" panose="020B0609020204030204" pitchFamily="49" charset="0"/>
              </a:rPr>
              <a:t> a[] = {</a:t>
            </a:r>
            <a:r>
              <a:rPr lang="en-US" b="0" i="0" dirty="0">
                <a:solidFill>
                  <a:srgbClr val="FF0000"/>
                </a:solidFill>
                <a:effectLst/>
                <a:latin typeface="Consolas" panose="020B0609020204030204" pitchFamily="49" charset="0"/>
              </a:rPr>
              <a:t>25</a:t>
            </a:r>
            <a:r>
              <a:rPr lang="en-US" b="0" i="0" dirty="0">
                <a:solidFill>
                  <a:srgbClr val="000000"/>
                </a:solidFill>
                <a:effectLst/>
                <a:latin typeface="Consolas" panose="020B0609020204030204" pitchFamily="49" charset="0"/>
              </a:rPr>
              <a:t>, </a:t>
            </a:r>
            <a:r>
              <a:rPr lang="en-US" b="0" i="0" dirty="0">
                <a:solidFill>
                  <a:srgbClr val="FF0000"/>
                </a:solidFill>
                <a:effectLst/>
                <a:latin typeface="Consolas" panose="020B0609020204030204" pitchFamily="49" charset="0"/>
              </a:rPr>
              <a:t>50</a:t>
            </a:r>
            <a:r>
              <a:rPr lang="en-US" b="0" i="0" dirty="0">
                <a:solidFill>
                  <a:srgbClr val="000000"/>
                </a:solidFill>
                <a:effectLst/>
                <a:latin typeface="Consolas" panose="020B0609020204030204" pitchFamily="49" charset="0"/>
              </a:rPr>
              <a:t>, </a:t>
            </a:r>
            <a:r>
              <a:rPr lang="en-US" b="0" i="0" dirty="0">
                <a:solidFill>
                  <a:srgbClr val="FF0000"/>
                </a:solidFill>
                <a:effectLst/>
                <a:latin typeface="Consolas" panose="020B0609020204030204" pitchFamily="49" charset="0"/>
              </a:rPr>
              <a:t>75</a:t>
            </a:r>
            <a:r>
              <a:rPr lang="en-US" b="0" i="0" dirty="0">
                <a:solidFill>
                  <a:srgbClr val="000000"/>
                </a:solidFill>
                <a:effectLst/>
                <a:latin typeface="Consolas" panose="020B0609020204030204" pitchFamily="49" charset="0"/>
              </a:rPr>
              <a:t>, </a:t>
            </a:r>
            <a:r>
              <a:rPr lang="en-US" b="0" i="0" dirty="0">
                <a:solidFill>
                  <a:srgbClr val="FF0000"/>
                </a:solidFill>
                <a:effectLst/>
                <a:latin typeface="Consolas" panose="020B0609020204030204" pitchFamily="49" charset="0"/>
              </a:rPr>
              <a:t>100</a:t>
            </a:r>
            <a:r>
              <a:rPr lang="en-US" b="0" i="0" dirty="0">
                <a:solidFill>
                  <a:srgbClr val="000000"/>
                </a:solidFill>
                <a:effectLst/>
                <a:latin typeface="Consolas" panose="020B0609020204030204" pitchFamily="49" charset="0"/>
              </a:rPr>
              <a:t>}</a:t>
            </a:r>
            <a:r>
              <a:rPr lang="en-US" sz="2000" dirty="0">
                <a:solidFill>
                  <a:srgbClr val="000000"/>
                </a:solidFill>
                <a:latin typeface="Consolas" panose="020B0609020204030204" pitchFamily="49" charset="0"/>
              </a:rPr>
              <a:t>;</a:t>
            </a:r>
            <a:endParaRPr lang="en-US" sz="2000" b="0" i="0" dirty="0">
              <a:solidFill>
                <a:srgbClr val="000000"/>
              </a:solidFill>
              <a:effectLst/>
              <a:latin typeface="Consolas" panose="020B0609020204030204" pitchFamily="49" charset="0"/>
            </a:endParaRPr>
          </a:p>
          <a:p>
            <a:pPr marL="0" indent="0">
              <a:buNone/>
            </a:pPr>
            <a:r>
              <a:rPr lang="en-US" sz="2800" dirty="0"/>
              <a:t>Multidimensional Array</a:t>
            </a:r>
          </a:p>
          <a:p>
            <a:pPr marL="0" indent="0">
              <a:buNone/>
            </a:pPr>
            <a:r>
              <a:rPr lang="en-US" sz="2800" b="0" i="0" dirty="0">
                <a:solidFill>
                  <a:srgbClr val="0000CD"/>
                </a:solidFill>
                <a:effectLst/>
                <a:latin typeface="Consolas" panose="020B0609020204030204" pitchFamily="49" charset="0"/>
              </a:rPr>
              <a:t>int</a:t>
            </a:r>
            <a:r>
              <a:rPr lang="en-US" sz="2800" b="0" i="0" dirty="0">
                <a:solidFill>
                  <a:srgbClr val="000000"/>
                </a:solidFill>
                <a:effectLst/>
                <a:latin typeface="Consolas" panose="020B0609020204030204" pitchFamily="49" charset="0"/>
              </a:rPr>
              <a:t> a[][] = {{</a:t>
            </a:r>
            <a:r>
              <a:rPr lang="en-US" sz="2800" b="0" i="0" dirty="0">
                <a:solidFill>
                  <a:srgbClr val="FF0000"/>
                </a:solidFill>
                <a:effectLst/>
                <a:latin typeface="Consolas" panose="020B0609020204030204" pitchFamily="49" charset="0"/>
              </a:rPr>
              <a:t>25</a:t>
            </a:r>
            <a:r>
              <a:rPr lang="en-US" sz="2800" b="0" i="0" dirty="0">
                <a:solidFill>
                  <a:srgbClr val="000000"/>
                </a:solidFill>
                <a:effectLst/>
                <a:latin typeface="Consolas" panose="020B0609020204030204" pitchFamily="49" charset="0"/>
              </a:rPr>
              <a:t>, </a:t>
            </a:r>
            <a:r>
              <a:rPr lang="en-US" sz="2800" b="0" i="0" dirty="0">
                <a:solidFill>
                  <a:srgbClr val="FF0000"/>
                </a:solidFill>
                <a:effectLst/>
                <a:latin typeface="Consolas" panose="020B0609020204030204" pitchFamily="49" charset="0"/>
              </a:rPr>
              <a:t>50</a:t>
            </a:r>
            <a:r>
              <a:rPr lang="en-US" sz="2800" b="0" i="0" dirty="0">
                <a:solidFill>
                  <a:srgbClr val="000000"/>
                </a:solidFill>
                <a:effectLst/>
                <a:latin typeface="Consolas" panose="020B0609020204030204" pitchFamily="49" charset="0"/>
              </a:rPr>
              <a:t>, </a:t>
            </a:r>
            <a:r>
              <a:rPr lang="en-US" sz="2800" b="0" i="0" dirty="0">
                <a:solidFill>
                  <a:srgbClr val="FF0000"/>
                </a:solidFill>
                <a:effectLst/>
                <a:latin typeface="Consolas" panose="020B0609020204030204" pitchFamily="49" charset="0"/>
              </a:rPr>
              <a:t>7</a:t>
            </a:r>
            <a:r>
              <a:rPr lang="en-US" sz="2800" b="0" i="0" dirty="0">
                <a:solidFill>
                  <a:srgbClr val="000000"/>
                </a:solidFill>
                <a:effectLst/>
                <a:latin typeface="Consolas" panose="020B0609020204030204" pitchFamily="49" charset="0"/>
              </a:rPr>
              <a:t>},{10,20,5}};</a:t>
            </a:r>
          </a:p>
        </p:txBody>
      </p:sp>
    </p:spTree>
    <p:extLst>
      <p:ext uri="{BB962C8B-B14F-4D97-AF65-F5344CB8AC3E}">
        <p14:creationId xmlns:p14="http://schemas.microsoft.com/office/powerpoint/2010/main" val="30648139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C3FEFA-CE5E-5C52-A561-A417A6F0AB4D}"/>
              </a:ext>
            </a:extLst>
          </p:cNvPr>
          <p:cNvSpPr>
            <a:spLocks noGrp="1"/>
          </p:cNvSpPr>
          <p:nvPr>
            <p:ph idx="1"/>
          </p:nvPr>
        </p:nvSpPr>
        <p:spPr>
          <a:xfrm>
            <a:off x="838200" y="587829"/>
            <a:ext cx="10515600" cy="5589134"/>
          </a:xfrm>
        </p:spPr>
        <p:txBody>
          <a:bodyPr/>
          <a:lstStyle/>
          <a:p>
            <a:pPr marL="0" indent="0">
              <a:buNone/>
            </a:pPr>
            <a:r>
              <a:rPr lang="en-IN" spc="-10" dirty="0"/>
              <a:t>Single</a:t>
            </a:r>
            <a:r>
              <a:rPr lang="en-IN" spc="-20" dirty="0"/>
              <a:t> </a:t>
            </a:r>
            <a:r>
              <a:rPr lang="en-IN" spc="-10" dirty="0"/>
              <a:t>dimensional</a:t>
            </a:r>
            <a:r>
              <a:rPr lang="en-IN" spc="-5" dirty="0"/>
              <a:t> </a:t>
            </a:r>
            <a:r>
              <a:rPr lang="en-IN" spc="-25" dirty="0"/>
              <a:t>array</a:t>
            </a:r>
            <a:endParaRPr lang="en-US" b="1" dirty="0"/>
          </a:p>
          <a:p>
            <a:pPr marL="0" indent="0">
              <a:buNone/>
            </a:pPr>
            <a:r>
              <a:rPr lang="en-US" b="1" dirty="0"/>
              <a:t>void</a:t>
            </a:r>
            <a:r>
              <a:rPr lang="en-US" dirty="0"/>
              <a:t> main(){  </a:t>
            </a:r>
          </a:p>
          <a:p>
            <a:pPr marL="0" indent="0">
              <a:buNone/>
            </a:pPr>
            <a:r>
              <a:rPr lang="en-US" b="1" dirty="0"/>
              <a:t>int</a:t>
            </a:r>
            <a:r>
              <a:rPr lang="en-US" dirty="0"/>
              <a:t> a[5];</a:t>
            </a:r>
          </a:p>
          <a:p>
            <a:pPr marL="0" indent="0">
              <a:buNone/>
            </a:pPr>
            <a:r>
              <a:rPr lang="en-US" dirty="0"/>
              <a:t>a[0]=10;//initialization  </a:t>
            </a:r>
          </a:p>
          <a:p>
            <a:pPr marL="0" indent="0">
              <a:buNone/>
            </a:pPr>
            <a:r>
              <a:rPr lang="en-US" dirty="0"/>
              <a:t>a[1]=20;  </a:t>
            </a:r>
          </a:p>
          <a:p>
            <a:pPr marL="0" indent="0">
              <a:buNone/>
            </a:pPr>
            <a:r>
              <a:rPr lang="en-US" dirty="0"/>
              <a:t>a[2]=70;  </a:t>
            </a:r>
          </a:p>
          <a:p>
            <a:pPr marL="0" indent="0">
              <a:buNone/>
            </a:pPr>
            <a:r>
              <a:rPr lang="en-US" b="1" dirty="0"/>
              <a:t>for</a:t>
            </a:r>
            <a:r>
              <a:rPr lang="en-US" dirty="0"/>
              <a:t>(</a:t>
            </a:r>
            <a:r>
              <a:rPr lang="en-US" b="1" dirty="0"/>
              <a:t>int</a:t>
            </a:r>
            <a:r>
              <a:rPr lang="en-US" dirty="0"/>
              <a:t> </a:t>
            </a:r>
            <a:r>
              <a:rPr lang="en-US" dirty="0" err="1"/>
              <a:t>i</a:t>
            </a:r>
            <a:r>
              <a:rPr lang="en-US" dirty="0"/>
              <a:t>=0;i&lt;4;i++)</a:t>
            </a:r>
          </a:p>
          <a:p>
            <a:pPr marL="0" indent="0">
              <a:buNone/>
            </a:pPr>
            <a:r>
              <a:rPr lang="en-US" dirty="0"/>
              <a:t>{</a:t>
            </a:r>
          </a:p>
          <a:p>
            <a:pPr marL="0" indent="0">
              <a:buNone/>
            </a:pPr>
            <a:r>
              <a:rPr lang="en-US" dirty="0" err="1"/>
              <a:t>printf</a:t>
            </a:r>
            <a:r>
              <a:rPr lang="en-US" dirty="0"/>
              <a:t>(“%</a:t>
            </a:r>
            <a:r>
              <a:rPr lang="en-US" dirty="0" err="1"/>
              <a:t>d”,a</a:t>
            </a:r>
            <a:r>
              <a:rPr lang="en-US" dirty="0"/>
              <a:t>[</a:t>
            </a:r>
            <a:r>
              <a:rPr lang="en-US" dirty="0" err="1"/>
              <a:t>i</a:t>
            </a:r>
            <a:r>
              <a:rPr lang="en-US" dirty="0"/>
              <a:t>]);  </a:t>
            </a:r>
          </a:p>
          <a:p>
            <a:pPr marL="0" indent="0">
              <a:buNone/>
            </a:pPr>
            <a:r>
              <a:rPr lang="en-US" dirty="0"/>
              <a:t>}} </a:t>
            </a:r>
            <a:endParaRPr lang="en-IN" dirty="0"/>
          </a:p>
        </p:txBody>
      </p:sp>
    </p:spTree>
    <p:extLst>
      <p:ext uri="{BB962C8B-B14F-4D97-AF65-F5344CB8AC3E}">
        <p14:creationId xmlns:p14="http://schemas.microsoft.com/office/powerpoint/2010/main" val="38639751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EBA931-D9A1-2252-C9CF-50FF0D81EC29}"/>
              </a:ext>
            </a:extLst>
          </p:cNvPr>
          <p:cNvSpPr>
            <a:spLocks noGrp="1"/>
          </p:cNvSpPr>
          <p:nvPr>
            <p:ph idx="1"/>
          </p:nvPr>
        </p:nvSpPr>
        <p:spPr>
          <a:xfrm>
            <a:off x="838200" y="634482"/>
            <a:ext cx="10515600" cy="5542481"/>
          </a:xfrm>
        </p:spPr>
        <p:txBody>
          <a:bodyPr/>
          <a:lstStyle/>
          <a:p>
            <a:pPr marL="0" indent="0">
              <a:buNone/>
            </a:pPr>
            <a:r>
              <a:rPr lang="en-IN" b="1" dirty="0">
                <a:solidFill>
                  <a:srgbClr val="7030A0"/>
                </a:solidFill>
              </a:rPr>
              <a:t>Multidimensional Array </a:t>
            </a:r>
          </a:p>
          <a:p>
            <a:pPr marL="0" indent="0">
              <a:buNone/>
            </a:pPr>
            <a:r>
              <a:rPr lang="en-IN" sz="2800" dirty="0"/>
              <a:t> </a:t>
            </a:r>
            <a:r>
              <a:rPr lang="en-IN" sz="2800" b="1" dirty="0"/>
              <a:t>void</a:t>
            </a:r>
            <a:r>
              <a:rPr lang="en-IN" sz="2800" dirty="0"/>
              <a:t> main(){  </a:t>
            </a:r>
          </a:p>
          <a:p>
            <a:pPr marL="0" indent="0">
              <a:buNone/>
            </a:pPr>
            <a:r>
              <a:rPr lang="en-IN" sz="2800" b="1" dirty="0"/>
              <a:t>int</a:t>
            </a:r>
            <a:r>
              <a:rPr lang="en-IN" sz="2800" dirty="0"/>
              <a:t> </a:t>
            </a:r>
            <a:r>
              <a:rPr lang="en-IN" sz="2800" dirty="0" err="1"/>
              <a:t>arr</a:t>
            </a:r>
            <a:r>
              <a:rPr lang="en-IN" sz="2800" dirty="0"/>
              <a:t>[][]={{1,2,3},{2,4,5},{4,4,5}};  </a:t>
            </a:r>
          </a:p>
          <a:p>
            <a:pPr marL="0" indent="0">
              <a:buNone/>
            </a:pPr>
            <a:r>
              <a:rPr lang="en-IN" sz="2800" dirty="0"/>
              <a:t>//printing 2D array  </a:t>
            </a:r>
          </a:p>
          <a:p>
            <a:pPr marL="0" indent="0">
              <a:buNone/>
            </a:pPr>
            <a:r>
              <a:rPr lang="en-IN" sz="2800" b="1" dirty="0"/>
              <a:t>for</a:t>
            </a:r>
            <a:r>
              <a:rPr lang="en-IN" sz="2800" dirty="0"/>
              <a:t>(</a:t>
            </a:r>
            <a:r>
              <a:rPr lang="en-IN" sz="2800" b="1" dirty="0"/>
              <a:t>int</a:t>
            </a:r>
            <a:r>
              <a:rPr lang="en-IN" sz="2800" dirty="0"/>
              <a:t> </a:t>
            </a:r>
            <a:r>
              <a:rPr lang="en-IN" sz="2800" dirty="0" err="1"/>
              <a:t>i</a:t>
            </a:r>
            <a:r>
              <a:rPr lang="en-IN" sz="2800" dirty="0"/>
              <a:t>=0;i&lt;3;i++){  </a:t>
            </a:r>
          </a:p>
          <a:p>
            <a:pPr marL="0" indent="0">
              <a:buNone/>
            </a:pPr>
            <a:r>
              <a:rPr lang="en-IN" sz="2800" dirty="0"/>
              <a:t> </a:t>
            </a:r>
            <a:r>
              <a:rPr lang="en-IN" sz="2800" b="1" dirty="0"/>
              <a:t>for</a:t>
            </a:r>
            <a:r>
              <a:rPr lang="en-IN" sz="2800" dirty="0"/>
              <a:t>(</a:t>
            </a:r>
            <a:r>
              <a:rPr lang="en-IN" sz="2800" b="1" dirty="0"/>
              <a:t>int</a:t>
            </a:r>
            <a:r>
              <a:rPr lang="en-IN" sz="2800" dirty="0"/>
              <a:t> j=0;j&lt;3;j++){  </a:t>
            </a:r>
          </a:p>
          <a:p>
            <a:pPr marL="0" indent="0">
              <a:buNone/>
            </a:pPr>
            <a:r>
              <a:rPr lang="en-IN" sz="2800" dirty="0"/>
              <a:t>   </a:t>
            </a:r>
            <a:r>
              <a:rPr lang="en-IN" sz="2800" dirty="0" err="1"/>
              <a:t>printf</a:t>
            </a:r>
            <a:r>
              <a:rPr lang="en-IN" sz="2800" dirty="0"/>
              <a:t>(“%d”,</a:t>
            </a:r>
            <a:r>
              <a:rPr lang="en-IN" sz="2800" dirty="0" err="1"/>
              <a:t>arr</a:t>
            </a:r>
            <a:r>
              <a:rPr lang="en-IN" sz="2800" dirty="0"/>
              <a:t>[</a:t>
            </a:r>
            <a:r>
              <a:rPr lang="en-IN" sz="2800" dirty="0" err="1"/>
              <a:t>i</a:t>
            </a:r>
            <a:r>
              <a:rPr lang="en-IN" sz="2800" dirty="0"/>
              <a:t>][j]); } </a:t>
            </a:r>
          </a:p>
          <a:p>
            <a:pPr marL="0" indent="0">
              <a:buNone/>
            </a:pPr>
            <a:r>
              <a:rPr lang="en-IN" sz="2800" dirty="0"/>
              <a:t> </a:t>
            </a:r>
            <a:r>
              <a:rPr lang="en-IN" sz="2800" dirty="0" err="1"/>
              <a:t>printf</a:t>
            </a:r>
            <a:r>
              <a:rPr lang="en-IN" sz="2800" dirty="0"/>
              <a:t>(“\n”);  </a:t>
            </a:r>
          </a:p>
          <a:p>
            <a:pPr marL="0" indent="0">
              <a:buNone/>
            </a:pPr>
            <a:r>
              <a:rPr lang="en-IN" sz="2800" dirty="0"/>
              <a:t>} } </a:t>
            </a:r>
          </a:p>
          <a:p>
            <a:pPr marL="0" indent="0">
              <a:buNone/>
            </a:pPr>
            <a:endParaRPr lang="en-IN" dirty="0"/>
          </a:p>
        </p:txBody>
      </p:sp>
    </p:spTree>
    <p:extLst>
      <p:ext uri="{BB962C8B-B14F-4D97-AF65-F5344CB8AC3E}">
        <p14:creationId xmlns:p14="http://schemas.microsoft.com/office/powerpoint/2010/main" val="212530641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4DD90-311D-F434-12C5-547D545AE974}"/>
              </a:ext>
            </a:extLst>
          </p:cNvPr>
          <p:cNvSpPr>
            <a:spLocks noGrp="1"/>
          </p:cNvSpPr>
          <p:nvPr>
            <p:ph type="title"/>
          </p:nvPr>
        </p:nvSpPr>
        <p:spPr>
          <a:xfrm>
            <a:off x="1458654" y="2288697"/>
            <a:ext cx="9905998" cy="1478570"/>
          </a:xfrm>
        </p:spPr>
        <p:txBody>
          <a:bodyPr/>
          <a:lstStyle/>
          <a:p>
            <a:pPr algn="ctr"/>
            <a:r>
              <a:rPr lang="en-US" dirty="0"/>
              <a:t>Functions in c</a:t>
            </a:r>
            <a:endParaRPr lang="en-IN" dirty="0"/>
          </a:p>
        </p:txBody>
      </p:sp>
    </p:spTree>
    <p:extLst>
      <p:ext uri="{BB962C8B-B14F-4D97-AF65-F5344CB8AC3E}">
        <p14:creationId xmlns:p14="http://schemas.microsoft.com/office/powerpoint/2010/main" val="244847316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8482A-9FC5-386B-88E2-A9287CF16EE5}"/>
              </a:ext>
            </a:extLst>
          </p:cNvPr>
          <p:cNvSpPr>
            <a:spLocks noGrp="1"/>
          </p:cNvSpPr>
          <p:nvPr>
            <p:ph type="title"/>
          </p:nvPr>
        </p:nvSpPr>
        <p:spPr>
          <a:xfrm>
            <a:off x="838200" y="365126"/>
            <a:ext cx="10515600" cy="959822"/>
          </a:xfrm>
        </p:spPr>
        <p:txBody>
          <a:bodyPr/>
          <a:lstStyle/>
          <a:p>
            <a:pPr algn="ctr"/>
            <a:r>
              <a:rPr lang="en-IN" dirty="0"/>
              <a:t>What is Functions?</a:t>
            </a:r>
          </a:p>
        </p:txBody>
      </p:sp>
      <p:sp>
        <p:nvSpPr>
          <p:cNvPr id="3" name="Content Placeholder 2">
            <a:extLst>
              <a:ext uri="{FF2B5EF4-FFF2-40B4-BE49-F238E27FC236}">
                <a16:creationId xmlns:a16="http://schemas.microsoft.com/office/drawing/2014/main" id="{E16C2A55-7FB4-8716-57D5-2DE4711E5E3B}"/>
              </a:ext>
            </a:extLst>
          </p:cNvPr>
          <p:cNvSpPr>
            <a:spLocks noGrp="1"/>
          </p:cNvSpPr>
          <p:nvPr>
            <p:ph idx="1"/>
          </p:nvPr>
        </p:nvSpPr>
        <p:spPr>
          <a:xfrm>
            <a:off x="1726163" y="1474237"/>
            <a:ext cx="8350898" cy="4702726"/>
          </a:xfrm>
        </p:spPr>
        <p:txBody>
          <a:bodyPr/>
          <a:lstStyle/>
          <a:p>
            <a:r>
              <a:rPr lang="en-US" dirty="0"/>
              <a:t>T</a:t>
            </a:r>
            <a:r>
              <a:rPr lang="en-US" sz="2800" dirty="0"/>
              <a:t>he </a:t>
            </a:r>
            <a:r>
              <a:rPr lang="en-US" sz="2800" b="1" dirty="0"/>
              <a:t>function</a:t>
            </a:r>
            <a:r>
              <a:rPr lang="en-US" sz="2800" dirty="0"/>
              <a:t> or </a:t>
            </a:r>
            <a:r>
              <a:rPr lang="en-US" sz="2800" b="1" dirty="0"/>
              <a:t>method </a:t>
            </a:r>
            <a:r>
              <a:rPr lang="en-US" sz="2800" dirty="0"/>
              <a:t> is a collection of instructions that performs a specific task.</a:t>
            </a:r>
          </a:p>
          <a:p>
            <a:r>
              <a:rPr lang="en-US" b="0" i="0" dirty="0">
                <a:solidFill>
                  <a:srgbClr val="202124"/>
                </a:solidFill>
                <a:effectLst/>
                <a:latin typeface="arial" panose="020B0604020202020204" pitchFamily="34" charset="0"/>
              </a:rPr>
              <a:t>You can pass data, known as parameters, into a method. </a:t>
            </a:r>
          </a:p>
          <a:p>
            <a:r>
              <a:rPr lang="en-US" sz="2800" dirty="0">
                <a:solidFill>
                  <a:schemeClr val="tx1"/>
                </a:solidFill>
              </a:rPr>
              <a:t>Function is a block of code which runs only it is called .</a:t>
            </a:r>
          </a:p>
          <a:p>
            <a:r>
              <a:rPr lang="en-US" b="1" dirty="0">
                <a:solidFill>
                  <a:srgbClr val="7030A0"/>
                </a:solidFill>
              </a:rPr>
              <a:t>Real time Example:</a:t>
            </a:r>
          </a:p>
          <a:p>
            <a:pPr marL="0" indent="0">
              <a:buNone/>
            </a:pPr>
            <a:r>
              <a:rPr lang="en-US" b="1" dirty="0">
                <a:solidFill>
                  <a:srgbClr val="7030A0"/>
                </a:solidFill>
              </a:rPr>
              <a:t>Switch have two functions ,that is on() and off().</a:t>
            </a:r>
          </a:p>
          <a:p>
            <a:endParaRPr lang="en-US" sz="2800" dirty="0">
              <a:solidFill>
                <a:schemeClr val="tx1"/>
              </a:solidFill>
            </a:endParaRPr>
          </a:p>
          <a:p>
            <a:pPr marL="0" indent="0">
              <a:buNone/>
            </a:pPr>
            <a:endParaRPr lang="en-US" sz="2800" dirty="0">
              <a:solidFill>
                <a:schemeClr val="tx1"/>
              </a:solidFill>
            </a:endParaRPr>
          </a:p>
          <a:p>
            <a:endParaRPr lang="en-US" sz="2800" dirty="0"/>
          </a:p>
          <a:p>
            <a:endParaRPr lang="en-IN" dirty="0"/>
          </a:p>
        </p:txBody>
      </p:sp>
    </p:spTree>
    <p:extLst>
      <p:ext uri="{BB962C8B-B14F-4D97-AF65-F5344CB8AC3E}">
        <p14:creationId xmlns:p14="http://schemas.microsoft.com/office/powerpoint/2010/main" val="346826285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AAF72-2E9A-4A38-6704-1F375BE40184}"/>
              </a:ext>
            </a:extLst>
          </p:cNvPr>
          <p:cNvSpPr>
            <a:spLocks noGrp="1"/>
          </p:cNvSpPr>
          <p:nvPr>
            <p:ph type="title"/>
          </p:nvPr>
        </p:nvSpPr>
        <p:spPr/>
        <p:txBody>
          <a:bodyPr/>
          <a:lstStyle/>
          <a:p>
            <a:pPr algn="ctr"/>
            <a:r>
              <a:rPr lang="en-IN" dirty="0"/>
              <a:t>Why Functions?</a:t>
            </a:r>
          </a:p>
        </p:txBody>
      </p:sp>
      <p:sp>
        <p:nvSpPr>
          <p:cNvPr id="3" name="Content Placeholder 2">
            <a:extLst>
              <a:ext uri="{FF2B5EF4-FFF2-40B4-BE49-F238E27FC236}">
                <a16:creationId xmlns:a16="http://schemas.microsoft.com/office/drawing/2014/main" id="{1AC1269E-794E-84E4-BF60-9F149B69EBF8}"/>
              </a:ext>
            </a:extLst>
          </p:cNvPr>
          <p:cNvSpPr>
            <a:spLocks noGrp="1"/>
          </p:cNvSpPr>
          <p:nvPr>
            <p:ph idx="1"/>
          </p:nvPr>
        </p:nvSpPr>
        <p:spPr>
          <a:xfrm>
            <a:off x="1922106" y="1825625"/>
            <a:ext cx="8556172" cy="4351338"/>
          </a:xfrm>
        </p:spPr>
        <p:txBody>
          <a:bodyPr>
            <a:normAutofit lnSpcReduction="10000"/>
          </a:bodyPr>
          <a:lstStyle/>
          <a:p>
            <a:r>
              <a:rPr lang="en-US" sz="3000" dirty="0"/>
              <a:t>It provides the </a:t>
            </a:r>
            <a:r>
              <a:rPr lang="en-US" sz="3000" b="1" dirty="0">
                <a:solidFill>
                  <a:srgbClr val="7030A0"/>
                </a:solidFill>
              </a:rPr>
              <a:t>reusability of code</a:t>
            </a:r>
            <a:r>
              <a:rPr lang="en-US" sz="3000" dirty="0"/>
              <a:t>. </a:t>
            </a:r>
          </a:p>
          <a:p>
            <a:r>
              <a:rPr lang="en-US" sz="3000" dirty="0"/>
              <a:t>It also provides the </a:t>
            </a:r>
            <a:r>
              <a:rPr lang="en-US" sz="3000" b="1" dirty="0">
                <a:solidFill>
                  <a:srgbClr val="7030A0"/>
                </a:solidFill>
              </a:rPr>
              <a:t>easy modification</a:t>
            </a:r>
            <a:r>
              <a:rPr lang="en-US" sz="3000" dirty="0">
                <a:solidFill>
                  <a:srgbClr val="7030A0"/>
                </a:solidFill>
              </a:rPr>
              <a:t> and </a:t>
            </a:r>
            <a:r>
              <a:rPr lang="en-US" sz="3000" b="1" dirty="0">
                <a:solidFill>
                  <a:srgbClr val="7030A0"/>
                </a:solidFill>
              </a:rPr>
              <a:t>readability</a:t>
            </a:r>
            <a:r>
              <a:rPr lang="en-US" sz="3000" dirty="0">
                <a:solidFill>
                  <a:srgbClr val="7030A0"/>
                </a:solidFill>
              </a:rPr>
              <a:t> of code,</a:t>
            </a:r>
            <a:r>
              <a:rPr lang="en-US" sz="3000" dirty="0"/>
              <a:t> , just by adding or removing a chunk of code. </a:t>
            </a:r>
            <a:endParaRPr lang="en-US" sz="3000" dirty="0">
              <a:solidFill>
                <a:srgbClr val="7030A0"/>
              </a:solidFill>
            </a:endParaRPr>
          </a:p>
          <a:p>
            <a:pPr algn="l">
              <a:buFont typeface="Arial" panose="020B0604020202020204" pitchFamily="34" charset="0"/>
              <a:buChar char="•"/>
            </a:pPr>
            <a:r>
              <a:rPr lang="en-US" sz="3000" b="0" i="0" dirty="0">
                <a:solidFill>
                  <a:srgbClr val="202124"/>
                </a:solidFill>
                <a:effectLst/>
              </a:rPr>
              <a:t>Function are useful in </a:t>
            </a:r>
            <a:r>
              <a:rPr lang="en-US" sz="3000" b="1" i="0" dirty="0">
                <a:solidFill>
                  <a:srgbClr val="7030A0"/>
                </a:solidFill>
                <a:effectLst/>
              </a:rPr>
              <a:t>hiding the implementation details</a:t>
            </a:r>
            <a:r>
              <a:rPr lang="en-US" sz="3000" b="0" i="0" dirty="0">
                <a:solidFill>
                  <a:srgbClr val="202124"/>
                </a:solidFill>
                <a:effectLst/>
              </a:rPr>
              <a:t>.</a:t>
            </a:r>
          </a:p>
          <a:p>
            <a:pPr algn="l">
              <a:buFont typeface="Arial" panose="020B0604020202020204" pitchFamily="34" charset="0"/>
              <a:buChar char="•"/>
            </a:pPr>
            <a:r>
              <a:rPr lang="en-US" sz="3000" b="0" i="0" dirty="0">
                <a:effectLst/>
              </a:rPr>
              <a:t>It is easier to edit a program, which is written using methods</a:t>
            </a:r>
          </a:p>
          <a:p>
            <a:pPr marL="0" indent="0">
              <a:buNone/>
            </a:pPr>
            <a:br>
              <a:rPr lang="en-US" dirty="0"/>
            </a:br>
            <a:endParaRPr lang="en-US" sz="2800" b="1" dirty="0"/>
          </a:p>
          <a:p>
            <a:pPr marL="0" indent="0">
              <a:buNone/>
            </a:pPr>
            <a:endParaRPr lang="en-IN" dirty="0"/>
          </a:p>
        </p:txBody>
      </p:sp>
    </p:spTree>
    <p:extLst>
      <p:ext uri="{BB962C8B-B14F-4D97-AF65-F5344CB8AC3E}">
        <p14:creationId xmlns:p14="http://schemas.microsoft.com/office/powerpoint/2010/main" val="40675569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A88DD5-9DF4-70B8-2228-008E92B382AD}"/>
              </a:ext>
            </a:extLst>
          </p:cNvPr>
          <p:cNvSpPr>
            <a:spLocks noGrp="1"/>
          </p:cNvSpPr>
          <p:nvPr>
            <p:ph idx="1"/>
          </p:nvPr>
        </p:nvSpPr>
        <p:spPr>
          <a:xfrm>
            <a:off x="1141413" y="1436914"/>
            <a:ext cx="9672768" cy="3564294"/>
          </a:xfrm>
        </p:spPr>
        <p:txBody>
          <a:bodyPr>
            <a:normAutofit/>
          </a:bodyPr>
          <a:lstStyle/>
          <a:p>
            <a:pPr marL="0" indent="0">
              <a:buNone/>
            </a:pPr>
            <a:r>
              <a:rPr lang="en-US" b="1" dirty="0">
                <a:solidFill>
                  <a:srgbClr val="FF0000"/>
                </a:solidFill>
              </a:rPr>
              <a:t>Syntax for functions</a:t>
            </a:r>
          </a:p>
          <a:p>
            <a:pPr marL="0" indent="0">
              <a:buNone/>
            </a:pPr>
            <a:r>
              <a:rPr lang="en-US" dirty="0"/>
              <a:t>Return –type function name(datatype variable/arguments)</a:t>
            </a:r>
          </a:p>
          <a:p>
            <a:pPr marL="0" indent="0">
              <a:buNone/>
            </a:pPr>
            <a:r>
              <a:rPr lang="en-US" dirty="0"/>
              <a:t>{</a:t>
            </a:r>
          </a:p>
          <a:p>
            <a:pPr marL="0" indent="0">
              <a:buNone/>
            </a:pPr>
            <a:r>
              <a:rPr lang="en-US" dirty="0"/>
              <a:t>Function body;</a:t>
            </a:r>
          </a:p>
          <a:p>
            <a:pPr marL="0" indent="0">
              <a:buNone/>
            </a:pPr>
            <a:r>
              <a:rPr lang="en-US" dirty="0"/>
              <a:t>}</a:t>
            </a:r>
          </a:p>
          <a:p>
            <a:endParaRPr lang="en-IN" dirty="0"/>
          </a:p>
        </p:txBody>
      </p:sp>
    </p:spTree>
    <p:extLst>
      <p:ext uri="{BB962C8B-B14F-4D97-AF65-F5344CB8AC3E}">
        <p14:creationId xmlns:p14="http://schemas.microsoft.com/office/powerpoint/2010/main" val="252074783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8BC38-546A-C834-A593-FB58CFD45E80}"/>
              </a:ext>
            </a:extLst>
          </p:cNvPr>
          <p:cNvSpPr>
            <a:spLocks noGrp="1"/>
          </p:cNvSpPr>
          <p:nvPr>
            <p:ph type="title"/>
          </p:nvPr>
        </p:nvSpPr>
        <p:spPr/>
        <p:txBody>
          <a:bodyPr/>
          <a:lstStyle/>
          <a:p>
            <a:pPr algn="ctr"/>
            <a:r>
              <a:rPr lang="en-US" sz="4400" dirty="0"/>
              <a:t>Types of Functions</a:t>
            </a:r>
            <a:endParaRPr lang="en-IN" dirty="0"/>
          </a:p>
        </p:txBody>
      </p:sp>
      <p:sp>
        <p:nvSpPr>
          <p:cNvPr id="3" name="Content Placeholder 2">
            <a:extLst>
              <a:ext uri="{FF2B5EF4-FFF2-40B4-BE49-F238E27FC236}">
                <a16:creationId xmlns:a16="http://schemas.microsoft.com/office/drawing/2014/main" id="{EF9F027C-0476-65DF-1CC9-8B3F1549ED63}"/>
              </a:ext>
            </a:extLst>
          </p:cNvPr>
          <p:cNvSpPr>
            <a:spLocks noGrp="1"/>
          </p:cNvSpPr>
          <p:nvPr>
            <p:ph idx="1"/>
          </p:nvPr>
        </p:nvSpPr>
        <p:spPr>
          <a:xfrm>
            <a:off x="2099388" y="1825625"/>
            <a:ext cx="8108302" cy="4351338"/>
          </a:xfrm>
        </p:spPr>
        <p:txBody>
          <a:bodyPr/>
          <a:lstStyle/>
          <a:p>
            <a:pPr marL="0" indent="0">
              <a:buNone/>
            </a:pPr>
            <a:r>
              <a:rPr lang="en-US" sz="2800" dirty="0"/>
              <a:t>There are </a:t>
            </a:r>
            <a:r>
              <a:rPr lang="en-US" b="1" dirty="0">
                <a:solidFill>
                  <a:srgbClr val="7030A0"/>
                </a:solidFill>
              </a:rPr>
              <a:t>Four</a:t>
            </a:r>
            <a:r>
              <a:rPr lang="en-US" sz="2800" b="1" dirty="0">
                <a:solidFill>
                  <a:srgbClr val="7030A0"/>
                </a:solidFill>
              </a:rPr>
              <a:t> types </a:t>
            </a:r>
            <a:r>
              <a:rPr lang="en-US" sz="2800" dirty="0"/>
              <a:t>of methods in Java:</a:t>
            </a:r>
          </a:p>
          <a:p>
            <a:r>
              <a:rPr lang="en-US" sz="2800" dirty="0"/>
              <a:t>Predefined Method</a:t>
            </a:r>
          </a:p>
          <a:p>
            <a:r>
              <a:rPr lang="en-US" sz="2800" dirty="0"/>
              <a:t>User-defined Method</a:t>
            </a:r>
          </a:p>
          <a:p>
            <a:r>
              <a:rPr lang="en-US" dirty="0"/>
              <a:t>Return Method</a:t>
            </a:r>
          </a:p>
          <a:p>
            <a:r>
              <a:rPr lang="en-US" dirty="0"/>
              <a:t>R</a:t>
            </a:r>
            <a:r>
              <a:rPr lang="en-US" sz="2800" dirty="0"/>
              <a:t>ecursive Method</a:t>
            </a:r>
          </a:p>
          <a:p>
            <a:endParaRPr lang="en-IN" dirty="0"/>
          </a:p>
        </p:txBody>
      </p:sp>
    </p:spTree>
    <p:extLst>
      <p:ext uri="{BB962C8B-B14F-4D97-AF65-F5344CB8AC3E}">
        <p14:creationId xmlns:p14="http://schemas.microsoft.com/office/powerpoint/2010/main" val="665742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C1B7BA-FF0F-25A4-9E6F-D4D7C9E5C34B}"/>
              </a:ext>
            </a:extLst>
          </p:cNvPr>
          <p:cNvSpPr>
            <a:spLocks noGrp="1"/>
          </p:cNvSpPr>
          <p:nvPr>
            <p:ph idx="1"/>
          </p:nvPr>
        </p:nvSpPr>
        <p:spPr>
          <a:xfrm>
            <a:off x="1502228" y="793102"/>
            <a:ext cx="8322907" cy="5383861"/>
          </a:xfrm>
        </p:spPr>
        <p:txBody>
          <a:bodyPr/>
          <a:lstStyle/>
          <a:p>
            <a:r>
              <a:rPr lang="en-IN" sz="2800" b="1" dirty="0">
                <a:solidFill>
                  <a:srgbClr val="7030A0"/>
                </a:solidFill>
              </a:rPr>
              <a:t>Predefined Method</a:t>
            </a:r>
          </a:p>
          <a:p>
            <a:r>
              <a:rPr lang="en-US" sz="2800" dirty="0"/>
              <a:t>It is also known as the </a:t>
            </a:r>
            <a:r>
              <a:rPr lang="en-US" sz="2800" b="1" dirty="0">
                <a:solidFill>
                  <a:srgbClr val="7030A0"/>
                </a:solidFill>
              </a:rPr>
              <a:t>standard library method</a:t>
            </a:r>
            <a:r>
              <a:rPr lang="en-US" sz="2800" dirty="0">
                <a:solidFill>
                  <a:srgbClr val="7030A0"/>
                </a:solidFill>
              </a:rPr>
              <a:t> or </a:t>
            </a:r>
            <a:r>
              <a:rPr lang="en-US" sz="2800" b="1" dirty="0">
                <a:solidFill>
                  <a:srgbClr val="7030A0"/>
                </a:solidFill>
              </a:rPr>
              <a:t>built-in method</a:t>
            </a:r>
            <a:r>
              <a:rPr lang="en-US" sz="2800" dirty="0">
                <a:solidFill>
                  <a:srgbClr val="7030A0"/>
                </a:solidFill>
              </a:rPr>
              <a:t>.</a:t>
            </a:r>
          </a:p>
          <a:p>
            <a:r>
              <a:rPr lang="en-US" sz="2800" dirty="0"/>
              <a:t>Some pre-defined methods are </a:t>
            </a:r>
            <a:r>
              <a:rPr lang="en-US" sz="2800" b="1" dirty="0">
                <a:solidFill>
                  <a:srgbClr val="7030A0"/>
                </a:solidFill>
              </a:rPr>
              <a:t>length(), equals(), compareTo(), sqrt(),</a:t>
            </a:r>
            <a:r>
              <a:rPr lang="en-US" sz="2800" dirty="0">
                <a:solidFill>
                  <a:srgbClr val="7030A0"/>
                </a:solidFill>
              </a:rPr>
              <a:t> etc.</a:t>
            </a:r>
            <a:endParaRPr lang="en-IN" sz="2800" b="1" dirty="0">
              <a:solidFill>
                <a:srgbClr val="7030A0"/>
              </a:solidFill>
            </a:endParaRPr>
          </a:p>
          <a:p>
            <a:pPr marL="0" indent="0">
              <a:buNone/>
            </a:pPr>
            <a:endParaRPr lang="en-US" sz="2800" dirty="0">
              <a:solidFill>
                <a:srgbClr val="7030A0"/>
              </a:solidFill>
            </a:endParaRPr>
          </a:p>
          <a:p>
            <a:endParaRPr lang="en-IN" sz="2800" b="1" dirty="0">
              <a:solidFill>
                <a:srgbClr val="7030A0"/>
              </a:solidFill>
            </a:endParaRPr>
          </a:p>
          <a:p>
            <a:endParaRPr lang="en-IN" dirty="0"/>
          </a:p>
        </p:txBody>
      </p:sp>
    </p:spTree>
    <p:extLst>
      <p:ext uri="{BB962C8B-B14F-4D97-AF65-F5344CB8AC3E}">
        <p14:creationId xmlns:p14="http://schemas.microsoft.com/office/powerpoint/2010/main" val="139909966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23764E-B5E9-94C8-ABE7-3956A4F9DABB}"/>
              </a:ext>
            </a:extLst>
          </p:cNvPr>
          <p:cNvSpPr>
            <a:spLocks noGrp="1"/>
          </p:cNvSpPr>
          <p:nvPr>
            <p:ph idx="1"/>
          </p:nvPr>
        </p:nvSpPr>
        <p:spPr>
          <a:xfrm>
            <a:off x="914400" y="653143"/>
            <a:ext cx="10226351" cy="5523820"/>
          </a:xfrm>
        </p:spPr>
        <p:txBody>
          <a:bodyPr/>
          <a:lstStyle/>
          <a:p>
            <a:pPr marL="0" indent="0">
              <a:buNone/>
            </a:pPr>
            <a:r>
              <a:rPr lang="en-IN" b="1" dirty="0">
                <a:solidFill>
                  <a:srgbClr val="7030A0"/>
                </a:solidFill>
              </a:rPr>
              <a:t>User-defined Method</a:t>
            </a:r>
          </a:p>
          <a:p>
            <a:r>
              <a:rPr lang="en-US" sz="2800" dirty="0"/>
              <a:t>The method written by the </a:t>
            </a:r>
            <a:r>
              <a:rPr lang="en-US" sz="2800" b="1" dirty="0">
                <a:solidFill>
                  <a:srgbClr val="7030A0"/>
                </a:solidFill>
              </a:rPr>
              <a:t>user or programmer </a:t>
            </a:r>
            <a:r>
              <a:rPr lang="en-US" sz="2800" dirty="0"/>
              <a:t>is known as </a:t>
            </a:r>
            <a:r>
              <a:rPr lang="en-US" sz="2800" b="1" dirty="0">
                <a:solidFill>
                  <a:srgbClr val="7030A0"/>
                </a:solidFill>
              </a:rPr>
              <a:t>a </a:t>
            </a:r>
          </a:p>
          <a:p>
            <a:pPr marL="0" indent="0">
              <a:buNone/>
            </a:pPr>
            <a:r>
              <a:rPr lang="en-US" b="1" dirty="0">
                <a:solidFill>
                  <a:srgbClr val="7030A0"/>
                </a:solidFill>
              </a:rPr>
              <a:t>    </a:t>
            </a:r>
            <a:r>
              <a:rPr lang="en-US" sz="2800" b="1" dirty="0">
                <a:solidFill>
                  <a:srgbClr val="7030A0"/>
                </a:solidFill>
              </a:rPr>
              <a:t>user-defined</a:t>
            </a:r>
            <a:r>
              <a:rPr lang="en-US" sz="2800" dirty="0"/>
              <a:t> method.</a:t>
            </a:r>
          </a:p>
          <a:p>
            <a:r>
              <a:rPr lang="en-US" sz="2800" dirty="0"/>
              <a:t> These methods are modified according to the requirement</a:t>
            </a:r>
            <a:r>
              <a:rPr lang="en-US" dirty="0"/>
              <a:t>.</a:t>
            </a:r>
          </a:p>
          <a:p>
            <a:r>
              <a:rPr lang="en-IN" dirty="0"/>
              <a:t>It is 4 types</a:t>
            </a:r>
          </a:p>
          <a:p>
            <a:pPr marL="514350" indent="-514350">
              <a:buFont typeface="+mj-lt"/>
              <a:buAutoNum type="arabicPeriod"/>
            </a:pPr>
            <a:r>
              <a:rPr lang="en-IN" dirty="0"/>
              <a:t>Function with argument , with return value.</a:t>
            </a:r>
          </a:p>
          <a:p>
            <a:pPr marL="514350" indent="-514350">
              <a:buFont typeface="+mj-lt"/>
              <a:buAutoNum type="arabicPeriod"/>
            </a:pPr>
            <a:r>
              <a:rPr lang="en-IN" dirty="0"/>
              <a:t>Function with argument , without return value.</a:t>
            </a:r>
          </a:p>
          <a:p>
            <a:pPr marL="514350" indent="-514350">
              <a:buFont typeface="+mj-lt"/>
              <a:buAutoNum type="arabicPeriod"/>
            </a:pPr>
            <a:r>
              <a:rPr lang="en-IN" dirty="0"/>
              <a:t>Function without argument , with return value.</a:t>
            </a:r>
          </a:p>
          <a:p>
            <a:pPr marL="514350" indent="-514350">
              <a:buFont typeface="+mj-lt"/>
              <a:buAutoNum type="arabicPeriod"/>
            </a:pPr>
            <a:r>
              <a:rPr lang="en-IN" dirty="0"/>
              <a:t>Function without argument , without return value.</a:t>
            </a:r>
          </a:p>
          <a:p>
            <a:pPr marL="0" indent="0">
              <a:buNone/>
            </a:pPr>
            <a:endParaRPr lang="en-IN" dirty="0"/>
          </a:p>
          <a:p>
            <a:pPr marL="0" indent="0">
              <a:buNone/>
            </a:pPr>
            <a:endParaRPr lang="en-IN" dirty="0"/>
          </a:p>
          <a:p>
            <a:pPr marL="0" indent="0">
              <a:buNone/>
            </a:pPr>
            <a:endParaRPr lang="en-IN" dirty="0"/>
          </a:p>
        </p:txBody>
      </p:sp>
    </p:spTree>
    <p:extLst>
      <p:ext uri="{BB962C8B-B14F-4D97-AF65-F5344CB8AC3E}">
        <p14:creationId xmlns:p14="http://schemas.microsoft.com/office/powerpoint/2010/main" val="365997060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0AE836-7E60-2AFB-7C86-A41E375721A6}"/>
              </a:ext>
            </a:extLst>
          </p:cNvPr>
          <p:cNvSpPr>
            <a:spLocks noGrp="1"/>
          </p:cNvSpPr>
          <p:nvPr>
            <p:ph idx="1"/>
          </p:nvPr>
        </p:nvSpPr>
        <p:spPr>
          <a:xfrm>
            <a:off x="838200" y="522514"/>
            <a:ext cx="10515600" cy="5654449"/>
          </a:xfrm>
        </p:spPr>
        <p:txBody>
          <a:bodyPr/>
          <a:lstStyle/>
          <a:p>
            <a:r>
              <a:rPr lang="en-IN" dirty="0"/>
              <a:t>Function with argument , with return value.</a:t>
            </a:r>
            <a:br>
              <a:rPr lang="en-IN" dirty="0"/>
            </a:br>
            <a:endParaRPr lang="en-IN" dirty="0"/>
          </a:p>
        </p:txBody>
      </p:sp>
      <p:pic>
        <p:nvPicPr>
          <p:cNvPr id="4" name="Content Placeholder 4">
            <a:extLst>
              <a:ext uri="{FF2B5EF4-FFF2-40B4-BE49-F238E27FC236}">
                <a16:creationId xmlns:a16="http://schemas.microsoft.com/office/drawing/2014/main" id="{E4E7416A-37F5-9EA6-3413-617D82E337E5}"/>
              </a:ext>
            </a:extLst>
          </p:cNvPr>
          <p:cNvPicPr>
            <a:picLocks noChangeAspect="1"/>
          </p:cNvPicPr>
          <p:nvPr/>
        </p:nvPicPr>
        <p:blipFill>
          <a:blip r:embed="rId2"/>
          <a:stretch>
            <a:fillRect/>
          </a:stretch>
        </p:blipFill>
        <p:spPr>
          <a:xfrm>
            <a:off x="3163078" y="1722353"/>
            <a:ext cx="4439781" cy="4103434"/>
          </a:xfrm>
          <a:prstGeom prst="rect">
            <a:avLst/>
          </a:prstGeom>
        </p:spPr>
      </p:pic>
    </p:spTree>
    <p:extLst>
      <p:ext uri="{BB962C8B-B14F-4D97-AF65-F5344CB8AC3E}">
        <p14:creationId xmlns:p14="http://schemas.microsoft.com/office/powerpoint/2010/main" val="24784720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3F882C-7AD8-DFE4-86B1-8DACC677626B}"/>
              </a:ext>
            </a:extLst>
          </p:cNvPr>
          <p:cNvSpPr>
            <a:spLocks noGrp="1"/>
          </p:cNvSpPr>
          <p:nvPr>
            <p:ph idx="1"/>
          </p:nvPr>
        </p:nvSpPr>
        <p:spPr>
          <a:xfrm>
            <a:off x="838200" y="419878"/>
            <a:ext cx="10515600" cy="5757085"/>
          </a:xfrm>
        </p:spPr>
        <p:txBody>
          <a:bodyPr/>
          <a:lstStyle/>
          <a:p>
            <a:r>
              <a:rPr lang="en-IN" dirty="0"/>
              <a:t>Function with argument , without return value.</a:t>
            </a:r>
            <a:br>
              <a:rPr lang="en-IN" dirty="0"/>
            </a:br>
            <a:endParaRPr lang="en-IN" dirty="0"/>
          </a:p>
        </p:txBody>
      </p:sp>
      <p:pic>
        <p:nvPicPr>
          <p:cNvPr id="4" name="Content Placeholder 4">
            <a:extLst>
              <a:ext uri="{FF2B5EF4-FFF2-40B4-BE49-F238E27FC236}">
                <a16:creationId xmlns:a16="http://schemas.microsoft.com/office/drawing/2014/main" id="{5A656CB5-E2B6-EBE4-7382-45949C32D6A9}"/>
              </a:ext>
            </a:extLst>
          </p:cNvPr>
          <p:cNvPicPr>
            <a:picLocks noChangeAspect="1"/>
          </p:cNvPicPr>
          <p:nvPr/>
        </p:nvPicPr>
        <p:blipFill>
          <a:blip r:embed="rId2"/>
          <a:stretch>
            <a:fillRect/>
          </a:stretch>
        </p:blipFill>
        <p:spPr>
          <a:xfrm>
            <a:off x="2985796" y="1623527"/>
            <a:ext cx="5343260" cy="4135615"/>
          </a:xfrm>
          <a:prstGeom prst="rect">
            <a:avLst/>
          </a:prstGeom>
        </p:spPr>
      </p:pic>
    </p:spTree>
    <p:extLst>
      <p:ext uri="{BB962C8B-B14F-4D97-AF65-F5344CB8AC3E}">
        <p14:creationId xmlns:p14="http://schemas.microsoft.com/office/powerpoint/2010/main" val="290668089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F5FF17-B264-2134-1AE9-F1844138FBA8}"/>
              </a:ext>
            </a:extLst>
          </p:cNvPr>
          <p:cNvSpPr>
            <a:spLocks noGrp="1"/>
          </p:cNvSpPr>
          <p:nvPr>
            <p:ph idx="1"/>
          </p:nvPr>
        </p:nvSpPr>
        <p:spPr>
          <a:xfrm>
            <a:off x="838200" y="625151"/>
            <a:ext cx="10515600" cy="5551812"/>
          </a:xfrm>
        </p:spPr>
        <p:txBody>
          <a:bodyPr/>
          <a:lstStyle/>
          <a:p>
            <a:r>
              <a:rPr lang="en-IN" dirty="0"/>
              <a:t>Function without argument , with return value.</a:t>
            </a:r>
            <a:br>
              <a:rPr lang="en-IN" dirty="0"/>
            </a:br>
            <a:endParaRPr lang="en-IN" dirty="0"/>
          </a:p>
        </p:txBody>
      </p:sp>
      <p:pic>
        <p:nvPicPr>
          <p:cNvPr id="4" name="Content Placeholder 4">
            <a:extLst>
              <a:ext uri="{FF2B5EF4-FFF2-40B4-BE49-F238E27FC236}">
                <a16:creationId xmlns:a16="http://schemas.microsoft.com/office/drawing/2014/main" id="{4A56F4AC-71E6-65B3-3F82-0243E7DEB245}"/>
              </a:ext>
            </a:extLst>
          </p:cNvPr>
          <p:cNvPicPr>
            <a:picLocks noChangeAspect="1"/>
          </p:cNvPicPr>
          <p:nvPr/>
        </p:nvPicPr>
        <p:blipFill>
          <a:blip r:embed="rId2"/>
          <a:stretch>
            <a:fillRect/>
          </a:stretch>
        </p:blipFill>
        <p:spPr>
          <a:xfrm>
            <a:off x="3069772" y="1762954"/>
            <a:ext cx="5010538" cy="4581862"/>
          </a:xfrm>
          <a:prstGeom prst="rect">
            <a:avLst/>
          </a:prstGeom>
        </p:spPr>
      </p:pic>
    </p:spTree>
    <p:extLst>
      <p:ext uri="{BB962C8B-B14F-4D97-AF65-F5344CB8AC3E}">
        <p14:creationId xmlns:p14="http://schemas.microsoft.com/office/powerpoint/2010/main" val="282438465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32BFDF-05DC-E84B-DEC4-6CAF15DAB5DD}"/>
              </a:ext>
            </a:extLst>
          </p:cNvPr>
          <p:cNvSpPr>
            <a:spLocks noGrp="1"/>
          </p:cNvSpPr>
          <p:nvPr>
            <p:ph idx="1"/>
          </p:nvPr>
        </p:nvSpPr>
        <p:spPr>
          <a:xfrm>
            <a:off x="838200" y="550506"/>
            <a:ext cx="10515600" cy="5626457"/>
          </a:xfrm>
        </p:spPr>
        <p:txBody>
          <a:bodyPr/>
          <a:lstStyle/>
          <a:p>
            <a:r>
              <a:rPr lang="en-IN" dirty="0"/>
              <a:t>Function without argument , without return value.</a:t>
            </a:r>
            <a:br>
              <a:rPr lang="en-IN" dirty="0"/>
            </a:br>
            <a:endParaRPr lang="en-IN" dirty="0"/>
          </a:p>
        </p:txBody>
      </p:sp>
      <p:pic>
        <p:nvPicPr>
          <p:cNvPr id="4" name="Content Placeholder 4">
            <a:extLst>
              <a:ext uri="{FF2B5EF4-FFF2-40B4-BE49-F238E27FC236}">
                <a16:creationId xmlns:a16="http://schemas.microsoft.com/office/drawing/2014/main" id="{22D7893A-3D23-67A6-9DFA-9C73FB29BAC3}"/>
              </a:ext>
            </a:extLst>
          </p:cNvPr>
          <p:cNvPicPr>
            <a:picLocks noChangeAspect="1"/>
          </p:cNvPicPr>
          <p:nvPr/>
        </p:nvPicPr>
        <p:blipFill>
          <a:blip r:embed="rId2"/>
          <a:stretch>
            <a:fillRect/>
          </a:stretch>
        </p:blipFill>
        <p:spPr>
          <a:xfrm>
            <a:off x="3032449" y="1920221"/>
            <a:ext cx="5458408" cy="4319261"/>
          </a:xfrm>
          <a:prstGeom prst="rect">
            <a:avLst/>
          </a:prstGeom>
        </p:spPr>
      </p:pic>
    </p:spTree>
    <p:extLst>
      <p:ext uri="{BB962C8B-B14F-4D97-AF65-F5344CB8AC3E}">
        <p14:creationId xmlns:p14="http://schemas.microsoft.com/office/powerpoint/2010/main" val="96163357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CFD75E-6676-55E5-6D72-160903C074AC}"/>
              </a:ext>
            </a:extLst>
          </p:cNvPr>
          <p:cNvSpPr>
            <a:spLocks noGrp="1"/>
          </p:cNvSpPr>
          <p:nvPr>
            <p:ph idx="1"/>
          </p:nvPr>
        </p:nvSpPr>
        <p:spPr>
          <a:xfrm>
            <a:off x="838200" y="513184"/>
            <a:ext cx="10515600" cy="5663779"/>
          </a:xfrm>
        </p:spPr>
        <p:txBody>
          <a:bodyPr>
            <a:normAutofit lnSpcReduction="10000"/>
          </a:bodyPr>
          <a:lstStyle/>
          <a:p>
            <a:pPr marL="0" indent="0">
              <a:lnSpc>
                <a:spcPct val="150000"/>
              </a:lnSpc>
              <a:buNone/>
            </a:pPr>
            <a:r>
              <a:rPr lang="en-IN" b="1" i="0" dirty="0">
                <a:solidFill>
                  <a:srgbClr val="7030A0"/>
                </a:solidFill>
                <a:effectLst/>
              </a:rPr>
              <a:t>Recursion in </a:t>
            </a:r>
            <a:r>
              <a:rPr lang="en-IN" b="1" dirty="0">
                <a:solidFill>
                  <a:srgbClr val="7030A0"/>
                </a:solidFill>
              </a:rPr>
              <a:t>C</a:t>
            </a:r>
            <a:endParaRPr lang="en-IN" b="1" i="0" dirty="0">
              <a:solidFill>
                <a:srgbClr val="7030A0"/>
              </a:solidFill>
              <a:effectLst/>
            </a:endParaRPr>
          </a:p>
          <a:p>
            <a:pPr>
              <a:lnSpc>
                <a:spcPct val="150000"/>
              </a:lnSpc>
            </a:pPr>
            <a:r>
              <a:rPr lang="en-US" b="0" i="0" dirty="0">
                <a:solidFill>
                  <a:srgbClr val="333333"/>
                </a:solidFill>
                <a:effectLst/>
              </a:rPr>
              <a:t>Recursion in java is a process in which a method calls itself continuously.</a:t>
            </a:r>
          </a:p>
          <a:p>
            <a:pPr>
              <a:lnSpc>
                <a:spcPct val="150000"/>
              </a:lnSpc>
            </a:pPr>
            <a:r>
              <a:rPr lang="en-US" b="0" i="0" dirty="0">
                <a:solidFill>
                  <a:srgbClr val="333333"/>
                </a:solidFill>
                <a:effectLst/>
              </a:rPr>
              <a:t> A method in java that calls itself is called recursive method.</a:t>
            </a:r>
          </a:p>
          <a:p>
            <a:pPr marL="0" indent="0">
              <a:lnSpc>
                <a:spcPct val="150000"/>
              </a:lnSpc>
              <a:buNone/>
            </a:pPr>
            <a:r>
              <a:rPr lang="en-IN" b="1" i="0" dirty="0">
                <a:solidFill>
                  <a:srgbClr val="7030A0"/>
                </a:solidFill>
                <a:effectLst/>
                <a:latin typeface="inter-bold"/>
              </a:rPr>
              <a:t>Syntax:</a:t>
            </a:r>
          </a:p>
          <a:p>
            <a:pPr marL="0" indent="0">
              <a:lnSpc>
                <a:spcPct val="150000"/>
              </a:lnSpc>
              <a:buNone/>
            </a:pPr>
            <a:r>
              <a:rPr lang="en-US" b="0" i="0" dirty="0">
                <a:solidFill>
                  <a:srgbClr val="000000"/>
                </a:solidFill>
                <a:effectLst/>
              </a:rPr>
              <a:t>Return type method name(){  </a:t>
            </a:r>
          </a:p>
          <a:p>
            <a:pPr marL="0" indent="0">
              <a:lnSpc>
                <a:spcPct val="150000"/>
              </a:lnSpc>
              <a:buNone/>
            </a:pPr>
            <a:r>
              <a:rPr lang="en-US" b="0" i="0" dirty="0">
                <a:solidFill>
                  <a:srgbClr val="000000"/>
                </a:solidFill>
                <a:effectLst/>
              </a:rPr>
              <a:t>Method name();</a:t>
            </a:r>
            <a:r>
              <a:rPr lang="en-US" b="0" i="0" dirty="0">
                <a:solidFill>
                  <a:srgbClr val="008200"/>
                </a:solidFill>
                <a:effectLst/>
              </a:rPr>
              <a:t>//calling same method</a:t>
            </a:r>
            <a:r>
              <a:rPr lang="en-US" b="0" i="0" dirty="0">
                <a:solidFill>
                  <a:srgbClr val="000000"/>
                </a:solidFill>
                <a:effectLst/>
              </a:rPr>
              <a:t>  </a:t>
            </a:r>
          </a:p>
          <a:p>
            <a:pPr marL="0" indent="0">
              <a:lnSpc>
                <a:spcPct val="150000"/>
              </a:lnSpc>
              <a:buNone/>
            </a:pPr>
            <a:r>
              <a:rPr lang="en-US" b="0" i="0" dirty="0">
                <a:solidFill>
                  <a:srgbClr val="000000"/>
                </a:solidFill>
                <a:effectLst/>
              </a:rPr>
              <a:t>}  </a:t>
            </a:r>
          </a:p>
          <a:p>
            <a:pPr marL="0" indent="0">
              <a:lnSpc>
                <a:spcPct val="150000"/>
              </a:lnSpc>
              <a:buNone/>
            </a:pPr>
            <a:endParaRPr lang="en-IN" dirty="0">
              <a:solidFill>
                <a:srgbClr val="7030A0"/>
              </a:solidFill>
            </a:endParaRPr>
          </a:p>
        </p:txBody>
      </p:sp>
    </p:spTree>
    <p:extLst>
      <p:ext uri="{BB962C8B-B14F-4D97-AF65-F5344CB8AC3E}">
        <p14:creationId xmlns:p14="http://schemas.microsoft.com/office/powerpoint/2010/main" val="333320829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7B674E-3DCF-5DB6-0824-1CF0150C83B4}"/>
              </a:ext>
            </a:extLst>
          </p:cNvPr>
          <p:cNvSpPr>
            <a:spLocks noGrp="1"/>
          </p:cNvSpPr>
          <p:nvPr>
            <p:ph idx="1"/>
          </p:nvPr>
        </p:nvSpPr>
        <p:spPr>
          <a:xfrm>
            <a:off x="838200" y="531845"/>
            <a:ext cx="10515600" cy="5645118"/>
          </a:xfrm>
        </p:spPr>
        <p:txBody>
          <a:bodyPr/>
          <a:lstStyle/>
          <a:p>
            <a:r>
              <a:rPr lang="en-IN" dirty="0">
                <a:solidFill>
                  <a:srgbClr val="002060"/>
                </a:solidFill>
              </a:rPr>
              <a:t>Example Program To find factorial of given number.</a:t>
            </a:r>
          </a:p>
          <a:p>
            <a:endParaRPr lang="en-IN" dirty="0"/>
          </a:p>
        </p:txBody>
      </p:sp>
      <p:pic>
        <p:nvPicPr>
          <p:cNvPr id="4" name="Picture 3">
            <a:extLst>
              <a:ext uri="{FF2B5EF4-FFF2-40B4-BE49-F238E27FC236}">
                <a16:creationId xmlns:a16="http://schemas.microsoft.com/office/drawing/2014/main" id="{2E48156E-D16A-08F9-986B-CC11B37A6C80}"/>
              </a:ext>
            </a:extLst>
          </p:cNvPr>
          <p:cNvPicPr>
            <a:picLocks noChangeAspect="1"/>
          </p:cNvPicPr>
          <p:nvPr/>
        </p:nvPicPr>
        <p:blipFill>
          <a:blip r:embed="rId2"/>
          <a:stretch>
            <a:fillRect/>
          </a:stretch>
        </p:blipFill>
        <p:spPr>
          <a:xfrm>
            <a:off x="2472613" y="1711901"/>
            <a:ext cx="5548410" cy="3434197"/>
          </a:xfrm>
          <a:prstGeom prst="rect">
            <a:avLst/>
          </a:prstGeom>
        </p:spPr>
      </p:pic>
    </p:spTree>
    <p:extLst>
      <p:ext uri="{BB962C8B-B14F-4D97-AF65-F5344CB8AC3E}">
        <p14:creationId xmlns:p14="http://schemas.microsoft.com/office/powerpoint/2010/main" val="395598051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618BB8-D6EC-215C-605B-654D1784888E}"/>
              </a:ext>
            </a:extLst>
          </p:cNvPr>
          <p:cNvSpPr>
            <a:spLocks noGrp="1"/>
          </p:cNvSpPr>
          <p:nvPr>
            <p:ph idx="1"/>
          </p:nvPr>
        </p:nvSpPr>
        <p:spPr>
          <a:xfrm>
            <a:off x="838200" y="559837"/>
            <a:ext cx="10515600" cy="5617126"/>
          </a:xfrm>
        </p:spPr>
        <p:txBody>
          <a:bodyPr/>
          <a:lstStyle/>
          <a:p>
            <a:pPr marL="0" indent="0">
              <a:lnSpc>
                <a:spcPct val="150000"/>
              </a:lnSpc>
              <a:buNone/>
            </a:pPr>
            <a:r>
              <a:rPr lang="en-US" b="1" dirty="0">
                <a:solidFill>
                  <a:srgbClr val="7030A0"/>
                </a:solidFill>
              </a:rPr>
              <a:t>Strings in c</a:t>
            </a:r>
          </a:p>
          <a:p>
            <a:pPr>
              <a:lnSpc>
                <a:spcPct val="150000"/>
              </a:lnSpc>
            </a:pPr>
            <a:r>
              <a:rPr lang="en-US" b="0" i="0" dirty="0">
                <a:solidFill>
                  <a:srgbClr val="333333"/>
                </a:solidFill>
                <a:effectLst/>
              </a:rPr>
              <a:t>The string can be defined as the </a:t>
            </a:r>
            <a:r>
              <a:rPr lang="en-US" b="1" i="0" dirty="0">
                <a:solidFill>
                  <a:srgbClr val="7030A0"/>
                </a:solidFill>
                <a:effectLst/>
              </a:rPr>
              <a:t>one-dimensional array of characters terminated by a null ('\0’).</a:t>
            </a:r>
          </a:p>
          <a:p>
            <a:pPr>
              <a:lnSpc>
                <a:spcPct val="150000"/>
              </a:lnSpc>
            </a:pPr>
            <a:r>
              <a:rPr lang="en-US" b="0" i="0" dirty="0">
                <a:solidFill>
                  <a:srgbClr val="333333"/>
                </a:solidFill>
                <a:effectLst/>
              </a:rPr>
              <a:t>Each character in the array occupies one byte of memory, and the last character must always be 0. </a:t>
            </a:r>
          </a:p>
          <a:p>
            <a:pPr>
              <a:lnSpc>
                <a:spcPct val="150000"/>
              </a:lnSpc>
            </a:pPr>
            <a:r>
              <a:rPr lang="en-US" b="1" i="0" dirty="0">
                <a:solidFill>
                  <a:srgbClr val="7030A0"/>
                </a:solidFill>
                <a:effectLst/>
              </a:rPr>
              <a:t>The termination character ('\0') is important in a string since it is the only way to identify where the string ends.</a:t>
            </a:r>
            <a:endParaRPr lang="en-IN" b="1" dirty="0">
              <a:solidFill>
                <a:srgbClr val="7030A0"/>
              </a:solidFill>
            </a:endParaRPr>
          </a:p>
        </p:txBody>
      </p:sp>
    </p:spTree>
    <p:extLst>
      <p:ext uri="{BB962C8B-B14F-4D97-AF65-F5344CB8AC3E}">
        <p14:creationId xmlns:p14="http://schemas.microsoft.com/office/powerpoint/2010/main" val="336359200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AFAA1B-F178-8ABD-D3CA-E9BFB19E63B0}"/>
              </a:ext>
            </a:extLst>
          </p:cNvPr>
          <p:cNvSpPr>
            <a:spLocks noGrp="1"/>
          </p:cNvSpPr>
          <p:nvPr>
            <p:ph idx="1"/>
          </p:nvPr>
        </p:nvSpPr>
        <p:spPr>
          <a:xfrm>
            <a:off x="838200" y="522514"/>
            <a:ext cx="10515600" cy="5654449"/>
          </a:xfrm>
        </p:spPr>
        <p:txBody>
          <a:bodyPr/>
          <a:lstStyle/>
          <a:p>
            <a:pPr algn="just">
              <a:lnSpc>
                <a:spcPct val="150000"/>
              </a:lnSpc>
            </a:pPr>
            <a:r>
              <a:rPr lang="en-US" b="0" i="0" dirty="0">
                <a:solidFill>
                  <a:srgbClr val="333333"/>
                </a:solidFill>
                <a:effectLst/>
                <a:latin typeface="inter-regular"/>
              </a:rPr>
              <a:t>There </a:t>
            </a:r>
            <a:r>
              <a:rPr lang="en-US" b="1" i="0" dirty="0">
                <a:solidFill>
                  <a:srgbClr val="7030A0"/>
                </a:solidFill>
                <a:effectLst/>
                <a:latin typeface="inter-regular"/>
              </a:rPr>
              <a:t>are two ways to declare a string in c language</a:t>
            </a:r>
            <a:r>
              <a:rPr lang="en-US" b="0" i="0" dirty="0">
                <a:solidFill>
                  <a:srgbClr val="333333"/>
                </a:solidFill>
                <a:effectLst/>
                <a:latin typeface="inter-regular"/>
              </a:rPr>
              <a:t>.</a:t>
            </a:r>
          </a:p>
          <a:p>
            <a:pPr algn="just">
              <a:lnSpc>
                <a:spcPct val="150000"/>
              </a:lnSpc>
              <a:buFont typeface="+mj-lt"/>
              <a:buAutoNum type="arabicPeriod"/>
            </a:pPr>
            <a:r>
              <a:rPr lang="en-US" b="0" i="0" dirty="0">
                <a:solidFill>
                  <a:srgbClr val="000000"/>
                </a:solidFill>
                <a:effectLst/>
                <a:latin typeface="inter-regular"/>
              </a:rPr>
              <a:t>By char array</a:t>
            </a:r>
          </a:p>
          <a:p>
            <a:pPr algn="just">
              <a:lnSpc>
                <a:spcPct val="150000"/>
              </a:lnSpc>
              <a:buFont typeface="+mj-lt"/>
              <a:buAutoNum type="arabicPeriod"/>
            </a:pPr>
            <a:r>
              <a:rPr lang="en-US" b="0" i="0" dirty="0">
                <a:solidFill>
                  <a:srgbClr val="000000"/>
                </a:solidFill>
                <a:effectLst/>
                <a:latin typeface="inter-regular"/>
              </a:rPr>
              <a:t>By string literal</a:t>
            </a:r>
          </a:p>
          <a:p>
            <a:endParaRPr lang="en-IN" dirty="0"/>
          </a:p>
        </p:txBody>
      </p:sp>
    </p:spTree>
    <p:extLst>
      <p:ext uri="{BB962C8B-B14F-4D97-AF65-F5344CB8AC3E}">
        <p14:creationId xmlns:p14="http://schemas.microsoft.com/office/powerpoint/2010/main" val="309742656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846842-F4A7-9494-8725-193156E3FA6A}"/>
              </a:ext>
            </a:extLst>
          </p:cNvPr>
          <p:cNvSpPr>
            <a:spLocks noGrp="1"/>
          </p:cNvSpPr>
          <p:nvPr>
            <p:ph idx="1"/>
          </p:nvPr>
        </p:nvSpPr>
        <p:spPr>
          <a:xfrm>
            <a:off x="838200" y="513184"/>
            <a:ext cx="10515600" cy="5663779"/>
          </a:xfrm>
        </p:spPr>
        <p:txBody>
          <a:bodyPr/>
          <a:lstStyle/>
          <a:p>
            <a:pPr marL="514350" indent="-514350">
              <a:buAutoNum type="arabicPeriod"/>
            </a:pPr>
            <a:r>
              <a:rPr lang="en-US" b="1" i="0" dirty="0">
                <a:solidFill>
                  <a:srgbClr val="7030A0"/>
                </a:solidFill>
                <a:effectLst/>
              </a:rPr>
              <a:t>Declaring  string by char array</a:t>
            </a:r>
          </a:p>
          <a:p>
            <a:pPr marL="0" indent="0">
              <a:buNone/>
            </a:pPr>
            <a:r>
              <a:rPr lang="en-US" b="1" dirty="0">
                <a:solidFill>
                  <a:srgbClr val="333333"/>
                </a:solidFill>
              </a:rPr>
              <a:t>   </a:t>
            </a:r>
            <a:r>
              <a:rPr lang="en-IN" b="1" i="0" dirty="0">
                <a:solidFill>
                  <a:srgbClr val="2E8B57"/>
                </a:solidFill>
                <a:effectLst/>
              </a:rPr>
              <a:t>char</a:t>
            </a:r>
            <a:r>
              <a:rPr lang="en-IN" b="0" i="0" dirty="0">
                <a:solidFill>
                  <a:srgbClr val="000000"/>
                </a:solidFill>
                <a:effectLst/>
              </a:rPr>
              <a:t> </a:t>
            </a:r>
            <a:r>
              <a:rPr lang="en-IN" b="0" i="0" dirty="0" err="1">
                <a:solidFill>
                  <a:srgbClr val="000000"/>
                </a:solidFill>
                <a:effectLst/>
              </a:rPr>
              <a:t>ch</a:t>
            </a:r>
            <a:r>
              <a:rPr lang="en-IN" b="0" i="0" dirty="0">
                <a:solidFill>
                  <a:srgbClr val="000000"/>
                </a:solidFill>
                <a:effectLst/>
              </a:rPr>
              <a:t>[10]={</a:t>
            </a:r>
            <a:r>
              <a:rPr lang="en-IN" b="0" i="0" dirty="0">
                <a:solidFill>
                  <a:srgbClr val="0000FF"/>
                </a:solidFill>
                <a:effectLst/>
              </a:rPr>
              <a:t>‘H'</a:t>
            </a:r>
            <a:r>
              <a:rPr lang="en-IN" b="0" i="0" dirty="0">
                <a:solidFill>
                  <a:srgbClr val="000000"/>
                </a:solidFill>
                <a:effectLst/>
              </a:rPr>
              <a:t>, </a:t>
            </a:r>
            <a:r>
              <a:rPr lang="en-IN" b="0" i="0" dirty="0">
                <a:solidFill>
                  <a:srgbClr val="0000FF"/>
                </a:solidFill>
                <a:effectLst/>
              </a:rPr>
              <a:t>’e'</a:t>
            </a:r>
            <a:r>
              <a:rPr lang="en-IN" b="0" i="0" dirty="0">
                <a:solidFill>
                  <a:srgbClr val="000000"/>
                </a:solidFill>
                <a:effectLst/>
              </a:rPr>
              <a:t>, </a:t>
            </a:r>
            <a:r>
              <a:rPr lang="en-IN" b="0" i="0" dirty="0">
                <a:solidFill>
                  <a:srgbClr val="0000FF"/>
                </a:solidFill>
                <a:effectLst/>
              </a:rPr>
              <a:t>’l'</a:t>
            </a:r>
            <a:r>
              <a:rPr lang="en-IN" b="0" i="0" dirty="0">
                <a:solidFill>
                  <a:srgbClr val="000000"/>
                </a:solidFill>
                <a:effectLst/>
              </a:rPr>
              <a:t>, </a:t>
            </a:r>
            <a:r>
              <a:rPr lang="en-IN" b="0" i="0" dirty="0">
                <a:solidFill>
                  <a:srgbClr val="0000FF"/>
                </a:solidFill>
                <a:effectLst/>
              </a:rPr>
              <a:t>’l'</a:t>
            </a:r>
            <a:r>
              <a:rPr lang="en-IN" b="0" i="0" dirty="0">
                <a:solidFill>
                  <a:srgbClr val="000000"/>
                </a:solidFill>
                <a:effectLst/>
              </a:rPr>
              <a:t>, </a:t>
            </a:r>
            <a:r>
              <a:rPr lang="en-IN" b="0" i="0" dirty="0">
                <a:solidFill>
                  <a:srgbClr val="0000FF"/>
                </a:solidFill>
                <a:effectLst/>
              </a:rPr>
              <a:t>’o'</a:t>
            </a:r>
            <a:r>
              <a:rPr lang="en-IN" b="0" i="0" dirty="0">
                <a:solidFill>
                  <a:srgbClr val="000000"/>
                </a:solidFill>
                <a:effectLst/>
              </a:rPr>
              <a:t>, </a:t>
            </a:r>
            <a:r>
              <a:rPr lang="en-IN" b="0" i="0" dirty="0">
                <a:solidFill>
                  <a:srgbClr val="0000FF"/>
                </a:solidFill>
                <a:effectLst/>
              </a:rPr>
              <a:t>’C'</a:t>
            </a:r>
            <a:r>
              <a:rPr lang="en-IN" b="0" i="0" dirty="0">
                <a:solidFill>
                  <a:srgbClr val="000000"/>
                </a:solidFill>
                <a:effectLst/>
              </a:rPr>
              <a:t>, </a:t>
            </a:r>
            <a:r>
              <a:rPr lang="en-IN" b="0" i="0" dirty="0">
                <a:solidFill>
                  <a:srgbClr val="0000FF"/>
                </a:solidFill>
                <a:effectLst/>
              </a:rPr>
              <a:t>'\0'</a:t>
            </a:r>
            <a:r>
              <a:rPr lang="en-IN" b="0" i="0" dirty="0">
                <a:solidFill>
                  <a:srgbClr val="000000"/>
                </a:solidFill>
                <a:effectLst/>
              </a:rPr>
              <a:t>};  </a:t>
            </a:r>
          </a:p>
          <a:p>
            <a:pPr marL="0" indent="0">
              <a:buNone/>
            </a:pPr>
            <a:endParaRPr lang="en-IN" b="0" i="0" dirty="0">
              <a:solidFill>
                <a:srgbClr val="000000"/>
              </a:solidFill>
              <a:effectLst/>
            </a:endParaRPr>
          </a:p>
          <a:p>
            <a:pPr marL="0" indent="0">
              <a:buNone/>
            </a:pPr>
            <a:endParaRPr lang="en-IN" dirty="0"/>
          </a:p>
          <a:p>
            <a:pPr marL="0" indent="0">
              <a:buNone/>
            </a:pPr>
            <a:endParaRPr lang="en-IN" dirty="0"/>
          </a:p>
          <a:p>
            <a:pPr marL="0" indent="0">
              <a:buNone/>
            </a:pPr>
            <a:endParaRPr lang="en-IN" dirty="0"/>
          </a:p>
          <a:p>
            <a:pPr marL="0" indent="0">
              <a:buNone/>
            </a:pPr>
            <a:r>
              <a:rPr lang="en-IN" dirty="0">
                <a:solidFill>
                  <a:srgbClr val="7030A0"/>
                </a:solidFill>
              </a:rPr>
              <a:t>2.</a:t>
            </a:r>
            <a:r>
              <a:rPr lang="en-US" b="1" i="0" dirty="0">
                <a:solidFill>
                  <a:srgbClr val="7030A0"/>
                </a:solidFill>
                <a:effectLst/>
              </a:rPr>
              <a:t> String  by the string literal</a:t>
            </a:r>
            <a:r>
              <a:rPr lang="en-US" b="0" i="0" dirty="0">
                <a:solidFill>
                  <a:srgbClr val="7030A0"/>
                </a:solidFill>
                <a:effectLst/>
              </a:rPr>
              <a:t> </a:t>
            </a:r>
            <a:endParaRPr lang="en-IN" b="0" i="0" dirty="0">
              <a:solidFill>
                <a:srgbClr val="7030A0"/>
              </a:solidFill>
              <a:effectLst/>
            </a:endParaRPr>
          </a:p>
          <a:p>
            <a:pPr marL="0" indent="0">
              <a:buNone/>
            </a:pPr>
            <a:r>
              <a:rPr lang="en-IN" b="1" i="0" dirty="0">
                <a:solidFill>
                  <a:srgbClr val="2E8B57"/>
                </a:solidFill>
                <a:effectLst/>
              </a:rPr>
              <a:t>char</a:t>
            </a:r>
            <a:r>
              <a:rPr lang="en-IN" b="0" i="0" dirty="0">
                <a:solidFill>
                  <a:srgbClr val="000000"/>
                </a:solidFill>
                <a:effectLst/>
              </a:rPr>
              <a:t> </a:t>
            </a:r>
            <a:r>
              <a:rPr lang="en-IN" b="0" i="0" dirty="0" err="1">
                <a:solidFill>
                  <a:srgbClr val="000000"/>
                </a:solidFill>
                <a:effectLst/>
              </a:rPr>
              <a:t>ch</a:t>
            </a:r>
            <a:r>
              <a:rPr lang="en-IN" b="0" i="0" dirty="0">
                <a:solidFill>
                  <a:srgbClr val="000000"/>
                </a:solidFill>
                <a:effectLst/>
              </a:rPr>
              <a:t>[]=</a:t>
            </a:r>
            <a:r>
              <a:rPr lang="en-IN" b="0" i="0" dirty="0">
                <a:solidFill>
                  <a:srgbClr val="0000FF"/>
                </a:solidFill>
                <a:effectLst/>
              </a:rPr>
              <a:t>“</a:t>
            </a:r>
            <a:r>
              <a:rPr lang="en-IN" b="0" i="0" dirty="0" err="1">
                <a:solidFill>
                  <a:srgbClr val="0000FF"/>
                </a:solidFill>
                <a:effectLst/>
              </a:rPr>
              <a:t>HelloC</a:t>
            </a:r>
            <a:r>
              <a:rPr lang="en-IN" b="0" i="0" dirty="0">
                <a:solidFill>
                  <a:srgbClr val="0000FF"/>
                </a:solidFill>
                <a:effectLst/>
              </a:rPr>
              <a:t>"</a:t>
            </a:r>
            <a:r>
              <a:rPr lang="en-IN" b="0" i="0" dirty="0">
                <a:solidFill>
                  <a:srgbClr val="000000"/>
                </a:solidFill>
                <a:effectLst/>
              </a:rPr>
              <a:t>;</a:t>
            </a:r>
          </a:p>
          <a:p>
            <a:pPr marL="0" indent="0">
              <a:buNone/>
            </a:pPr>
            <a:r>
              <a:rPr lang="en-US" b="0" i="0" dirty="0">
                <a:solidFill>
                  <a:srgbClr val="333333"/>
                </a:solidFill>
                <a:effectLst/>
              </a:rPr>
              <a:t>In such case, '\0' will be appended at the end of the string by the compiler.</a:t>
            </a:r>
            <a:r>
              <a:rPr lang="en-IN" b="0" i="0" dirty="0">
                <a:solidFill>
                  <a:srgbClr val="000000"/>
                </a:solidFill>
                <a:effectLst/>
              </a:rPr>
              <a:t> </a:t>
            </a:r>
            <a:endParaRPr lang="en-IN" dirty="0"/>
          </a:p>
        </p:txBody>
      </p:sp>
    </p:spTree>
    <p:extLst>
      <p:ext uri="{BB962C8B-B14F-4D97-AF65-F5344CB8AC3E}">
        <p14:creationId xmlns:p14="http://schemas.microsoft.com/office/powerpoint/2010/main" val="174889669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A35A73-4299-DC9C-BF91-417481A0A422}"/>
              </a:ext>
            </a:extLst>
          </p:cNvPr>
          <p:cNvSpPr>
            <a:spLocks noGrp="1"/>
          </p:cNvSpPr>
          <p:nvPr>
            <p:ph idx="1"/>
          </p:nvPr>
        </p:nvSpPr>
        <p:spPr>
          <a:xfrm>
            <a:off x="838200" y="513184"/>
            <a:ext cx="10515600" cy="5663779"/>
          </a:xfrm>
        </p:spPr>
        <p:txBody>
          <a:bodyPr>
            <a:normAutofit/>
          </a:bodyPr>
          <a:lstStyle/>
          <a:p>
            <a:pPr marL="0" indent="0" algn="just">
              <a:buNone/>
            </a:pPr>
            <a:r>
              <a:rPr lang="en-US" b="1" i="0" dirty="0">
                <a:solidFill>
                  <a:srgbClr val="7030A0"/>
                </a:solidFill>
                <a:effectLst/>
              </a:rPr>
              <a:t>Accepting string as the input</a:t>
            </a:r>
          </a:p>
          <a:p>
            <a:pPr algn="just"/>
            <a:r>
              <a:rPr lang="en-US" b="0" i="0" dirty="0">
                <a:solidFill>
                  <a:srgbClr val="333333"/>
                </a:solidFill>
                <a:effectLst/>
              </a:rPr>
              <a:t>Till now, we have used </a:t>
            </a:r>
            <a:r>
              <a:rPr lang="en-US" b="0" i="0" dirty="0" err="1">
                <a:solidFill>
                  <a:srgbClr val="333333"/>
                </a:solidFill>
                <a:effectLst/>
              </a:rPr>
              <a:t>scanf</a:t>
            </a:r>
            <a:r>
              <a:rPr lang="en-US" b="0" i="0" dirty="0">
                <a:solidFill>
                  <a:srgbClr val="333333"/>
                </a:solidFill>
                <a:effectLst/>
              </a:rPr>
              <a:t> to accept the input from the user. </a:t>
            </a:r>
          </a:p>
          <a:p>
            <a:pPr algn="just"/>
            <a:r>
              <a:rPr lang="en-US" b="0" i="0" dirty="0">
                <a:solidFill>
                  <a:srgbClr val="333333"/>
                </a:solidFill>
                <a:effectLst/>
              </a:rPr>
              <a:t>Consider the below code which stores the string while space is encountered.</a:t>
            </a:r>
          </a:p>
          <a:p>
            <a:pPr marL="0" indent="0" algn="just">
              <a:buNone/>
            </a:pPr>
            <a:r>
              <a:rPr lang="en-US" b="0" i="0" dirty="0">
                <a:solidFill>
                  <a:srgbClr val="0000FF"/>
                </a:solidFill>
                <a:effectLst/>
              </a:rPr>
              <a:t>#include&lt;stdio.h&gt;</a:t>
            </a:r>
            <a:r>
              <a:rPr lang="en-US" b="0" i="0" dirty="0">
                <a:solidFill>
                  <a:srgbClr val="000000"/>
                </a:solidFill>
                <a:effectLst/>
              </a:rPr>
              <a:t>  </a:t>
            </a:r>
          </a:p>
          <a:p>
            <a:pPr marL="0" indent="0" algn="just">
              <a:buNone/>
            </a:pPr>
            <a:r>
              <a:rPr lang="en-US" b="1" i="0" dirty="0">
                <a:solidFill>
                  <a:srgbClr val="006699"/>
                </a:solidFill>
                <a:effectLst/>
              </a:rPr>
              <a:t>void</a:t>
            </a:r>
            <a:r>
              <a:rPr lang="en-US" b="0" i="0" dirty="0">
                <a:solidFill>
                  <a:srgbClr val="000000"/>
                </a:solidFill>
                <a:effectLst/>
              </a:rPr>
              <a:t> main ()  </a:t>
            </a:r>
          </a:p>
          <a:p>
            <a:pPr marL="0" indent="0" algn="just">
              <a:buNone/>
            </a:pPr>
            <a:r>
              <a:rPr lang="en-US" b="0" i="0" dirty="0">
                <a:solidFill>
                  <a:srgbClr val="000000"/>
                </a:solidFill>
                <a:effectLst/>
              </a:rPr>
              <a:t>{    </a:t>
            </a:r>
            <a:r>
              <a:rPr lang="en-US" b="1" i="0" dirty="0">
                <a:solidFill>
                  <a:srgbClr val="2E8B57"/>
                </a:solidFill>
                <a:effectLst/>
              </a:rPr>
              <a:t>char</a:t>
            </a:r>
            <a:r>
              <a:rPr lang="en-US" b="0" i="0" dirty="0">
                <a:solidFill>
                  <a:srgbClr val="000000"/>
                </a:solidFill>
                <a:effectLst/>
              </a:rPr>
              <a:t> s[20];  </a:t>
            </a:r>
          </a:p>
          <a:p>
            <a:pPr marL="0" indent="0" algn="just">
              <a:buNone/>
            </a:pPr>
            <a:r>
              <a:rPr lang="en-US" b="0" i="0" dirty="0">
                <a:solidFill>
                  <a:srgbClr val="000000"/>
                </a:solidFill>
                <a:effectLst/>
              </a:rPr>
              <a:t>    </a:t>
            </a:r>
            <a:r>
              <a:rPr lang="en-US" b="0" i="0" dirty="0" err="1">
                <a:solidFill>
                  <a:srgbClr val="000000"/>
                </a:solidFill>
                <a:effectLst/>
              </a:rPr>
              <a:t>printf</a:t>
            </a:r>
            <a:r>
              <a:rPr lang="en-US" b="0" i="0" dirty="0">
                <a:solidFill>
                  <a:srgbClr val="000000"/>
                </a:solidFill>
                <a:effectLst/>
              </a:rPr>
              <a:t>(</a:t>
            </a:r>
            <a:r>
              <a:rPr lang="en-US" b="0" i="0" dirty="0">
                <a:solidFill>
                  <a:srgbClr val="0000FF"/>
                </a:solidFill>
                <a:effectLst/>
              </a:rPr>
              <a:t>"Enter the string?"</a:t>
            </a:r>
            <a:r>
              <a:rPr lang="en-US" b="0" i="0" dirty="0">
                <a:solidFill>
                  <a:srgbClr val="000000"/>
                </a:solidFill>
                <a:effectLst/>
              </a:rPr>
              <a:t>);  </a:t>
            </a:r>
          </a:p>
          <a:p>
            <a:pPr marL="0" indent="0" algn="just">
              <a:buNone/>
            </a:pPr>
            <a:r>
              <a:rPr lang="en-US" b="0" i="0" dirty="0">
                <a:solidFill>
                  <a:srgbClr val="000000"/>
                </a:solidFill>
                <a:effectLst/>
              </a:rPr>
              <a:t>    </a:t>
            </a:r>
            <a:r>
              <a:rPr lang="en-US" b="0" i="0" dirty="0" err="1">
                <a:solidFill>
                  <a:srgbClr val="000000"/>
                </a:solidFill>
                <a:effectLst/>
              </a:rPr>
              <a:t>scanf</a:t>
            </a:r>
            <a:r>
              <a:rPr lang="en-US" b="0" i="0" dirty="0">
                <a:solidFill>
                  <a:srgbClr val="000000"/>
                </a:solidFill>
                <a:effectLst/>
              </a:rPr>
              <a:t>(</a:t>
            </a:r>
            <a:r>
              <a:rPr lang="en-US" b="0" i="0" dirty="0">
                <a:solidFill>
                  <a:srgbClr val="0000FF"/>
                </a:solidFill>
                <a:effectLst/>
              </a:rPr>
              <a:t>"%</a:t>
            </a:r>
            <a:r>
              <a:rPr lang="en-US" b="0" i="0" dirty="0" err="1">
                <a:solidFill>
                  <a:srgbClr val="0000FF"/>
                </a:solidFill>
                <a:effectLst/>
              </a:rPr>
              <a:t>s"</a:t>
            </a:r>
            <a:r>
              <a:rPr lang="en-US" b="0" i="0" dirty="0" err="1">
                <a:solidFill>
                  <a:srgbClr val="000000"/>
                </a:solidFill>
                <a:effectLst/>
              </a:rPr>
              <a:t>,s</a:t>
            </a:r>
            <a:r>
              <a:rPr lang="en-US" b="0" i="0" dirty="0">
                <a:solidFill>
                  <a:srgbClr val="000000"/>
                </a:solidFill>
                <a:effectLst/>
              </a:rPr>
              <a:t>);  </a:t>
            </a:r>
          </a:p>
          <a:p>
            <a:pPr marL="0" indent="0" algn="just">
              <a:buNone/>
            </a:pPr>
            <a:r>
              <a:rPr lang="en-US" b="0" i="0" dirty="0">
                <a:solidFill>
                  <a:srgbClr val="000000"/>
                </a:solidFill>
                <a:effectLst/>
              </a:rPr>
              <a:t>    </a:t>
            </a:r>
            <a:r>
              <a:rPr lang="en-US" b="0" i="0" dirty="0" err="1">
                <a:solidFill>
                  <a:srgbClr val="000000"/>
                </a:solidFill>
                <a:effectLst/>
              </a:rPr>
              <a:t>printf</a:t>
            </a:r>
            <a:r>
              <a:rPr lang="en-US" b="0" i="0" dirty="0">
                <a:solidFill>
                  <a:srgbClr val="000000"/>
                </a:solidFill>
                <a:effectLst/>
              </a:rPr>
              <a:t>(</a:t>
            </a:r>
            <a:r>
              <a:rPr lang="en-US" b="0" i="0" dirty="0">
                <a:solidFill>
                  <a:srgbClr val="0000FF"/>
                </a:solidFill>
                <a:effectLst/>
              </a:rPr>
              <a:t>"You entered %</a:t>
            </a:r>
            <a:r>
              <a:rPr lang="en-US" b="0" i="0" dirty="0" err="1">
                <a:solidFill>
                  <a:srgbClr val="0000FF"/>
                </a:solidFill>
                <a:effectLst/>
              </a:rPr>
              <a:t>s"</a:t>
            </a:r>
            <a:r>
              <a:rPr lang="en-US" b="0" i="0" dirty="0" err="1">
                <a:solidFill>
                  <a:srgbClr val="000000"/>
                </a:solidFill>
                <a:effectLst/>
              </a:rPr>
              <a:t>,s</a:t>
            </a:r>
            <a:r>
              <a:rPr lang="en-US" b="0" i="0" dirty="0">
                <a:solidFill>
                  <a:srgbClr val="000000"/>
                </a:solidFill>
                <a:effectLst/>
              </a:rPr>
              <a:t>);  </a:t>
            </a:r>
          </a:p>
          <a:p>
            <a:pPr marL="0" indent="0" algn="just">
              <a:buNone/>
            </a:pPr>
            <a:r>
              <a:rPr lang="en-US" b="0" i="0" dirty="0">
                <a:solidFill>
                  <a:srgbClr val="000000"/>
                </a:solidFill>
                <a:effectLst/>
              </a:rPr>
              <a:t>}  </a:t>
            </a:r>
          </a:p>
          <a:p>
            <a:pPr algn="just"/>
            <a:endParaRPr lang="en-US" b="0" i="0" dirty="0">
              <a:solidFill>
                <a:srgbClr val="333333"/>
              </a:solidFill>
              <a:effectLst/>
              <a:latin typeface="inter-regular"/>
            </a:endParaRPr>
          </a:p>
          <a:p>
            <a:endParaRPr lang="en-IN" dirty="0"/>
          </a:p>
        </p:txBody>
      </p:sp>
    </p:spTree>
    <p:extLst>
      <p:ext uri="{BB962C8B-B14F-4D97-AF65-F5344CB8AC3E}">
        <p14:creationId xmlns:p14="http://schemas.microsoft.com/office/powerpoint/2010/main" val="136773554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B19D4E-CFF8-1684-225E-4AB398FDA5B3}"/>
              </a:ext>
            </a:extLst>
          </p:cNvPr>
          <p:cNvSpPr>
            <a:spLocks noGrp="1"/>
          </p:cNvSpPr>
          <p:nvPr>
            <p:ph idx="1"/>
          </p:nvPr>
        </p:nvSpPr>
        <p:spPr>
          <a:xfrm>
            <a:off x="838200" y="513184"/>
            <a:ext cx="10515600" cy="5663779"/>
          </a:xfrm>
        </p:spPr>
        <p:txBody>
          <a:bodyPr/>
          <a:lstStyle/>
          <a:p>
            <a:pPr marL="0" indent="0" algn="just">
              <a:lnSpc>
                <a:spcPct val="150000"/>
              </a:lnSpc>
              <a:buNone/>
            </a:pPr>
            <a:r>
              <a:rPr lang="en-US" b="1" i="0" dirty="0">
                <a:solidFill>
                  <a:srgbClr val="7030A0"/>
                </a:solidFill>
                <a:effectLst/>
              </a:rPr>
              <a:t>C gets() and puts() functions</a:t>
            </a:r>
          </a:p>
          <a:p>
            <a:pPr algn="just">
              <a:lnSpc>
                <a:spcPct val="150000"/>
              </a:lnSpc>
            </a:pPr>
            <a:r>
              <a:rPr lang="en-US" b="0" i="0" dirty="0">
                <a:solidFill>
                  <a:srgbClr val="333333"/>
                </a:solidFill>
                <a:effectLst/>
              </a:rPr>
              <a:t>The gets() and puts() are declared in the header file </a:t>
            </a:r>
            <a:r>
              <a:rPr lang="en-US" b="0" i="0" dirty="0" err="1">
                <a:solidFill>
                  <a:srgbClr val="333333"/>
                </a:solidFill>
                <a:effectLst/>
              </a:rPr>
              <a:t>stdio.h</a:t>
            </a:r>
            <a:r>
              <a:rPr lang="en-US" b="0" i="0" dirty="0">
                <a:solidFill>
                  <a:srgbClr val="333333"/>
                </a:solidFill>
                <a:effectLst/>
              </a:rPr>
              <a:t>. Both the functions are involved in the input/output operations of the strings.</a:t>
            </a:r>
          </a:p>
          <a:p>
            <a:pPr marL="0" indent="0">
              <a:lnSpc>
                <a:spcPct val="150000"/>
              </a:lnSpc>
              <a:buNone/>
            </a:pPr>
            <a:r>
              <a:rPr lang="en-IN" b="1" i="0" dirty="0">
                <a:solidFill>
                  <a:srgbClr val="7030A0"/>
                </a:solidFill>
                <a:effectLst/>
              </a:rPr>
              <a:t>gets() function</a:t>
            </a:r>
          </a:p>
          <a:p>
            <a:pPr>
              <a:lnSpc>
                <a:spcPct val="150000"/>
              </a:lnSpc>
            </a:pPr>
            <a:r>
              <a:rPr lang="en-US" b="0" i="0" dirty="0">
                <a:solidFill>
                  <a:srgbClr val="333333"/>
                </a:solidFill>
                <a:effectLst/>
              </a:rPr>
              <a:t>The gets() allows the user to enter the space-separated strings. It returns the string entered by the user.</a:t>
            </a:r>
            <a:endParaRPr lang="en-IN" dirty="0"/>
          </a:p>
        </p:txBody>
      </p:sp>
    </p:spTree>
    <p:extLst>
      <p:ext uri="{BB962C8B-B14F-4D97-AF65-F5344CB8AC3E}">
        <p14:creationId xmlns:p14="http://schemas.microsoft.com/office/powerpoint/2010/main" val="197765428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C5600D-52AC-6F84-80EF-98DA2A54DDC3}"/>
              </a:ext>
            </a:extLst>
          </p:cNvPr>
          <p:cNvSpPr>
            <a:spLocks noGrp="1"/>
          </p:cNvSpPr>
          <p:nvPr>
            <p:ph idx="1"/>
          </p:nvPr>
        </p:nvSpPr>
        <p:spPr>
          <a:xfrm>
            <a:off x="838200" y="438539"/>
            <a:ext cx="10515600" cy="5738424"/>
          </a:xfrm>
        </p:spPr>
        <p:txBody>
          <a:bodyPr>
            <a:normAutofit fontScale="92500" lnSpcReduction="10000"/>
          </a:bodyPr>
          <a:lstStyle/>
          <a:p>
            <a:pPr marL="0" indent="0">
              <a:buNone/>
            </a:pPr>
            <a:r>
              <a:rPr lang="en-IN" b="1" i="0" dirty="0">
                <a:solidFill>
                  <a:srgbClr val="7030A0"/>
                </a:solidFill>
                <a:effectLst/>
              </a:rPr>
              <a:t>puts() function</a:t>
            </a:r>
          </a:p>
          <a:p>
            <a:r>
              <a:rPr lang="en-US" b="0" i="0" dirty="0">
                <a:solidFill>
                  <a:srgbClr val="333333"/>
                </a:solidFill>
                <a:effectLst/>
              </a:rPr>
              <a:t>The puts() function is very much similar to </a:t>
            </a:r>
            <a:r>
              <a:rPr lang="en-US" b="0" i="0" dirty="0" err="1">
                <a:solidFill>
                  <a:srgbClr val="333333"/>
                </a:solidFill>
                <a:effectLst/>
              </a:rPr>
              <a:t>printf</a:t>
            </a:r>
            <a:r>
              <a:rPr lang="en-US" b="0" i="0" dirty="0">
                <a:solidFill>
                  <a:srgbClr val="333333"/>
                </a:solidFill>
                <a:effectLst/>
              </a:rPr>
              <a:t>() function.</a:t>
            </a:r>
          </a:p>
          <a:p>
            <a:r>
              <a:rPr lang="en-US" b="0" i="0" dirty="0">
                <a:solidFill>
                  <a:srgbClr val="333333"/>
                </a:solidFill>
                <a:effectLst/>
              </a:rPr>
              <a:t> The puts() function is used to print the string on the console which is previously read by using gets() or </a:t>
            </a:r>
            <a:r>
              <a:rPr lang="en-US" b="0" i="0" dirty="0" err="1">
                <a:solidFill>
                  <a:srgbClr val="333333"/>
                </a:solidFill>
                <a:effectLst/>
              </a:rPr>
              <a:t>scanf</a:t>
            </a:r>
            <a:r>
              <a:rPr lang="en-US" b="0" i="0" dirty="0">
                <a:solidFill>
                  <a:srgbClr val="333333"/>
                </a:solidFill>
                <a:effectLst/>
              </a:rPr>
              <a:t>() function.</a:t>
            </a:r>
          </a:p>
          <a:p>
            <a:pPr marL="0" indent="0" algn="just">
              <a:buNone/>
            </a:pPr>
            <a:r>
              <a:rPr lang="en-US" b="0" i="0" dirty="0">
                <a:solidFill>
                  <a:srgbClr val="0000FF"/>
                </a:solidFill>
                <a:effectLst/>
              </a:rPr>
              <a:t>#include&lt;stdio.h&gt;</a:t>
            </a:r>
            <a:r>
              <a:rPr lang="en-US" b="0" i="0" dirty="0">
                <a:solidFill>
                  <a:srgbClr val="000000"/>
                </a:solidFill>
                <a:effectLst/>
              </a:rPr>
              <a:t>  </a:t>
            </a:r>
          </a:p>
          <a:p>
            <a:pPr marL="0" indent="0" algn="just">
              <a:buNone/>
            </a:pPr>
            <a:r>
              <a:rPr lang="en-US" b="0" i="0" dirty="0">
                <a:solidFill>
                  <a:srgbClr val="0000FF"/>
                </a:solidFill>
                <a:effectLst/>
              </a:rPr>
              <a:t>#include &lt;</a:t>
            </a:r>
            <a:r>
              <a:rPr lang="en-US" b="0" i="0" dirty="0" err="1">
                <a:solidFill>
                  <a:srgbClr val="0000FF"/>
                </a:solidFill>
                <a:effectLst/>
              </a:rPr>
              <a:t>string.h</a:t>
            </a:r>
            <a:r>
              <a:rPr lang="en-US" b="0" i="0" dirty="0">
                <a:solidFill>
                  <a:srgbClr val="0000FF"/>
                </a:solidFill>
                <a:effectLst/>
              </a:rPr>
              <a:t>&gt;  </a:t>
            </a:r>
            <a:r>
              <a:rPr lang="en-US" b="0" i="0" dirty="0">
                <a:solidFill>
                  <a:srgbClr val="000000"/>
                </a:solidFill>
                <a:effectLst/>
              </a:rPr>
              <a:t>  </a:t>
            </a:r>
          </a:p>
          <a:p>
            <a:pPr marL="0" indent="0" algn="just">
              <a:buNone/>
            </a:pPr>
            <a:r>
              <a:rPr lang="en-US" b="1" i="0" dirty="0">
                <a:solidFill>
                  <a:srgbClr val="2E8B57"/>
                </a:solidFill>
                <a:effectLst/>
              </a:rPr>
              <a:t>int</a:t>
            </a:r>
            <a:r>
              <a:rPr lang="en-US" b="0" i="0" dirty="0">
                <a:solidFill>
                  <a:srgbClr val="000000"/>
                </a:solidFill>
                <a:effectLst/>
              </a:rPr>
              <a:t> main(){    </a:t>
            </a:r>
          </a:p>
          <a:p>
            <a:pPr marL="0" indent="0" algn="just">
              <a:buNone/>
            </a:pPr>
            <a:r>
              <a:rPr lang="en-US" b="1" i="0" dirty="0">
                <a:solidFill>
                  <a:srgbClr val="2E8B57"/>
                </a:solidFill>
                <a:effectLst/>
              </a:rPr>
              <a:t>char</a:t>
            </a:r>
            <a:r>
              <a:rPr lang="en-US" b="0" i="0" dirty="0">
                <a:solidFill>
                  <a:srgbClr val="000000"/>
                </a:solidFill>
                <a:effectLst/>
              </a:rPr>
              <a:t> name[50];    </a:t>
            </a:r>
          </a:p>
          <a:p>
            <a:pPr marL="0" indent="0" algn="just">
              <a:buNone/>
            </a:pPr>
            <a:r>
              <a:rPr lang="en-US" b="0" i="0" dirty="0" err="1">
                <a:solidFill>
                  <a:srgbClr val="000000"/>
                </a:solidFill>
                <a:effectLst/>
              </a:rPr>
              <a:t>printf</a:t>
            </a:r>
            <a:r>
              <a:rPr lang="en-US" b="0" i="0" dirty="0">
                <a:solidFill>
                  <a:srgbClr val="000000"/>
                </a:solidFill>
                <a:effectLst/>
              </a:rPr>
              <a:t>(</a:t>
            </a:r>
            <a:r>
              <a:rPr lang="en-US" b="0" i="0" dirty="0">
                <a:solidFill>
                  <a:srgbClr val="0000FF"/>
                </a:solidFill>
                <a:effectLst/>
              </a:rPr>
              <a:t>"Enter your name: "</a:t>
            </a:r>
            <a:r>
              <a:rPr lang="en-US" b="0" i="0" dirty="0">
                <a:solidFill>
                  <a:srgbClr val="000000"/>
                </a:solidFill>
                <a:effectLst/>
              </a:rPr>
              <a:t>);    </a:t>
            </a:r>
          </a:p>
          <a:p>
            <a:pPr marL="0" indent="0" algn="just">
              <a:buNone/>
            </a:pPr>
            <a:r>
              <a:rPr lang="en-US" b="0" i="0" dirty="0">
                <a:solidFill>
                  <a:srgbClr val="000000"/>
                </a:solidFill>
                <a:effectLst/>
              </a:rPr>
              <a:t>gets(name); </a:t>
            </a:r>
            <a:r>
              <a:rPr lang="en-US" b="0" i="0" dirty="0">
                <a:solidFill>
                  <a:srgbClr val="008200"/>
                </a:solidFill>
                <a:effectLst/>
              </a:rPr>
              <a:t>//reads string from user  </a:t>
            </a:r>
            <a:r>
              <a:rPr lang="en-US" b="0" i="0" dirty="0">
                <a:solidFill>
                  <a:srgbClr val="000000"/>
                </a:solidFill>
                <a:effectLst/>
              </a:rPr>
              <a:t>  </a:t>
            </a:r>
          </a:p>
          <a:p>
            <a:pPr marL="0" indent="0" algn="just">
              <a:buNone/>
            </a:pPr>
            <a:r>
              <a:rPr lang="en-US" b="0" i="0" dirty="0" err="1">
                <a:solidFill>
                  <a:srgbClr val="000000"/>
                </a:solidFill>
                <a:effectLst/>
              </a:rPr>
              <a:t>printf</a:t>
            </a:r>
            <a:r>
              <a:rPr lang="en-US" b="0" i="0" dirty="0">
                <a:solidFill>
                  <a:srgbClr val="000000"/>
                </a:solidFill>
                <a:effectLst/>
              </a:rPr>
              <a:t>(</a:t>
            </a:r>
            <a:r>
              <a:rPr lang="en-US" b="0" i="0" dirty="0">
                <a:solidFill>
                  <a:srgbClr val="0000FF"/>
                </a:solidFill>
                <a:effectLst/>
              </a:rPr>
              <a:t>"Your name is: "</a:t>
            </a:r>
            <a:r>
              <a:rPr lang="en-US" b="0" i="0" dirty="0">
                <a:solidFill>
                  <a:srgbClr val="000000"/>
                </a:solidFill>
                <a:effectLst/>
              </a:rPr>
              <a:t>);    </a:t>
            </a:r>
          </a:p>
          <a:p>
            <a:pPr marL="0" indent="0" algn="just">
              <a:buNone/>
            </a:pPr>
            <a:r>
              <a:rPr lang="en-US" b="0" i="0" dirty="0">
                <a:solidFill>
                  <a:srgbClr val="000000"/>
                </a:solidFill>
                <a:effectLst/>
              </a:rPr>
              <a:t>puts(name);  </a:t>
            </a:r>
            <a:r>
              <a:rPr lang="en-US" b="0" i="0" dirty="0">
                <a:solidFill>
                  <a:srgbClr val="008200"/>
                </a:solidFill>
                <a:effectLst/>
              </a:rPr>
              <a:t>//displays string  </a:t>
            </a:r>
            <a:r>
              <a:rPr lang="en-US" b="0" i="0" dirty="0">
                <a:solidFill>
                  <a:srgbClr val="000000"/>
                </a:solidFill>
                <a:effectLst/>
              </a:rPr>
              <a:t>  </a:t>
            </a:r>
          </a:p>
          <a:p>
            <a:pPr marL="0" indent="0" algn="just">
              <a:buNone/>
            </a:pPr>
            <a:r>
              <a:rPr lang="en-US" b="1" i="0" dirty="0">
                <a:solidFill>
                  <a:srgbClr val="006699"/>
                </a:solidFill>
                <a:effectLst/>
              </a:rPr>
              <a:t>return</a:t>
            </a:r>
            <a:r>
              <a:rPr lang="en-US" b="0" i="0" dirty="0">
                <a:solidFill>
                  <a:srgbClr val="000000"/>
                </a:solidFill>
                <a:effectLst/>
              </a:rPr>
              <a:t> 0;  }    </a:t>
            </a:r>
          </a:p>
          <a:p>
            <a:endParaRPr lang="en-IN" dirty="0"/>
          </a:p>
        </p:txBody>
      </p:sp>
    </p:spTree>
    <p:extLst>
      <p:ext uri="{BB962C8B-B14F-4D97-AF65-F5344CB8AC3E}">
        <p14:creationId xmlns:p14="http://schemas.microsoft.com/office/powerpoint/2010/main" val="391552107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199DDD-9F06-FC09-1BE3-F7C3806C0BFE}"/>
              </a:ext>
            </a:extLst>
          </p:cNvPr>
          <p:cNvSpPr>
            <a:spLocks noGrp="1"/>
          </p:cNvSpPr>
          <p:nvPr>
            <p:ph idx="1"/>
          </p:nvPr>
        </p:nvSpPr>
        <p:spPr>
          <a:xfrm>
            <a:off x="838200" y="531845"/>
            <a:ext cx="10515600" cy="5645118"/>
          </a:xfrm>
        </p:spPr>
        <p:txBody>
          <a:bodyPr/>
          <a:lstStyle/>
          <a:p>
            <a:pPr marL="0" indent="0">
              <a:buNone/>
            </a:pPr>
            <a:r>
              <a:rPr lang="en-US" b="1" dirty="0">
                <a:solidFill>
                  <a:srgbClr val="7030A0"/>
                </a:solidFill>
              </a:rPr>
              <a:t>String Functions</a:t>
            </a:r>
          </a:p>
          <a:p>
            <a:pPr marL="0" indent="0">
              <a:buNone/>
            </a:pPr>
            <a:endParaRPr lang="en-IN" b="1" dirty="0">
              <a:solidFill>
                <a:srgbClr val="7030A0"/>
              </a:solidFill>
            </a:endParaRPr>
          </a:p>
        </p:txBody>
      </p:sp>
      <p:pic>
        <p:nvPicPr>
          <p:cNvPr id="5" name="Picture 4">
            <a:extLst>
              <a:ext uri="{FF2B5EF4-FFF2-40B4-BE49-F238E27FC236}">
                <a16:creationId xmlns:a16="http://schemas.microsoft.com/office/drawing/2014/main" id="{485CD7E7-3CE1-5C9C-0284-D5D7C33F0052}"/>
              </a:ext>
            </a:extLst>
          </p:cNvPr>
          <p:cNvPicPr>
            <a:picLocks noChangeAspect="1"/>
          </p:cNvPicPr>
          <p:nvPr/>
        </p:nvPicPr>
        <p:blipFill>
          <a:blip r:embed="rId2"/>
          <a:stretch>
            <a:fillRect/>
          </a:stretch>
        </p:blipFill>
        <p:spPr>
          <a:xfrm>
            <a:off x="718457" y="989045"/>
            <a:ext cx="10298730" cy="5106173"/>
          </a:xfrm>
          <a:prstGeom prst="rect">
            <a:avLst/>
          </a:prstGeom>
        </p:spPr>
      </p:pic>
    </p:spTree>
    <p:extLst>
      <p:ext uri="{BB962C8B-B14F-4D97-AF65-F5344CB8AC3E}">
        <p14:creationId xmlns:p14="http://schemas.microsoft.com/office/powerpoint/2010/main" val="17963959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6CB5E-0384-A9EC-17FA-8A2FF2FA6DD9}"/>
              </a:ext>
            </a:extLst>
          </p:cNvPr>
          <p:cNvSpPr>
            <a:spLocks noGrp="1"/>
          </p:cNvSpPr>
          <p:nvPr>
            <p:ph type="title"/>
          </p:nvPr>
        </p:nvSpPr>
        <p:spPr>
          <a:xfrm>
            <a:off x="5859624" y="289249"/>
            <a:ext cx="5494176" cy="6027575"/>
          </a:xfrm>
        </p:spPr>
        <p:txBody>
          <a:bodyPr>
            <a:noAutofit/>
          </a:bodyPr>
          <a:lstStyle/>
          <a:p>
            <a:r>
              <a:rPr lang="en-US" sz="2800" dirty="0"/>
              <a:t>else{</a:t>
            </a:r>
            <a:br>
              <a:rPr lang="en-US" sz="2800" dirty="0"/>
            </a:br>
            <a:r>
              <a:rPr lang="en-US" sz="2800" dirty="0"/>
              <a:t>         </a:t>
            </a:r>
            <a:r>
              <a:rPr lang="en-US" sz="2800" dirty="0" err="1"/>
              <a:t>printf</a:t>
            </a:r>
            <a:r>
              <a:rPr lang="en-US" sz="2800" dirty="0"/>
              <a:t>("The strings are not equal\n");</a:t>
            </a:r>
            <a:br>
              <a:rPr lang="en-US" sz="2800" dirty="0"/>
            </a:br>
            <a:r>
              <a:rPr lang="en-US" sz="2800" dirty="0"/>
              <a:t>    }</a:t>
            </a:r>
            <a:br>
              <a:rPr lang="en-US" sz="2800" dirty="0"/>
            </a:br>
            <a:br>
              <a:rPr lang="en-US" sz="2800" dirty="0"/>
            </a:br>
            <a:r>
              <a:rPr lang="en-US" sz="2800" dirty="0"/>
              <a:t>    </a:t>
            </a:r>
            <a:r>
              <a:rPr lang="en-US" sz="2800" dirty="0" err="1"/>
              <a:t>printf</a:t>
            </a:r>
            <a:r>
              <a:rPr lang="en-US" sz="2800" dirty="0"/>
              <a:t>("The reversed string </a:t>
            </a:r>
            <a:r>
              <a:rPr lang="en-US" sz="2800" dirty="0" err="1"/>
              <a:t>is..%s</a:t>
            </a:r>
            <a:r>
              <a:rPr lang="en-US" sz="2800" dirty="0"/>
              <a:t>\n",</a:t>
            </a:r>
            <a:r>
              <a:rPr lang="en-US" sz="2800" dirty="0" err="1"/>
              <a:t>strrev</a:t>
            </a:r>
            <a:r>
              <a:rPr lang="en-US" sz="2800" dirty="0"/>
              <a:t>(s));</a:t>
            </a:r>
            <a:br>
              <a:rPr lang="en-US" sz="2800" dirty="0"/>
            </a:br>
            <a:r>
              <a:rPr lang="en-US" sz="2800" dirty="0"/>
              <a:t>    </a:t>
            </a:r>
            <a:r>
              <a:rPr lang="en-US" sz="2800" dirty="0" err="1"/>
              <a:t>printf</a:t>
            </a:r>
            <a:r>
              <a:rPr lang="en-US" sz="2800" dirty="0"/>
              <a:t>("The lower string is %s\n",</a:t>
            </a:r>
            <a:r>
              <a:rPr lang="en-US" sz="2800" dirty="0" err="1"/>
              <a:t>strlwr</a:t>
            </a:r>
            <a:r>
              <a:rPr lang="en-US" sz="2800" dirty="0"/>
              <a:t>(s));</a:t>
            </a:r>
            <a:br>
              <a:rPr lang="en-US" sz="2800" dirty="0"/>
            </a:br>
            <a:r>
              <a:rPr lang="en-US" sz="2800" dirty="0"/>
              <a:t>    </a:t>
            </a:r>
            <a:r>
              <a:rPr lang="en-US" sz="2800" dirty="0" err="1"/>
              <a:t>printf</a:t>
            </a:r>
            <a:r>
              <a:rPr lang="en-US" sz="2800" dirty="0"/>
              <a:t>("The upper string is %s\n",</a:t>
            </a:r>
            <a:r>
              <a:rPr lang="en-US" sz="2800" dirty="0" err="1"/>
              <a:t>strupr</a:t>
            </a:r>
            <a:r>
              <a:rPr lang="en-US" sz="2800" dirty="0"/>
              <a:t>(s));</a:t>
            </a:r>
            <a:br>
              <a:rPr lang="en-US" sz="2800" dirty="0"/>
            </a:br>
            <a:r>
              <a:rPr lang="en-US" sz="2800" dirty="0"/>
              <a:t>    char *sub;</a:t>
            </a:r>
            <a:br>
              <a:rPr lang="en-US" sz="2800" dirty="0"/>
            </a:br>
            <a:r>
              <a:rPr lang="en-US" sz="2800" dirty="0"/>
              <a:t>    char a[25]="I love my family";</a:t>
            </a:r>
            <a:br>
              <a:rPr lang="en-US" sz="2800" dirty="0"/>
            </a:br>
            <a:r>
              <a:rPr lang="en-US" sz="2800" dirty="0"/>
              <a:t>    sub=</a:t>
            </a:r>
            <a:r>
              <a:rPr lang="en-US" sz="2800" dirty="0" err="1"/>
              <a:t>strstr</a:t>
            </a:r>
            <a:r>
              <a:rPr lang="en-US" sz="2800" dirty="0"/>
              <a:t>(</a:t>
            </a:r>
            <a:r>
              <a:rPr lang="en-US" sz="2800" dirty="0" err="1"/>
              <a:t>a,"my</a:t>
            </a:r>
            <a:r>
              <a:rPr lang="en-US" sz="2800" dirty="0"/>
              <a:t>");</a:t>
            </a:r>
            <a:br>
              <a:rPr lang="en-US" sz="2800" dirty="0"/>
            </a:br>
            <a:r>
              <a:rPr lang="en-US" sz="2800" dirty="0"/>
              <a:t>    </a:t>
            </a:r>
            <a:r>
              <a:rPr lang="en-US" sz="2800" dirty="0" err="1"/>
              <a:t>printf</a:t>
            </a:r>
            <a:r>
              <a:rPr lang="en-US" sz="2800" dirty="0"/>
              <a:t>("the sub string </a:t>
            </a:r>
            <a:r>
              <a:rPr lang="en-US" sz="2800" dirty="0" err="1"/>
              <a:t>is..%s",sub</a:t>
            </a:r>
            <a:r>
              <a:rPr lang="en-US" sz="2800" dirty="0"/>
              <a:t>);</a:t>
            </a:r>
            <a:br>
              <a:rPr lang="en-US" sz="2800" dirty="0"/>
            </a:br>
            <a:r>
              <a:rPr lang="en-US" sz="2800" dirty="0"/>
              <a:t>}</a:t>
            </a:r>
            <a:br>
              <a:rPr lang="en-US" sz="2800" dirty="0"/>
            </a:br>
            <a:endParaRPr lang="en-IN" sz="2800" dirty="0"/>
          </a:p>
        </p:txBody>
      </p:sp>
      <p:sp>
        <p:nvSpPr>
          <p:cNvPr id="3" name="Content Placeholder 2">
            <a:extLst>
              <a:ext uri="{FF2B5EF4-FFF2-40B4-BE49-F238E27FC236}">
                <a16:creationId xmlns:a16="http://schemas.microsoft.com/office/drawing/2014/main" id="{A5437B51-2A72-1538-830E-357948AAD4A5}"/>
              </a:ext>
            </a:extLst>
          </p:cNvPr>
          <p:cNvSpPr>
            <a:spLocks noGrp="1"/>
          </p:cNvSpPr>
          <p:nvPr>
            <p:ph idx="1"/>
          </p:nvPr>
        </p:nvSpPr>
        <p:spPr>
          <a:xfrm>
            <a:off x="838200" y="382555"/>
            <a:ext cx="4452257" cy="6111551"/>
          </a:xfrm>
        </p:spPr>
        <p:txBody>
          <a:bodyPr>
            <a:normAutofit fontScale="70000" lnSpcReduction="20000"/>
          </a:bodyPr>
          <a:lstStyle/>
          <a:p>
            <a:pPr marL="0" indent="0">
              <a:buNone/>
            </a:pPr>
            <a:r>
              <a:rPr lang="en-IN" dirty="0"/>
              <a:t>Example</a:t>
            </a:r>
          </a:p>
          <a:p>
            <a:pPr marL="0" indent="0">
              <a:buNone/>
            </a:pPr>
            <a:r>
              <a:rPr lang="en-US" dirty="0"/>
              <a:t>#include&lt;stdio.h&gt;</a:t>
            </a:r>
          </a:p>
          <a:p>
            <a:pPr marL="0" indent="0">
              <a:buNone/>
            </a:pPr>
            <a:r>
              <a:rPr lang="en-US" dirty="0"/>
              <a:t>void main()</a:t>
            </a:r>
          </a:p>
          <a:p>
            <a:pPr marL="0" indent="0">
              <a:buNone/>
            </a:pPr>
            <a:r>
              <a:rPr lang="en-US" dirty="0"/>
              <a:t>{</a:t>
            </a:r>
          </a:p>
          <a:p>
            <a:pPr marL="0" indent="0">
              <a:buNone/>
            </a:pPr>
            <a:r>
              <a:rPr lang="en-US" dirty="0"/>
              <a:t>    char s[50]="</a:t>
            </a:r>
            <a:r>
              <a:rPr lang="en-US" dirty="0" err="1"/>
              <a:t>kokila</a:t>
            </a:r>
            <a:r>
              <a:rPr lang="en-US" dirty="0"/>
              <a:t>";</a:t>
            </a:r>
          </a:p>
          <a:p>
            <a:pPr marL="0" indent="0">
              <a:buNone/>
            </a:pPr>
            <a:r>
              <a:rPr lang="en-US" dirty="0"/>
              <a:t>    char s1[25]="Janarthanan";</a:t>
            </a:r>
          </a:p>
          <a:p>
            <a:pPr marL="0" indent="0">
              <a:buNone/>
            </a:pPr>
            <a:r>
              <a:rPr lang="en-US" dirty="0"/>
              <a:t>    </a:t>
            </a:r>
            <a:r>
              <a:rPr lang="en-US" dirty="0" err="1"/>
              <a:t>printf</a:t>
            </a:r>
            <a:r>
              <a:rPr lang="en-US" dirty="0"/>
              <a:t>("The length of the string is %d\n",</a:t>
            </a:r>
            <a:r>
              <a:rPr lang="en-US" dirty="0" err="1"/>
              <a:t>strlen</a:t>
            </a:r>
            <a:r>
              <a:rPr lang="en-US" dirty="0"/>
              <a:t>(s1));</a:t>
            </a:r>
          </a:p>
          <a:p>
            <a:pPr marL="0" indent="0">
              <a:buNone/>
            </a:pPr>
            <a:r>
              <a:rPr lang="en-US" dirty="0"/>
              <a:t>    char s2[10];</a:t>
            </a:r>
          </a:p>
          <a:p>
            <a:pPr marL="0" indent="0">
              <a:buNone/>
            </a:pPr>
            <a:r>
              <a:rPr lang="en-US" dirty="0"/>
              <a:t>    </a:t>
            </a:r>
            <a:r>
              <a:rPr lang="en-US" dirty="0" err="1"/>
              <a:t>strcpy</a:t>
            </a:r>
            <a:r>
              <a:rPr lang="en-US" dirty="0"/>
              <a:t>(s2,s1);</a:t>
            </a:r>
          </a:p>
          <a:p>
            <a:pPr marL="0" indent="0">
              <a:buNone/>
            </a:pPr>
            <a:r>
              <a:rPr lang="en-US" dirty="0"/>
              <a:t>    </a:t>
            </a:r>
            <a:r>
              <a:rPr lang="en-US" dirty="0" err="1"/>
              <a:t>printf</a:t>
            </a:r>
            <a:r>
              <a:rPr lang="en-US" dirty="0"/>
              <a:t>("The copied string </a:t>
            </a:r>
            <a:r>
              <a:rPr lang="en-US" dirty="0" err="1"/>
              <a:t>is..%s</a:t>
            </a:r>
            <a:r>
              <a:rPr lang="en-US" dirty="0"/>
              <a:t>\n",s2);</a:t>
            </a:r>
          </a:p>
          <a:p>
            <a:pPr marL="0" indent="0">
              <a:buNone/>
            </a:pPr>
            <a:r>
              <a:rPr lang="en-US" dirty="0"/>
              <a:t>    </a:t>
            </a:r>
            <a:r>
              <a:rPr lang="en-US" dirty="0" err="1"/>
              <a:t>strcat</a:t>
            </a:r>
            <a:r>
              <a:rPr lang="en-US" dirty="0"/>
              <a:t>(s,s2);</a:t>
            </a:r>
          </a:p>
          <a:p>
            <a:pPr marL="0" indent="0">
              <a:buNone/>
            </a:pPr>
            <a:r>
              <a:rPr lang="en-US" dirty="0"/>
              <a:t>    </a:t>
            </a:r>
            <a:r>
              <a:rPr lang="en-US" dirty="0" err="1"/>
              <a:t>printf</a:t>
            </a:r>
            <a:r>
              <a:rPr lang="en-US" dirty="0"/>
              <a:t>("The </a:t>
            </a:r>
            <a:r>
              <a:rPr lang="en-US" dirty="0" err="1"/>
              <a:t>concated</a:t>
            </a:r>
            <a:r>
              <a:rPr lang="en-US" dirty="0"/>
              <a:t> string </a:t>
            </a:r>
            <a:r>
              <a:rPr lang="en-US" dirty="0" err="1"/>
              <a:t>is..%s</a:t>
            </a:r>
            <a:r>
              <a:rPr lang="en-US" dirty="0"/>
              <a:t>\</a:t>
            </a:r>
            <a:r>
              <a:rPr lang="en-US" dirty="0" err="1"/>
              <a:t>n",s</a:t>
            </a:r>
            <a:r>
              <a:rPr lang="en-US" dirty="0"/>
              <a:t>);</a:t>
            </a:r>
          </a:p>
          <a:p>
            <a:pPr marL="0" indent="0">
              <a:buNone/>
            </a:pPr>
            <a:r>
              <a:rPr lang="en-US" sz="2800" dirty="0"/>
              <a:t>if(</a:t>
            </a:r>
            <a:r>
              <a:rPr lang="en-US" sz="2800" dirty="0" err="1"/>
              <a:t>strcmp</a:t>
            </a:r>
            <a:r>
              <a:rPr lang="en-US" sz="2800" dirty="0"/>
              <a:t>(s,s1)==0)</a:t>
            </a:r>
            <a:br>
              <a:rPr lang="en-US" sz="2800" dirty="0"/>
            </a:br>
            <a:r>
              <a:rPr lang="en-US" sz="2800" dirty="0"/>
              <a:t>    {</a:t>
            </a:r>
            <a:br>
              <a:rPr lang="en-US" sz="2800" dirty="0"/>
            </a:br>
            <a:r>
              <a:rPr lang="en-US" sz="2800" dirty="0"/>
              <a:t>        </a:t>
            </a:r>
            <a:r>
              <a:rPr lang="en-US" sz="2800" dirty="0" err="1"/>
              <a:t>printf</a:t>
            </a:r>
            <a:r>
              <a:rPr lang="en-US" sz="2800" dirty="0"/>
              <a:t>("The strings are equal\n");</a:t>
            </a:r>
            <a:br>
              <a:rPr lang="en-US" sz="2800" dirty="0"/>
            </a:br>
            <a:r>
              <a:rPr lang="en-US" sz="2800" dirty="0"/>
              <a:t>    }</a:t>
            </a:r>
            <a:br>
              <a:rPr lang="en-US" sz="2800" dirty="0"/>
            </a:br>
            <a:endParaRPr lang="en-US" dirty="0"/>
          </a:p>
        </p:txBody>
      </p:sp>
    </p:spTree>
    <p:extLst>
      <p:ext uri="{BB962C8B-B14F-4D97-AF65-F5344CB8AC3E}">
        <p14:creationId xmlns:p14="http://schemas.microsoft.com/office/powerpoint/2010/main" val="375320698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C1EA42-6319-33DD-FF2E-1077D631F10C}"/>
              </a:ext>
            </a:extLst>
          </p:cNvPr>
          <p:cNvSpPr>
            <a:spLocks noGrp="1"/>
          </p:cNvSpPr>
          <p:nvPr>
            <p:ph idx="1"/>
          </p:nvPr>
        </p:nvSpPr>
        <p:spPr>
          <a:xfrm>
            <a:off x="838200" y="541176"/>
            <a:ext cx="10515600" cy="5635787"/>
          </a:xfrm>
        </p:spPr>
        <p:txBody>
          <a:bodyPr>
            <a:normAutofit lnSpcReduction="10000"/>
          </a:bodyPr>
          <a:lstStyle/>
          <a:p>
            <a:pPr marL="0" indent="0">
              <a:lnSpc>
                <a:spcPct val="150000"/>
              </a:lnSpc>
              <a:buNone/>
            </a:pPr>
            <a:r>
              <a:rPr lang="en-IN" b="1" i="0" dirty="0">
                <a:solidFill>
                  <a:srgbClr val="7030A0"/>
                </a:solidFill>
                <a:effectLst/>
              </a:rPr>
              <a:t>Pointers</a:t>
            </a:r>
          </a:p>
          <a:p>
            <a:pPr>
              <a:lnSpc>
                <a:spcPct val="150000"/>
              </a:lnSpc>
            </a:pPr>
            <a:r>
              <a:rPr lang="en-US" b="0" i="0" dirty="0">
                <a:solidFill>
                  <a:srgbClr val="333333"/>
                </a:solidFill>
                <a:effectLst/>
              </a:rPr>
              <a:t>The pointer in C language is a variable which stores the address of another variable.</a:t>
            </a:r>
          </a:p>
          <a:p>
            <a:pPr algn="just">
              <a:lnSpc>
                <a:spcPct val="150000"/>
              </a:lnSpc>
            </a:pPr>
            <a:r>
              <a:rPr lang="en-US" b="0" i="0" dirty="0">
                <a:solidFill>
                  <a:srgbClr val="333333"/>
                </a:solidFill>
                <a:effectLst/>
              </a:rPr>
              <a:t>Consider the following example to define a pointer which stores the address of an integer.</a:t>
            </a:r>
          </a:p>
          <a:p>
            <a:pPr algn="just">
              <a:lnSpc>
                <a:spcPct val="150000"/>
              </a:lnSpc>
              <a:buFont typeface="+mj-lt"/>
              <a:buAutoNum type="arabicPeriod"/>
            </a:pPr>
            <a:r>
              <a:rPr lang="en-US" b="1" i="0" dirty="0">
                <a:solidFill>
                  <a:srgbClr val="2E8B57"/>
                </a:solidFill>
                <a:effectLst/>
              </a:rPr>
              <a:t>int</a:t>
            </a:r>
            <a:r>
              <a:rPr lang="en-US" b="0" i="0" dirty="0">
                <a:solidFill>
                  <a:srgbClr val="000000"/>
                </a:solidFill>
                <a:effectLst/>
              </a:rPr>
              <a:t> n = 10;   </a:t>
            </a:r>
          </a:p>
          <a:p>
            <a:pPr algn="just">
              <a:lnSpc>
                <a:spcPct val="150000"/>
              </a:lnSpc>
              <a:buFont typeface="+mj-lt"/>
              <a:buAutoNum type="arabicPeriod"/>
            </a:pPr>
            <a:r>
              <a:rPr lang="en-US" b="1" i="0" dirty="0">
                <a:solidFill>
                  <a:srgbClr val="2E8B57"/>
                </a:solidFill>
                <a:effectLst/>
              </a:rPr>
              <a:t>int</a:t>
            </a:r>
            <a:r>
              <a:rPr lang="en-US" b="0" i="0" dirty="0">
                <a:solidFill>
                  <a:srgbClr val="000000"/>
                </a:solidFill>
                <a:effectLst/>
              </a:rPr>
              <a:t>* p = &amp;n; </a:t>
            </a:r>
            <a:r>
              <a:rPr lang="en-US" b="0" i="0" dirty="0">
                <a:solidFill>
                  <a:srgbClr val="008200"/>
                </a:solidFill>
                <a:effectLst/>
              </a:rPr>
              <a:t>// Variable p of type pointer is pointing to the address of the variable n of type integer.</a:t>
            </a:r>
            <a:endParaRPr lang="en-US" b="0" i="0" dirty="0">
              <a:solidFill>
                <a:srgbClr val="000000"/>
              </a:solidFill>
              <a:effectLst/>
            </a:endParaRPr>
          </a:p>
          <a:p>
            <a:endParaRPr lang="en-IN" dirty="0"/>
          </a:p>
        </p:txBody>
      </p:sp>
    </p:spTree>
    <p:extLst>
      <p:ext uri="{BB962C8B-B14F-4D97-AF65-F5344CB8AC3E}">
        <p14:creationId xmlns:p14="http://schemas.microsoft.com/office/powerpoint/2010/main" val="386937845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5E5B9D-D53E-D208-626D-C4D48D1C9379}"/>
              </a:ext>
            </a:extLst>
          </p:cNvPr>
          <p:cNvSpPr>
            <a:spLocks noGrp="1"/>
          </p:cNvSpPr>
          <p:nvPr>
            <p:ph idx="1"/>
          </p:nvPr>
        </p:nvSpPr>
        <p:spPr>
          <a:xfrm>
            <a:off x="838200" y="578498"/>
            <a:ext cx="10515600" cy="5598465"/>
          </a:xfrm>
        </p:spPr>
        <p:txBody>
          <a:bodyPr/>
          <a:lstStyle/>
          <a:p>
            <a:pPr marL="0" indent="0" algn="just">
              <a:lnSpc>
                <a:spcPct val="150000"/>
              </a:lnSpc>
              <a:buNone/>
            </a:pPr>
            <a:r>
              <a:rPr lang="en-US" b="1" i="0" dirty="0">
                <a:solidFill>
                  <a:srgbClr val="7030A0"/>
                </a:solidFill>
                <a:effectLst/>
              </a:rPr>
              <a:t>Declaring a pointer</a:t>
            </a:r>
          </a:p>
          <a:p>
            <a:pPr algn="just">
              <a:lnSpc>
                <a:spcPct val="150000"/>
              </a:lnSpc>
            </a:pPr>
            <a:r>
              <a:rPr lang="en-US" b="0" i="0" dirty="0">
                <a:solidFill>
                  <a:srgbClr val="333333"/>
                </a:solidFill>
                <a:effectLst/>
              </a:rPr>
              <a:t>The pointer in c language can be declared using * (asterisk symbol). It is also known as indirection pointer used to dereference a pointer.</a:t>
            </a:r>
          </a:p>
          <a:p>
            <a:pPr algn="just">
              <a:lnSpc>
                <a:spcPct val="150000"/>
              </a:lnSpc>
              <a:buFont typeface="+mj-lt"/>
              <a:buAutoNum type="arabicPeriod"/>
            </a:pPr>
            <a:r>
              <a:rPr lang="en-US" b="1" i="0" dirty="0">
                <a:solidFill>
                  <a:srgbClr val="2E8B57"/>
                </a:solidFill>
                <a:effectLst/>
              </a:rPr>
              <a:t>int</a:t>
            </a:r>
            <a:r>
              <a:rPr lang="en-US" b="0" i="0" dirty="0">
                <a:solidFill>
                  <a:srgbClr val="000000"/>
                </a:solidFill>
                <a:effectLst/>
              </a:rPr>
              <a:t> *a;</a:t>
            </a:r>
            <a:r>
              <a:rPr lang="en-US" b="0" i="0" dirty="0">
                <a:solidFill>
                  <a:srgbClr val="008200"/>
                </a:solidFill>
                <a:effectLst/>
              </a:rPr>
              <a:t>//pointer to int</a:t>
            </a:r>
            <a:r>
              <a:rPr lang="en-US" b="0" i="0" dirty="0">
                <a:solidFill>
                  <a:srgbClr val="000000"/>
                </a:solidFill>
                <a:effectLst/>
              </a:rPr>
              <a:t>  </a:t>
            </a:r>
          </a:p>
          <a:p>
            <a:pPr algn="just">
              <a:lnSpc>
                <a:spcPct val="150000"/>
              </a:lnSpc>
              <a:buFont typeface="+mj-lt"/>
              <a:buAutoNum type="arabicPeriod"/>
            </a:pPr>
            <a:r>
              <a:rPr lang="en-US" b="1" i="0" dirty="0">
                <a:solidFill>
                  <a:srgbClr val="2E8B57"/>
                </a:solidFill>
                <a:effectLst/>
              </a:rPr>
              <a:t>char</a:t>
            </a:r>
            <a:r>
              <a:rPr lang="en-US" b="0" i="0" dirty="0">
                <a:solidFill>
                  <a:srgbClr val="000000"/>
                </a:solidFill>
                <a:effectLst/>
              </a:rPr>
              <a:t> *c;</a:t>
            </a:r>
            <a:r>
              <a:rPr lang="en-US" b="0" i="0" dirty="0">
                <a:solidFill>
                  <a:srgbClr val="008200"/>
                </a:solidFill>
                <a:effectLst/>
              </a:rPr>
              <a:t>//pointer to char</a:t>
            </a:r>
            <a:r>
              <a:rPr lang="en-US" b="0" i="0" dirty="0">
                <a:solidFill>
                  <a:srgbClr val="000000"/>
                </a:solidFill>
                <a:effectLst/>
              </a:rPr>
              <a:t>  </a:t>
            </a:r>
          </a:p>
          <a:p>
            <a:endParaRPr lang="en-IN" dirty="0"/>
          </a:p>
        </p:txBody>
      </p:sp>
      <p:pic>
        <p:nvPicPr>
          <p:cNvPr id="4" name="Picture 3">
            <a:extLst>
              <a:ext uri="{FF2B5EF4-FFF2-40B4-BE49-F238E27FC236}">
                <a16:creationId xmlns:a16="http://schemas.microsoft.com/office/drawing/2014/main" id="{E3061542-442F-5FD9-20B1-773D7FBB2BCD}"/>
              </a:ext>
            </a:extLst>
          </p:cNvPr>
          <p:cNvPicPr>
            <a:picLocks noChangeAspect="1"/>
          </p:cNvPicPr>
          <p:nvPr/>
        </p:nvPicPr>
        <p:blipFill>
          <a:blip r:embed="rId2"/>
          <a:stretch>
            <a:fillRect/>
          </a:stretch>
        </p:blipFill>
        <p:spPr>
          <a:xfrm>
            <a:off x="5851212" y="2613349"/>
            <a:ext cx="4341801" cy="2919704"/>
          </a:xfrm>
          <a:prstGeom prst="rect">
            <a:avLst/>
          </a:prstGeom>
        </p:spPr>
      </p:pic>
      <p:sp>
        <p:nvSpPr>
          <p:cNvPr id="6" name="Rectangle: Rounded Corners 5">
            <a:extLst>
              <a:ext uri="{FF2B5EF4-FFF2-40B4-BE49-F238E27FC236}">
                <a16:creationId xmlns:a16="http://schemas.microsoft.com/office/drawing/2014/main" id="{180A573B-2B7F-9E8A-4AC0-57FB03244B86}"/>
              </a:ext>
            </a:extLst>
          </p:cNvPr>
          <p:cNvSpPr/>
          <p:nvPr/>
        </p:nvSpPr>
        <p:spPr>
          <a:xfrm>
            <a:off x="7175241" y="5206482"/>
            <a:ext cx="1362269" cy="326571"/>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3505916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AEB44E-83B8-5564-AB25-BE61B0DD5B4D}"/>
              </a:ext>
            </a:extLst>
          </p:cNvPr>
          <p:cNvSpPr>
            <a:spLocks noGrp="1"/>
          </p:cNvSpPr>
          <p:nvPr>
            <p:ph idx="1"/>
          </p:nvPr>
        </p:nvSpPr>
        <p:spPr>
          <a:xfrm>
            <a:off x="524391" y="516628"/>
            <a:ext cx="10829409" cy="5660335"/>
          </a:xfrm>
        </p:spPr>
        <p:txBody>
          <a:bodyPr/>
          <a:lstStyle/>
          <a:p>
            <a:pPr marL="0" indent="0" algn="just">
              <a:buNone/>
            </a:pPr>
            <a:r>
              <a:rPr lang="en-US" b="1" i="0" dirty="0">
                <a:solidFill>
                  <a:srgbClr val="7030A0"/>
                </a:solidFill>
                <a:effectLst/>
              </a:rPr>
              <a:t>Call by value and Call by reference in C</a:t>
            </a:r>
          </a:p>
          <a:p>
            <a:pPr algn="just"/>
            <a:r>
              <a:rPr lang="en-US" b="0" i="0" dirty="0">
                <a:solidFill>
                  <a:srgbClr val="333333"/>
                </a:solidFill>
                <a:effectLst/>
              </a:rPr>
              <a:t>There are two methods to pass the data into the function in C language, i.e., </a:t>
            </a:r>
            <a:r>
              <a:rPr lang="en-US" b="0" i="1" dirty="0">
                <a:solidFill>
                  <a:srgbClr val="333333"/>
                </a:solidFill>
                <a:effectLst/>
              </a:rPr>
              <a:t>call by value</a:t>
            </a:r>
            <a:r>
              <a:rPr lang="en-US" b="0" i="0" dirty="0">
                <a:solidFill>
                  <a:srgbClr val="333333"/>
                </a:solidFill>
                <a:effectLst/>
              </a:rPr>
              <a:t> and </a:t>
            </a:r>
            <a:r>
              <a:rPr lang="en-US" b="0" i="1" dirty="0">
                <a:solidFill>
                  <a:srgbClr val="333333"/>
                </a:solidFill>
                <a:effectLst/>
              </a:rPr>
              <a:t>call by reference</a:t>
            </a:r>
            <a:r>
              <a:rPr lang="en-US" b="0" i="0" dirty="0">
                <a:solidFill>
                  <a:srgbClr val="333333"/>
                </a:solidFill>
                <a:effectLst/>
              </a:rPr>
              <a:t>.</a:t>
            </a:r>
          </a:p>
          <a:p>
            <a:pPr marL="0" indent="0">
              <a:buNone/>
            </a:pPr>
            <a:br>
              <a:rPr lang="en-US" dirty="0"/>
            </a:br>
            <a:endParaRPr lang="en-IN" dirty="0"/>
          </a:p>
        </p:txBody>
      </p:sp>
      <p:pic>
        <p:nvPicPr>
          <p:cNvPr id="2050" name="Picture 2" descr="call by value and call by reference in c">
            <a:extLst>
              <a:ext uri="{FF2B5EF4-FFF2-40B4-BE49-F238E27FC236}">
                <a16:creationId xmlns:a16="http://schemas.microsoft.com/office/drawing/2014/main" id="{CD7F483C-728A-0B11-C7BC-B31D235F0E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8785" y="2024741"/>
            <a:ext cx="4122398" cy="3415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383314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967209-BF91-F0EF-0340-E7F2BC876A21}"/>
              </a:ext>
            </a:extLst>
          </p:cNvPr>
          <p:cNvSpPr>
            <a:spLocks noGrp="1"/>
          </p:cNvSpPr>
          <p:nvPr>
            <p:ph idx="1"/>
          </p:nvPr>
        </p:nvSpPr>
        <p:spPr>
          <a:xfrm>
            <a:off x="838200" y="587829"/>
            <a:ext cx="10515600" cy="5589134"/>
          </a:xfrm>
        </p:spPr>
        <p:txBody>
          <a:bodyPr/>
          <a:lstStyle/>
          <a:p>
            <a:pPr marL="0" indent="0">
              <a:lnSpc>
                <a:spcPct val="150000"/>
              </a:lnSpc>
              <a:buNone/>
            </a:pPr>
            <a:r>
              <a:rPr lang="en-US" b="1" i="0" dirty="0">
                <a:solidFill>
                  <a:srgbClr val="7030A0"/>
                </a:solidFill>
                <a:effectLst/>
              </a:rPr>
              <a:t>Call by value in C</a:t>
            </a:r>
          </a:p>
          <a:p>
            <a:pPr algn="just">
              <a:lnSpc>
                <a:spcPct val="150000"/>
              </a:lnSpc>
              <a:buFont typeface="Arial" panose="020B0604020202020204" pitchFamily="34" charset="0"/>
              <a:buChar char="•"/>
            </a:pPr>
            <a:r>
              <a:rPr lang="en-US" b="0" i="0" dirty="0">
                <a:solidFill>
                  <a:srgbClr val="000000"/>
                </a:solidFill>
                <a:effectLst/>
              </a:rPr>
              <a:t>In call by value method, </a:t>
            </a:r>
            <a:r>
              <a:rPr lang="en-US" b="0" i="0" dirty="0">
                <a:solidFill>
                  <a:srgbClr val="7030A0"/>
                </a:solidFill>
                <a:effectLst/>
              </a:rPr>
              <a:t>the value of the actual parameters is copied into the formal parameters</a:t>
            </a:r>
            <a:r>
              <a:rPr lang="en-US" b="0" i="0" dirty="0">
                <a:solidFill>
                  <a:srgbClr val="000000"/>
                </a:solidFill>
                <a:effectLst/>
              </a:rPr>
              <a:t>. In other words, we can say that the value of the variable is used in the function call in the call by value method.</a:t>
            </a:r>
          </a:p>
          <a:p>
            <a:pPr algn="just">
              <a:lnSpc>
                <a:spcPct val="150000"/>
              </a:lnSpc>
              <a:buFont typeface="Arial" panose="020B0604020202020204" pitchFamily="34" charset="0"/>
              <a:buChar char="•"/>
            </a:pPr>
            <a:r>
              <a:rPr lang="en-US" b="0" i="0" dirty="0">
                <a:solidFill>
                  <a:srgbClr val="7030A0"/>
                </a:solidFill>
                <a:effectLst/>
              </a:rPr>
              <a:t>In call by value method, we can not modify the value of the actual parameter by the formal parameter.</a:t>
            </a:r>
          </a:p>
          <a:p>
            <a:pPr marL="0" indent="0">
              <a:buNone/>
            </a:pPr>
            <a:endParaRPr lang="en-IN" dirty="0"/>
          </a:p>
        </p:txBody>
      </p:sp>
    </p:spTree>
    <p:extLst>
      <p:ext uri="{BB962C8B-B14F-4D97-AF65-F5344CB8AC3E}">
        <p14:creationId xmlns:p14="http://schemas.microsoft.com/office/powerpoint/2010/main" val="308232273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9A3D0B-C160-2021-54CB-E72F1E57BEE0}"/>
              </a:ext>
            </a:extLst>
          </p:cNvPr>
          <p:cNvSpPr>
            <a:spLocks noGrp="1"/>
          </p:cNvSpPr>
          <p:nvPr>
            <p:ph idx="1"/>
          </p:nvPr>
        </p:nvSpPr>
        <p:spPr>
          <a:xfrm>
            <a:off x="838200" y="513184"/>
            <a:ext cx="10515600" cy="5663779"/>
          </a:xfrm>
        </p:spPr>
        <p:txBody>
          <a:bodyPr>
            <a:normAutofit lnSpcReduction="10000"/>
          </a:bodyPr>
          <a:lstStyle/>
          <a:p>
            <a:pPr marL="0" indent="0" algn="just">
              <a:buNone/>
            </a:pPr>
            <a:r>
              <a:rPr lang="en-IN" b="0" i="0" dirty="0">
                <a:solidFill>
                  <a:srgbClr val="0000FF"/>
                </a:solidFill>
                <a:effectLst/>
              </a:rPr>
              <a:t>#include&lt;stdio.h&gt;</a:t>
            </a:r>
            <a:r>
              <a:rPr lang="en-IN" b="0" i="0" dirty="0">
                <a:solidFill>
                  <a:srgbClr val="000000"/>
                </a:solidFill>
                <a:effectLst/>
              </a:rPr>
              <a:t>  </a:t>
            </a:r>
          </a:p>
          <a:p>
            <a:pPr marL="0" indent="0" algn="just">
              <a:buNone/>
            </a:pPr>
            <a:r>
              <a:rPr lang="en-IN" b="1" i="0" dirty="0">
                <a:solidFill>
                  <a:srgbClr val="006699"/>
                </a:solidFill>
                <a:effectLst/>
              </a:rPr>
              <a:t>void</a:t>
            </a:r>
            <a:r>
              <a:rPr lang="en-IN" b="0" i="0" dirty="0">
                <a:solidFill>
                  <a:srgbClr val="000000"/>
                </a:solidFill>
                <a:effectLst/>
              </a:rPr>
              <a:t> change(</a:t>
            </a:r>
            <a:r>
              <a:rPr lang="en-IN" b="1" i="0" dirty="0">
                <a:solidFill>
                  <a:srgbClr val="2E8B57"/>
                </a:solidFill>
                <a:effectLst/>
              </a:rPr>
              <a:t>int</a:t>
            </a:r>
            <a:r>
              <a:rPr lang="en-IN" b="0" i="0" dirty="0">
                <a:solidFill>
                  <a:srgbClr val="000000"/>
                </a:solidFill>
                <a:effectLst/>
              </a:rPr>
              <a:t> </a:t>
            </a:r>
            <a:r>
              <a:rPr lang="en-IN" b="0" i="0" dirty="0" err="1">
                <a:solidFill>
                  <a:srgbClr val="000000"/>
                </a:solidFill>
                <a:effectLst/>
              </a:rPr>
              <a:t>num</a:t>
            </a:r>
            <a:r>
              <a:rPr lang="en-IN" b="0" i="0" dirty="0">
                <a:solidFill>
                  <a:srgbClr val="000000"/>
                </a:solidFill>
                <a:effectLst/>
              </a:rPr>
              <a:t>) {    </a:t>
            </a:r>
          </a:p>
          <a:p>
            <a:pPr marL="0" indent="0" algn="just">
              <a:buNone/>
            </a:pPr>
            <a:r>
              <a:rPr lang="en-IN" b="0" i="0" dirty="0">
                <a:solidFill>
                  <a:srgbClr val="000000"/>
                </a:solidFill>
                <a:effectLst/>
              </a:rPr>
              <a:t>    </a:t>
            </a:r>
            <a:r>
              <a:rPr lang="en-IN" b="0" i="0" dirty="0" err="1">
                <a:solidFill>
                  <a:srgbClr val="000000"/>
                </a:solidFill>
                <a:effectLst/>
              </a:rPr>
              <a:t>printf</a:t>
            </a:r>
            <a:r>
              <a:rPr lang="en-IN" b="0" i="0" dirty="0">
                <a:solidFill>
                  <a:srgbClr val="000000"/>
                </a:solidFill>
                <a:effectLst/>
              </a:rPr>
              <a:t>(</a:t>
            </a:r>
            <a:r>
              <a:rPr lang="en-IN" b="0" i="0" dirty="0">
                <a:solidFill>
                  <a:srgbClr val="0000FF"/>
                </a:solidFill>
                <a:effectLst/>
              </a:rPr>
              <a:t>"Before adding value inside function </a:t>
            </a:r>
            <a:r>
              <a:rPr lang="en-IN" b="0" i="0" dirty="0" err="1">
                <a:solidFill>
                  <a:srgbClr val="0000FF"/>
                </a:solidFill>
                <a:effectLst/>
              </a:rPr>
              <a:t>num</a:t>
            </a:r>
            <a:r>
              <a:rPr lang="en-IN" b="0" i="0" dirty="0">
                <a:solidFill>
                  <a:srgbClr val="0000FF"/>
                </a:solidFill>
                <a:effectLst/>
              </a:rPr>
              <a:t>=%d \n"</a:t>
            </a:r>
            <a:r>
              <a:rPr lang="en-IN" b="0" i="0" dirty="0">
                <a:solidFill>
                  <a:srgbClr val="000000"/>
                </a:solidFill>
                <a:effectLst/>
              </a:rPr>
              <a:t>,</a:t>
            </a:r>
            <a:r>
              <a:rPr lang="en-IN" b="0" i="0" dirty="0" err="1">
                <a:solidFill>
                  <a:srgbClr val="000000"/>
                </a:solidFill>
                <a:effectLst/>
              </a:rPr>
              <a:t>num</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num</a:t>
            </a:r>
            <a:r>
              <a:rPr lang="en-IN" b="0" i="0" dirty="0">
                <a:solidFill>
                  <a:srgbClr val="000000"/>
                </a:solidFill>
                <a:effectLst/>
              </a:rPr>
              <a:t>=num+100;    </a:t>
            </a:r>
          </a:p>
          <a:p>
            <a:pPr marL="0" indent="0" algn="just">
              <a:buNone/>
            </a:pPr>
            <a:r>
              <a:rPr lang="en-IN" b="0" i="0" dirty="0">
                <a:solidFill>
                  <a:srgbClr val="000000"/>
                </a:solidFill>
                <a:effectLst/>
              </a:rPr>
              <a:t>    </a:t>
            </a:r>
            <a:r>
              <a:rPr lang="en-IN" b="0" i="0" dirty="0" err="1">
                <a:solidFill>
                  <a:srgbClr val="000000"/>
                </a:solidFill>
                <a:effectLst/>
              </a:rPr>
              <a:t>printf</a:t>
            </a:r>
            <a:r>
              <a:rPr lang="en-IN" b="0" i="0" dirty="0">
                <a:solidFill>
                  <a:srgbClr val="000000"/>
                </a:solidFill>
                <a:effectLst/>
              </a:rPr>
              <a:t>(</a:t>
            </a:r>
            <a:r>
              <a:rPr lang="en-IN" b="0" i="0" dirty="0">
                <a:solidFill>
                  <a:srgbClr val="0000FF"/>
                </a:solidFill>
                <a:effectLst/>
              </a:rPr>
              <a:t>"After adding value inside function </a:t>
            </a:r>
            <a:r>
              <a:rPr lang="en-IN" b="0" i="0" dirty="0" err="1">
                <a:solidFill>
                  <a:srgbClr val="0000FF"/>
                </a:solidFill>
                <a:effectLst/>
              </a:rPr>
              <a:t>num</a:t>
            </a:r>
            <a:r>
              <a:rPr lang="en-IN" b="0" i="0" dirty="0">
                <a:solidFill>
                  <a:srgbClr val="0000FF"/>
                </a:solidFill>
                <a:effectLst/>
              </a:rPr>
              <a:t>=%d \n"</a:t>
            </a:r>
            <a:r>
              <a:rPr lang="en-IN" b="0" i="0" dirty="0">
                <a:solidFill>
                  <a:srgbClr val="000000"/>
                </a:solidFill>
                <a:effectLst/>
              </a:rPr>
              <a:t>, </a:t>
            </a:r>
            <a:r>
              <a:rPr lang="en-IN" b="0" i="0" dirty="0" err="1">
                <a:solidFill>
                  <a:srgbClr val="000000"/>
                </a:solidFill>
                <a:effectLst/>
              </a:rPr>
              <a:t>num</a:t>
            </a:r>
            <a:r>
              <a:rPr lang="en-IN" b="0" i="0" dirty="0">
                <a:solidFill>
                  <a:srgbClr val="000000"/>
                </a:solidFill>
                <a:effectLst/>
              </a:rPr>
              <a:t>);    </a:t>
            </a:r>
          </a:p>
          <a:p>
            <a:pPr marL="0" indent="0" algn="just">
              <a:buNone/>
            </a:pPr>
            <a:r>
              <a:rPr lang="en-IN" b="0" i="0" dirty="0">
                <a:solidFill>
                  <a:srgbClr val="000000"/>
                </a:solidFill>
                <a:effectLst/>
              </a:rPr>
              <a:t>}    </a:t>
            </a:r>
          </a:p>
          <a:p>
            <a:pPr marL="0" indent="0" algn="just">
              <a:buNone/>
            </a:pPr>
            <a:r>
              <a:rPr lang="en-IN" b="1" i="0" dirty="0">
                <a:solidFill>
                  <a:srgbClr val="2E8B57"/>
                </a:solidFill>
                <a:effectLst/>
              </a:rPr>
              <a:t>int</a:t>
            </a:r>
            <a:r>
              <a:rPr lang="en-IN" b="0" i="0" dirty="0">
                <a:solidFill>
                  <a:srgbClr val="000000"/>
                </a:solidFill>
                <a:effectLst/>
              </a:rPr>
              <a:t> main() {    </a:t>
            </a:r>
          </a:p>
          <a:p>
            <a:pPr marL="0" indent="0" algn="just">
              <a:buNone/>
            </a:pPr>
            <a:r>
              <a:rPr lang="en-IN" b="0" i="0" dirty="0">
                <a:solidFill>
                  <a:srgbClr val="000000"/>
                </a:solidFill>
                <a:effectLst/>
              </a:rPr>
              <a:t>    </a:t>
            </a:r>
            <a:r>
              <a:rPr lang="en-IN" b="1" i="0" dirty="0">
                <a:solidFill>
                  <a:srgbClr val="2E8B57"/>
                </a:solidFill>
                <a:effectLst/>
              </a:rPr>
              <a:t>int</a:t>
            </a:r>
            <a:r>
              <a:rPr lang="en-IN" b="0" i="0" dirty="0">
                <a:solidFill>
                  <a:srgbClr val="000000"/>
                </a:solidFill>
                <a:effectLst/>
              </a:rPr>
              <a:t> x=100;    </a:t>
            </a:r>
          </a:p>
          <a:p>
            <a:pPr marL="0" indent="0" algn="just">
              <a:buNone/>
            </a:pPr>
            <a:r>
              <a:rPr lang="en-IN" b="0" i="0" dirty="0">
                <a:solidFill>
                  <a:srgbClr val="000000"/>
                </a:solidFill>
                <a:effectLst/>
              </a:rPr>
              <a:t>    </a:t>
            </a:r>
            <a:r>
              <a:rPr lang="en-IN" b="0" i="0" dirty="0" err="1">
                <a:solidFill>
                  <a:srgbClr val="000000"/>
                </a:solidFill>
                <a:effectLst/>
              </a:rPr>
              <a:t>printf</a:t>
            </a:r>
            <a:r>
              <a:rPr lang="en-IN" b="0" i="0" dirty="0">
                <a:solidFill>
                  <a:srgbClr val="000000"/>
                </a:solidFill>
                <a:effectLst/>
              </a:rPr>
              <a:t>(</a:t>
            </a:r>
            <a:r>
              <a:rPr lang="en-IN" b="0" i="0" dirty="0">
                <a:solidFill>
                  <a:srgbClr val="0000FF"/>
                </a:solidFill>
                <a:effectLst/>
              </a:rPr>
              <a:t>"Before function call x=%d \n"</a:t>
            </a:r>
            <a:r>
              <a:rPr lang="en-IN" b="0" i="0" dirty="0">
                <a:solidFill>
                  <a:srgbClr val="000000"/>
                </a:solidFill>
                <a:effectLst/>
              </a:rPr>
              <a:t>, x);    </a:t>
            </a:r>
          </a:p>
          <a:p>
            <a:pPr marL="0" indent="0" algn="just">
              <a:buNone/>
            </a:pPr>
            <a:r>
              <a:rPr lang="en-IN" b="0" i="0" dirty="0">
                <a:solidFill>
                  <a:srgbClr val="000000"/>
                </a:solidFill>
                <a:effectLst/>
              </a:rPr>
              <a:t>    change(x);</a:t>
            </a:r>
            <a:r>
              <a:rPr lang="en-IN" b="0" i="0" dirty="0">
                <a:solidFill>
                  <a:srgbClr val="008200"/>
                </a:solidFill>
                <a:effectLst/>
              </a:rPr>
              <a:t>//passing value in function  </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printf</a:t>
            </a:r>
            <a:r>
              <a:rPr lang="en-IN" b="0" i="0" dirty="0">
                <a:solidFill>
                  <a:srgbClr val="000000"/>
                </a:solidFill>
                <a:effectLst/>
              </a:rPr>
              <a:t>(</a:t>
            </a:r>
            <a:r>
              <a:rPr lang="en-IN" b="0" i="0" dirty="0">
                <a:solidFill>
                  <a:srgbClr val="0000FF"/>
                </a:solidFill>
                <a:effectLst/>
              </a:rPr>
              <a:t>"After function call x=%d \n"</a:t>
            </a:r>
            <a:r>
              <a:rPr lang="en-IN" b="0" i="0" dirty="0">
                <a:solidFill>
                  <a:srgbClr val="000000"/>
                </a:solidFill>
                <a:effectLst/>
              </a:rPr>
              <a:t>, x);    </a:t>
            </a:r>
          </a:p>
          <a:p>
            <a:pPr marL="0" indent="0" algn="just">
              <a:buNone/>
            </a:pPr>
            <a:r>
              <a:rPr lang="en-IN" b="1" i="0" dirty="0">
                <a:solidFill>
                  <a:srgbClr val="006699"/>
                </a:solidFill>
                <a:effectLst/>
              </a:rPr>
              <a:t>return</a:t>
            </a:r>
            <a:r>
              <a:rPr lang="en-IN" b="0" i="0" dirty="0">
                <a:solidFill>
                  <a:srgbClr val="000000"/>
                </a:solidFill>
                <a:effectLst/>
              </a:rPr>
              <a:t> 0;}</a:t>
            </a:r>
          </a:p>
          <a:p>
            <a:endParaRPr lang="en-IN" dirty="0"/>
          </a:p>
        </p:txBody>
      </p:sp>
    </p:spTree>
    <p:extLst>
      <p:ext uri="{BB962C8B-B14F-4D97-AF65-F5344CB8AC3E}">
        <p14:creationId xmlns:p14="http://schemas.microsoft.com/office/powerpoint/2010/main" val="265603724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9047FE-20FE-028F-8C07-D5C4152F43AE}"/>
              </a:ext>
            </a:extLst>
          </p:cNvPr>
          <p:cNvSpPr>
            <a:spLocks noGrp="1"/>
          </p:cNvSpPr>
          <p:nvPr>
            <p:ph idx="1"/>
          </p:nvPr>
        </p:nvSpPr>
        <p:spPr>
          <a:xfrm>
            <a:off x="838200" y="578498"/>
            <a:ext cx="10515600" cy="5598465"/>
          </a:xfrm>
        </p:spPr>
        <p:txBody>
          <a:bodyPr/>
          <a:lstStyle/>
          <a:p>
            <a:pPr marL="0" indent="0" algn="just">
              <a:lnSpc>
                <a:spcPct val="150000"/>
              </a:lnSpc>
              <a:buNone/>
            </a:pPr>
            <a:r>
              <a:rPr lang="en-US" b="1" i="0" dirty="0">
                <a:solidFill>
                  <a:srgbClr val="7030A0"/>
                </a:solidFill>
                <a:effectLst/>
              </a:rPr>
              <a:t>Call by reference in C</a:t>
            </a:r>
          </a:p>
          <a:p>
            <a:pPr algn="just">
              <a:lnSpc>
                <a:spcPct val="150000"/>
              </a:lnSpc>
              <a:buFont typeface="Arial" panose="020B0604020202020204" pitchFamily="34" charset="0"/>
              <a:buChar char="•"/>
            </a:pPr>
            <a:r>
              <a:rPr lang="en-US" b="0" i="0" dirty="0">
                <a:solidFill>
                  <a:srgbClr val="000000"/>
                </a:solidFill>
                <a:effectLst/>
              </a:rPr>
              <a:t>In call by reference, the address of the variable is passed into the function call as the actual parameter.</a:t>
            </a:r>
          </a:p>
          <a:p>
            <a:pPr algn="just">
              <a:lnSpc>
                <a:spcPct val="150000"/>
              </a:lnSpc>
              <a:buFont typeface="Arial" panose="020B0604020202020204" pitchFamily="34" charset="0"/>
              <a:buChar char="•"/>
            </a:pPr>
            <a:r>
              <a:rPr lang="en-US" b="0" i="0" dirty="0">
                <a:solidFill>
                  <a:srgbClr val="7030A0"/>
                </a:solidFill>
                <a:effectLst/>
              </a:rPr>
              <a:t>The value of the actual parameters can be modified by changing the formal parameters </a:t>
            </a:r>
            <a:r>
              <a:rPr lang="en-US" b="0" i="0" dirty="0">
                <a:solidFill>
                  <a:srgbClr val="000000"/>
                </a:solidFill>
                <a:effectLst/>
              </a:rPr>
              <a:t>since the address of the actual parameters is passed.</a:t>
            </a:r>
          </a:p>
          <a:p>
            <a:pPr algn="just">
              <a:lnSpc>
                <a:spcPct val="150000"/>
              </a:lnSpc>
              <a:buFont typeface="Arial" panose="020B0604020202020204" pitchFamily="34" charset="0"/>
              <a:buChar char="•"/>
            </a:pPr>
            <a:r>
              <a:rPr lang="en-US" b="0" i="0" dirty="0">
                <a:solidFill>
                  <a:srgbClr val="7030A0"/>
                </a:solidFill>
                <a:effectLst/>
              </a:rPr>
              <a:t>In call by reference, the memory allocation is similar for both formal parameters and actual parameters. </a:t>
            </a:r>
            <a:endParaRPr lang="en-IN" dirty="0">
              <a:solidFill>
                <a:srgbClr val="7030A0"/>
              </a:solidFill>
            </a:endParaRPr>
          </a:p>
        </p:txBody>
      </p:sp>
    </p:spTree>
    <p:extLst>
      <p:ext uri="{BB962C8B-B14F-4D97-AF65-F5344CB8AC3E}">
        <p14:creationId xmlns:p14="http://schemas.microsoft.com/office/powerpoint/2010/main" val="171930043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D8CC24-89CE-5FAC-C6CF-58FF3B7F61BB}"/>
              </a:ext>
            </a:extLst>
          </p:cNvPr>
          <p:cNvSpPr>
            <a:spLocks noGrp="1"/>
          </p:cNvSpPr>
          <p:nvPr>
            <p:ph idx="1"/>
          </p:nvPr>
        </p:nvSpPr>
        <p:spPr>
          <a:xfrm>
            <a:off x="838200" y="578498"/>
            <a:ext cx="10515600" cy="5598465"/>
          </a:xfrm>
        </p:spPr>
        <p:txBody>
          <a:bodyPr>
            <a:normAutofit fontScale="92500" lnSpcReduction="20000"/>
          </a:bodyPr>
          <a:lstStyle/>
          <a:p>
            <a:pPr marL="0" indent="0">
              <a:buNone/>
            </a:pPr>
            <a:r>
              <a:rPr lang="en-IN" b="1" dirty="0">
                <a:solidFill>
                  <a:srgbClr val="7030A0"/>
                </a:solidFill>
              </a:rPr>
              <a:t>Example</a:t>
            </a:r>
          </a:p>
          <a:p>
            <a:pPr marL="0" indent="0">
              <a:buNone/>
            </a:pPr>
            <a:r>
              <a:rPr lang="en-IN" dirty="0"/>
              <a:t>include&lt;</a:t>
            </a:r>
            <a:r>
              <a:rPr lang="en-IN" dirty="0" err="1"/>
              <a:t>stdio.h</a:t>
            </a:r>
            <a:r>
              <a:rPr lang="en-IN" dirty="0"/>
              <a:t>&gt;&gt;</a:t>
            </a:r>
          </a:p>
          <a:p>
            <a:pPr marL="0" indent="0">
              <a:buNone/>
            </a:pPr>
            <a:r>
              <a:rPr lang="en-IN" dirty="0"/>
              <a:t>void main()</a:t>
            </a:r>
          </a:p>
          <a:p>
            <a:pPr marL="0" indent="0">
              <a:buNone/>
            </a:pPr>
            <a:r>
              <a:rPr lang="en-IN" dirty="0"/>
              <a:t>{</a:t>
            </a:r>
          </a:p>
          <a:p>
            <a:pPr marL="0" indent="0">
              <a:buNone/>
            </a:pPr>
            <a:r>
              <a:rPr lang="en-IN" dirty="0"/>
              <a:t>    int a=10,b=20;</a:t>
            </a:r>
          </a:p>
          <a:p>
            <a:pPr marL="0" indent="0">
              <a:buNone/>
            </a:pPr>
            <a:r>
              <a:rPr lang="en-IN" dirty="0"/>
              <a:t>    </a:t>
            </a:r>
            <a:r>
              <a:rPr lang="en-IN" dirty="0" err="1"/>
              <a:t>printf</a:t>
            </a:r>
            <a:r>
              <a:rPr lang="en-IN" dirty="0"/>
              <a:t>("Before </a:t>
            </a:r>
            <a:r>
              <a:rPr lang="en-IN" dirty="0" err="1"/>
              <a:t>Swaping</a:t>
            </a:r>
            <a:r>
              <a:rPr lang="en-IN" dirty="0"/>
              <a:t> the numbers are %</a:t>
            </a:r>
            <a:r>
              <a:rPr lang="en-IN" dirty="0" err="1"/>
              <a:t>d,%d</a:t>
            </a:r>
            <a:r>
              <a:rPr lang="en-IN" dirty="0"/>
              <a:t>\n",</a:t>
            </a:r>
            <a:r>
              <a:rPr lang="en-IN" dirty="0" err="1"/>
              <a:t>a,b</a:t>
            </a:r>
            <a:r>
              <a:rPr lang="en-IN" dirty="0"/>
              <a:t>);</a:t>
            </a:r>
          </a:p>
          <a:p>
            <a:pPr marL="0" indent="0">
              <a:buNone/>
            </a:pPr>
            <a:r>
              <a:rPr lang="en-IN" dirty="0"/>
              <a:t>    swap(&amp;</a:t>
            </a:r>
            <a:r>
              <a:rPr lang="en-IN" dirty="0" err="1"/>
              <a:t>a,&amp;b</a:t>
            </a:r>
            <a:r>
              <a:rPr lang="en-IN" dirty="0"/>
              <a:t>);</a:t>
            </a:r>
          </a:p>
          <a:p>
            <a:pPr marL="0" indent="0">
              <a:buNone/>
            </a:pPr>
            <a:r>
              <a:rPr lang="en-IN" dirty="0"/>
              <a:t>    </a:t>
            </a:r>
            <a:r>
              <a:rPr lang="en-IN" dirty="0" err="1"/>
              <a:t>printf</a:t>
            </a:r>
            <a:r>
              <a:rPr lang="en-IN" dirty="0"/>
              <a:t>("After </a:t>
            </a:r>
            <a:r>
              <a:rPr lang="en-IN" dirty="0" err="1"/>
              <a:t>swaping</a:t>
            </a:r>
            <a:r>
              <a:rPr lang="en-IN" dirty="0"/>
              <a:t> values </a:t>
            </a:r>
            <a:r>
              <a:rPr lang="en-IN" dirty="0" err="1"/>
              <a:t>are..%d</a:t>
            </a:r>
            <a:r>
              <a:rPr lang="en-IN" dirty="0"/>
              <a:t> ,%d",</a:t>
            </a:r>
            <a:r>
              <a:rPr lang="en-IN" dirty="0" err="1"/>
              <a:t>a,b</a:t>
            </a:r>
            <a:r>
              <a:rPr lang="en-IN" dirty="0"/>
              <a:t>);    }</a:t>
            </a:r>
          </a:p>
          <a:p>
            <a:pPr marL="0" indent="0">
              <a:buNone/>
            </a:pPr>
            <a:r>
              <a:rPr lang="en-IN" dirty="0"/>
              <a:t>void swap(int *</a:t>
            </a:r>
            <a:r>
              <a:rPr lang="en-IN" dirty="0" err="1"/>
              <a:t>x,int</a:t>
            </a:r>
            <a:r>
              <a:rPr lang="en-IN" dirty="0"/>
              <a:t>* y)</a:t>
            </a:r>
          </a:p>
          <a:p>
            <a:pPr marL="0" indent="0">
              <a:buNone/>
            </a:pPr>
            <a:r>
              <a:rPr lang="en-IN" dirty="0"/>
              <a:t>{</a:t>
            </a:r>
          </a:p>
          <a:p>
            <a:pPr marL="0" indent="0">
              <a:buNone/>
            </a:pPr>
            <a:r>
              <a:rPr lang="en-IN" dirty="0"/>
              <a:t>    *x=*x+*y;</a:t>
            </a:r>
          </a:p>
          <a:p>
            <a:pPr marL="0" indent="0">
              <a:buNone/>
            </a:pPr>
            <a:r>
              <a:rPr lang="en-IN" dirty="0"/>
              <a:t>    *y=*x-*y;</a:t>
            </a:r>
          </a:p>
          <a:p>
            <a:pPr marL="0" indent="0">
              <a:buNone/>
            </a:pPr>
            <a:r>
              <a:rPr lang="en-IN" dirty="0"/>
              <a:t>    *x=*x-*y;}</a:t>
            </a:r>
          </a:p>
        </p:txBody>
      </p:sp>
    </p:spTree>
    <p:extLst>
      <p:ext uri="{BB962C8B-B14F-4D97-AF65-F5344CB8AC3E}">
        <p14:creationId xmlns:p14="http://schemas.microsoft.com/office/powerpoint/2010/main" val="316710208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E5B15F-75F3-B029-9750-8372E57E4D59}"/>
              </a:ext>
            </a:extLst>
          </p:cNvPr>
          <p:cNvSpPr>
            <a:spLocks noGrp="1"/>
          </p:cNvSpPr>
          <p:nvPr>
            <p:ph idx="1"/>
          </p:nvPr>
        </p:nvSpPr>
        <p:spPr>
          <a:xfrm>
            <a:off x="838200" y="438539"/>
            <a:ext cx="10515600" cy="5738424"/>
          </a:xfrm>
        </p:spPr>
        <p:txBody>
          <a:bodyPr/>
          <a:lstStyle/>
          <a:p>
            <a:pPr marL="0" indent="0">
              <a:lnSpc>
                <a:spcPct val="150000"/>
              </a:lnSpc>
              <a:buNone/>
            </a:pPr>
            <a:r>
              <a:rPr lang="en-US" b="1" dirty="0">
                <a:solidFill>
                  <a:srgbClr val="7030A0"/>
                </a:solidFill>
              </a:rPr>
              <a:t>Declaration of Constants in C</a:t>
            </a:r>
          </a:p>
          <a:p>
            <a:pPr marL="0" indent="0">
              <a:lnSpc>
                <a:spcPct val="150000"/>
              </a:lnSpc>
              <a:buNone/>
            </a:pPr>
            <a:r>
              <a:rPr lang="en-US" b="1" dirty="0">
                <a:solidFill>
                  <a:srgbClr val="7030A0"/>
                </a:solidFill>
              </a:rPr>
              <a:t>2 Ways:</a:t>
            </a:r>
          </a:p>
          <a:p>
            <a:pPr marL="0" indent="0">
              <a:lnSpc>
                <a:spcPct val="150000"/>
              </a:lnSpc>
              <a:buNone/>
            </a:pPr>
            <a:r>
              <a:rPr lang="en-US" dirty="0"/>
              <a:t>• Using const keyword in variable declaration.</a:t>
            </a:r>
          </a:p>
          <a:p>
            <a:pPr marL="0" indent="0">
              <a:lnSpc>
                <a:spcPct val="150000"/>
              </a:lnSpc>
              <a:buNone/>
            </a:pPr>
            <a:r>
              <a:rPr lang="en-US" dirty="0"/>
              <a:t>• Using #define preprocessor directives.</a:t>
            </a:r>
            <a:endParaRPr lang="en-IN" dirty="0"/>
          </a:p>
        </p:txBody>
      </p:sp>
    </p:spTree>
    <p:extLst>
      <p:ext uri="{BB962C8B-B14F-4D97-AF65-F5344CB8AC3E}">
        <p14:creationId xmlns:p14="http://schemas.microsoft.com/office/powerpoint/2010/main" val="289279156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BFEB58-F1F2-370C-F3DC-82C68C15D0F4}"/>
              </a:ext>
            </a:extLst>
          </p:cNvPr>
          <p:cNvSpPr>
            <a:spLocks noGrp="1"/>
          </p:cNvSpPr>
          <p:nvPr>
            <p:ph idx="1"/>
          </p:nvPr>
        </p:nvSpPr>
        <p:spPr>
          <a:xfrm>
            <a:off x="838200" y="345233"/>
            <a:ext cx="10515600" cy="5785077"/>
          </a:xfrm>
        </p:spPr>
        <p:txBody>
          <a:bodyPr/>
          <a:lstStyle/>
          <a:p>
            <a:pPr marL="0" indent="0">
              <a:buNone/>
            </a:pPr>
            <a:r>
              <a:rPr lang="en-US" b="1" dirty="0">
                <a:solidFill>
                  <a:srgbClr val="7030A0"/>
                </a:solidFill>
              </a:rPr>
              <a:t>Declaration of Constants in C </a:t>
            </a:r>
          </a:p>
          <a:p>
            <a:pPr marL="0" indent="0">
              <a:buNone/>
            </a:pPr>
            <a:r>
              <a:rPr lang="en-IN" dirty="0">
                <a:solidFill>
                  <a:srgbClr val="7030A0"/>
                </a:solidFill>
              </a:rPr>
              <a:t>1. Constant variable</a:t>
            </a:r>
          </a:p>
          <a:p>
            <a:pPr marL="0" indent="0">
              <a:buNone/>
            </a:pPr>
            <a:r>
              <a:rPr lang="en-IN" dirty="0"/>
              <a:t>• Syntax</a:t>
            </a:r>
          </a:p>
          <a:p>
            <a:pPr marL="0" indent="0">
              <a:buNone/>
            </a:pPr>
            <a:r>
              <a:rPr lang="en-IN" dirty="0" err="1"/>
              <a:t>const</a:t>
            </a:r>
            <a:r>
              <a:rPr lang="en-IN" dirty="0"/>
              <a:t> </a:t>
            </a:r>
            <a:r>
              <a:rPr lang="en-IN" dirty="0" err="1"/>
              <a:t>data_type</a:t>
            </a:r>
            <a:r>
              <a:rPr lang="en-IN" dirty="0"/>
              <a:t> </a:t>
            </a:r>
            <a:r>
              <a:rPr lang="en-IN" dirty="0" err="1"/>
              <a:t>variable_name</a:t>
            </a:r>
            <a:r>
              <a:rPr lang="en-IN" dirty="0"/>
              <a:t> = Constant;</a:t>
            </a:r>
          </a:p>
          <a:p>
            <a:pPr marL="0" indent="0">
              <a:buNone/>
            </a:pPr>
            <a:r>
              <a:rPr lang="en-IN" dirty="0"/>
              <a:t>• Example</a:t>
            </a:r>
          </a:p>
          <a:p>
            <a:pPr marL="0" indent="0">
              <a:buNone/>
            </a:pPr>
            <a:r>
              <a:rPr lang="en-IN" dirty="0" err="1"/>
              <a:t>const</a:t>
            </a:r>
            <a:r>
              <a:rPr lang="en-IN" dirty="0"/>
              <a:t> float PI = 3.141;</a:t>
            </a:r>
          </a:p>
        </p:txBody>
      </p:sp>
    </p:spTree>
    <p:extLst>
      <p:ext uri="{BB962C8B-B14F-4D97-AF65-F5344CB8AC3E}">
        <p14:creationId xmlns:p14="http://schemas.microsoft.com/office/powerpoint/2010/main" val="310810836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C45700-21E6-63FF-0D3F-A14A25B91ECD}"/>
              </a:ext>
            </a:extLst>
          </p:cNvPr>
          <p:cNvSpPr>
            <a:spLocks noGrp="1"/>
          </p:cNvSpPr>
          <p:nvPr>
            <p:ph idx="1"/>
          </p:nvPr>
        </p:nvSpPr>
        <p:spPr>
          <a:xfrm>
            <a:off x="838200" y="634482"/>
            <a:ext cx="10515600" cy="5542481"/>
          </a:xfrm>
        </p:spPr>
        <p:txBody>
          <a:bodyPr/>
          <a:lstStyle/>
          <a:p>
            <a:pPr marL="0" indent="0">
              <a:buNone/>
            </a:pPr>
            <a:r>
              <a:rPr lang="en-US" b="1" dirty="0">
                <a:solidFill>
                  <a:srgbClr val="7030A0"/>
                </a:solidFill>
              </a:rPr>
              <a:t>#define preprocessor directives.</a:t>
            </a:r>
            <a:endParaRPr lang="en-IN" b="1" dirty="0">
              <a:solidFill>
                <a:srgbClr val="7030A0"/>
              </a:solidFill>
            </a:endParaRPr>
          </a:p>
          <a:p>
            <a:pPr marL="0" indent="0">
              <a:buNone/>
            </a:pPr>
            <a:r>
              <a:rPr lang="en-IN" dirty="0"/>
              <a:t>• Syntax</a:t>
            </a:r>
          </a:p>
          <a:p>
            <a:pPr marL="0" indent="0">
              <a:buNone/>
            </a:pPr>
            <a:r>
              <a:rPr lang="en-IN" dirty="0"/>
              <a:t>#define </a:t>
            </a:r>
            <a:r>
              <a:rPr lang="en-IN" dirty="0" err="1"/>
              <a:t>Constant_Identifier</a:t>
            </a:r>
            <a:r>
              <a:rPr lang="en-IN" dirty="0"/>
              <a:t> Value</a:t>
            </a:r>
          </a:p>
          <a:p>
            <a:pPr marL="0" indent="0">
              <a:buNone/>
            </a:pPr>
            <a:r>
              <a:rPr lang="en-IN" dirty="0"/>
              <a:t>• Example:</a:t>
            </a:r>
          </a:p>
          <a:p>
            <a:pPr marL="0" indent="0">
              <a:buNone/>
            </a:pPr>
            <a:r>
              <a:rPr lang="en-IN" dirty="0"/>
              <a:t>#define PI 3.141</a:t>
            </a:r>
          </a:p>
        </p:txBody>
      </p:sp>
    </p:spTree>
    <p:extLst>
      <p:ext uri="{BB962C8B-B14F-4D97-AF65-F5344CB8AC3E}">
        <p14:creationId xmlns:p14="http://schemas.microsoft.com/office/powerpoint/2010/main" val="409481028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B7F1B2-168E-1F1C-3034-70262D36DC5A}"/>
              </a:ext>
            </a:extLst>
          </p:cNvPr>
          <p:cNvSpPr>
            <a:spLocks noGrp="1"/>
          </p:cNvSpPr>
          <p:nvPr>
            <p:ph idx="1"/>
          </p:nvPr>
        </p:nvSpPr>
        <p:spPr>
          <a:xfrm>
            <a:off x="838200" y="597159"/>
            <a:ext cx="10515600" cy="5579804"/>
          </a:xfrm>
        </p:spPr>
        <p:txBody>
          <a:bodyPr/>
          <a:lstStyle/>
          <a:p>
            <a:pPr marL="0" indent="0">
              <a:buNone/>
            </a:pPr>
            <a:r>
              <a:rPr lang="en-IN" b="1" dirty="0">
                <a:solidFill>
                  <a:srgbClr val="7030A0"/>
                </a:solidFill>
              </a:rPr>
              <a:t>Storage Classes</a:t>
            </a:r>
          </a:p>
          <a:p>
            <a:pPr algn="just"/>
            <a:r>
              <a:rPr lang="en-US" b="0" i="0" dirty="0">
                <a:solidFill>
                  <a:srgbClr val="333333"/>
                </a:solidFill>
                <a:effectLst/>
              </a:rPr>
              <a:t>Storage classes in C are used to determine the lifetime, visibility, memory location, and initial value of a variable. There are four types of storage classes in C</a:t>
            </a:r>
          </a:p>
          <a:p>
            <a:pPr algn="just">
              <a:buFont typeface="Arial" panose="020B0604020202020204" pitchFamily="34" charset="0"/>
              <a:buChar char="•"/>
            </a:pPr>
            <a:r>
              <a:rPr lang="en-US" b="0" i="0" dirty="0">
                <a:solidFill>
                  <a:srgbClr val="000000"/>
                </a:solidFill>
                <a:effectLst/>
              </a:rPr>
              <a:t>Automatic</a:t>
            </a:r>
          </a:p>
          <a:p>
            <a:pPr algn="just">
              <a:buFont typeface="Arial" panose="020B0604020202020204" pitchFamily="34" charset="0"/>
              <a:buChar char="•"/>
            </a:pPr>
            <a:r>
              <a:rPr lang="en-US" b="0" i="0" dirty="0">
                <a:solidFill>
                  <a:srgbClr val="000000"/>
                </a:solidFill>
                <a:effectLst/>
              </a:rPr>
              <a:t>External</a:t>
            </a:r>
          </a:p>
          <a:p>
            <a:pPr algn="just">
              <a:buFont typeface="Arial" panose="020B0604020202020204" pitchFamily="34" charset="0"/>
              <a:buChar char="•"/>
            </a:pPr>
            <a:r>
              <a:rPr lang="en-US" b="0" i="0" dirty="0">
                <a:solidFill>
                  <a:srgbClr val="000000"/>
                </a:solidFill>
                <a:effectLst/>
              </a:rPr>
              <a:t>Static</a:t>
            </a:r>
          </a:p>
          <a:p>
            <a:pPr algn="just">
              <a:buFont typeface="Arial" panose="020B0604020202020204" pitchFamily="34" charset="0"/>
              <a:buChar char="•"/>
            </a:pPr>
            <a:r>
              <a:rPr lang="en-US" b="0" i="0" dirty="0">
                <a:solidFill>
                  <a:srgbClr val="000000"/>
                </a:solidFill>
                <a:effectLst/>
              </a:rPr>
              <a:t>Register</a:t>
            </a:r>
          </a:p>
          <a:p>
            <a:endParaRPr lang="en-IN" dirty="0"/>
          </a:p>
        </p:txBody>
      </p:sp>
    </p:spTree>
    <p:extLst>
      <p:ext uri="{BB962C8B-B14F-4D97-AF65-F5344CB8AC3E}">
        <p14:creationId xmlns:p14="http://schemas.microsoft.com/office/powerpoint/2010/main" val="160035276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5330A00-3AAD-10C8-FF48-C156D89B4B49}"/>
              </a:ext>
            </a:extLst>
          </p:cNvPr>
          <p:cNvPicPr>
            <a:picLocks noGrp="1" noChangeAspect="1"/>
          </p:cNvPicPr>
          <p:nvPr>
            <p:ph idx="1"/>
          </p:nvPr>
        </p:nvPicPr>
        <p:blipFill>
          <a:blip r:embed="rId2"/>
          <a:stretch>
            <a:fillRect/>
          </a:stretch>
        </p:blipFill>
        <p:spPr>
          <a:xfrm>
            <a:off x="795778" y="540095"/>
            <a:ext cx="10646149" cy="4750362"/>
          </a:xfrm>
        </p:spPr>
      </p:pic>
    </p:spTree>
    <p:extLst>
      <p:ext uri="{BB962C8B-B14F-4D97-AF65-F5344CB8AC3E}">
        <p14:creationId xmlns:p14="http://schemas.microsoft.com/office/powerpoint/2010/main" val="8754412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43B31-D425-1BD4-9579-B5DE0E044DDA}"/>
              </a:ext>
            </a:extLst>
          </p:cNvPr>
          <p:cNvSpPr>
            <a:spLocks noGrp="1"/>
          </p:cNvSpPr>
          <p:nvPr>
            <p:ph type="title"/>
          </p:nvPr>
        </p:nvSpPr>
        <p:spPr>
          <a:xfrm>
            <a:off x="1495976" y="2689715"/>
            <a:ext cx="9905998" cy="1478570"/>
          </a:xfrm>
        </p:spPr>
        <p:txBody>
          <a:bodyPr/>
          <a:lstStyle/>
          <a:p>
            <a:pPr algn="ctr"/>
            <a:r>
              <a:rPr lang="en-IN" dirty="0"/>
              <a:t>Structure in c</a:t>
            </a:r>
          </a:p>
        </p:txBody>
      </p:sp>
    </p:spTree>
    <p:extLst>
      <p:ext uri="{BB962C8B-B14F-4D97-AF65-F5344CB8AC3E}">
        <p14:creationId xmlns:p14="http://schemas.microsoft.com/office/powerpoint/2010/main" val="146005697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0FFFB3-78CA-EBBD-BCE2-40E241C34F2C}"/>
              </a:ext>
            </a:extLst>
          </p:cNvPr>
          <p:cNvSpPr>
            <a:spLocks noGrp="1"/>
          </p:cNvSpPr>
          <p:nvPr>
            <p:ph idx="1"/>
          </p:nvPr>
        </p:nvSpPr>
        <p:spPr>
          <a:xfrm>
            <a:off x="1141412" y="513184"/>
            <a:ext cx="9905999" cy="5868955"/>
          </a:xfrm>
        </p:spPr>
        <p:txBody>
          <a:bodyPr>
            <a:normAutofit/>
          </a:bodyPr>
          <a:lstStyle/>
          <a:p>
            <a:pPr marL="0" indent="0" algn="just">
              <a:buNone/>
            </a:pPr>
            <a:r>
              <a:rPr lang="en-US" b="1" i="0" dirty="0">
                <a:solidFill>
                  <a:srgbClr val="7030A0"/>
                </a:solidFill>
                <a:effectLst/>
                <a:latin typeface="erdana"/>
              </a:rPr>
              <a:t>What is Structure</a:t>
            </a:r>
          </a:p>
          <a:p>
            <a:pPr algn="just">
              <a:lnSpc>
                <a:spcPct val="150000"/>
              </a:lnSpc>
            </a:pPr>
            <a:r>
              <a:rPr lang="en-US" b="0" i="0" dirty="0">
                <a:solidFill>
                  <a:srgbClr val="333333"/>
                </a:solidFill>
                <a:effectLst/>
                <a:latin typeface="inter-regular"/>
              </a:rPr>
              <a:t>Structure in c is a user-defined data type that enables us to store the collection of different data types.</a:t>
            </a:r>
          </a:p>
          <a:p>
            <a:pPr algn="just">
              <a:lnSpc>
                <a:spcPct val="150000"/>
              </a:lnSpc>
            </a:pPr>
            <a:r>
              <a:rPr lang="en-US" b="0" i="0" dirty="0">
                <a:solidFill>
                  <a:srgbClr val="333333"/>
                </a:solidFill>
                <a:effectLst/>
                <a:latin typeface="inter-regular"/>
              </a:rPr>
              <a:t> Each element of a structure is called a member.  simulate the use of classes and templates as it can store various information</a:t>
            </a:r>
          </a:p>
          <a:p>
            <a:pPr algn="just">
              <a:lnSpc>
                <a:spcPct val="150000"/>
              </a:lnSpc>
            </a:pPr>
            <a:r>
              <a:rPr lang="en-US" b="0" i="0" dirty="0">
                <a:solidFill>
                  <a:srgbClr val="333333"/>
                </a:solidFill>
                <a:effectLst/>
                <a:latin typeface="inter-regular"/>
              </a:rPr>
              <a:t>The </a:t>
            </a:r>
            <a:r>
              <a:rPr lang="en-US" b="1" i="0" dirty="0">
                <a:solidFill>
                  <a:srgbClr val="333333"/>
                </a:solidFill>
                <a:effectLst/>
                <a:latin typeface="inter-bold"/>
              </a:rPr>
              <a:t>,struct</a:t>
            </a:r>
            <a:r>
              <a:rPr lang="en-US" b="0" i="0" dirty="0">
                <a:solidFill>
                  <a:srgbClr val="333333"/>
                </a:solidFill>
                <a:effectLst/>
                <a:latin typeface="inter-regular"/>
              </a:rPr>
              <a:t> keyword is used to define the structure. </a:t>
            </a:r>
          </a:p>
        </p:txBody>
      </p:sp>
    </p:spTree>
    <p:extLst>
      <p:ext uri="{BB962C8B-B14F-4D97-AF65-F5344CB8AC3E}">
        <p14:creationId xmlns:p14="http://schemas.microsoft.com/office/powerpoint/2010/main" val="91689548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D8F5D1-19E3-5C1C-C41C-6C17B35EF0FC}"/>
              </a:ext>
            </a:extLst>
          </p:cNvPr>
          <p:cNvSpPr>
            <a:spLocks noGrp="1"/>
          </p:cNvSpPr>
          <p:nvPr>
            <p:ph idx="1"/>
          </p:nvPr>
        </p:nvSpPr>
        <p:spPr>
          <a:xfrm>
            <a:off x="1141412" y="326571"/>
            <a:ext cx="9905999" cy="5417977"/>
          </a:xfrm>
        </p:spPr>
        <p:txBody>
          <a:bodyPr/>
          <a:lstStyle/>
          <a:p>
            <a:pPr marL="0" indent="0" algn="just">
              <a:buNone/>
            </a:pPr>
            <a:r>
              <a:rPr lang="en-US" b="0" i="0" dirty="0">
                <a:solidFill>
                  <a:srgbClr val="333333"/>
                </a:solidFill>
                <a:effectLst/>
                <a:latin typeface="inter-regular"/>
              </a:rPr>
              <a:t>Let's see the syntax to define the structure in c.</a:t>
            </a:r>
            <a:endParaRPr lang="en-US" b="1" i="0" dirty="0">
              <a:solidFill>
                <a:srgbClr val="006699"/>
              </a:solidFill>
              <a:effectLst/>
              <a:latin typeface="inter-regular"/>
            </a:endParaRPr>
          </a:p>
          <a:p>
            <a:pPr marL="0" indent="0" algn="just">
              <a:buNone/>
            </a:pPr>
            <a:r>
              <a:rPr lang="en-US" b="1" i="0" dirty="0">
                <a:solidFill>
                  <a:srgbClr val="006699"/>
                </a:solidFill>
                <a:effectLst/>
                <a:latin typeface="inter-regular"/>
              </a:rPr>
              <a:t>struct</a:t>
            </a:r>
            <a:r>
              <a:rPr lang="en-US" b="0" i="0" dirty="0">
                <a:solidFill>
                  <a:srgbClr val="000000"/>
                </a:solidFill>
                <a:effectLst/>
                <a:latin typeface="inter-regular"/>
              </a:rPr>
              <a:t> </a:t>
            </a:r>
            <a:r>
              <a:rPr lang="en-US" b="0" i="0" dirty="0" err="1">
                <a:solidFill>
                  <a:srgbClr val="000000"/>
                </a:solidFill>
                <a:effectLst/>
                <a:latin typeface="inter-regular"/>
              </a:rPr>
              <a:t>structure_name</a:t>
            </a:r>
            <a:r>
              <a:rPr lang="en-US" b="0" i="0" dirty="0">
                <a:solidFill>
                  <a:srgbClr val="000000"/>
                </a:solidFill>
                <a:effectLst/>
                <a:latin typeface="inter-regular"/>
              </a:rPr>
              <a:t>   </a:t>
            </a:r>
          </a:p>
          <a:p>
            <a:pPr marL="0" indent="0" algn="just">
              <a:buNone/>
            </a:pPr>
            <a:r>
              <a:rPr lang="en-US" b="0" i="0" dirty="0">
                <a:solidFill>
                  <a:srgbClr val="000000"/>
                </a:solidFill>
                <a:effectLst/>
                <a:latin typeface="inter-regular"/>
              </a:rPr>
              <a:t>{  </a:t>
            </a:r>
          </a:p>
          <a:p>
            <a:pPr marL="0" indent="0" algn="just">
              <a:buNone/>
            </a:pPr>
            <a:r>
              <a:rPr lang="en-US" b="0" i="0" dirty="0">
                <a:solidFill>
                  <a:srgbClr val="000000"/>
                </a:solidFill>
                <a:effectLst/>
                <a:latin typeface="inter-regular"/>
              </a:rPr>
              <a:t>    </a:t>
            </a:r>
            <a:r>
              <a:rPr lang="en-US" b="0" i="0" dirty="0" err="1">
                <a:solidFill>
                  <a:srgbClr val="000000"/>
                </a:solidFill>
                <a:effectLst/>
                <a:latin typeface="inter-regular"/>
              </a:rPr>
              <a:t>data_type</a:t>
            </a:r>
            <a:r>
              <a:rPr lang="en-US" b="0" i="0" dirty="0">
                <a:solidFill>
                  <a:srgbClr val="000000"/>
                </a:solidFill>
                <a:effectLst/>
                <a:latin typeface="inter-regular"/>
              </a:rPr>
              <a:t> member1;  </a:t>
            </a:r>
          </a:p>
          <a:p>
            <a:pPr marL="0" indent="0" algn="just">
              <a:buNone/>
            </a:pPr>
            <a:r>
              <a:rPr lang="en-US" b="0" i="0" dirty="0">
                <a:solidFill>
                  <a:srgbClr val="000000"/>
                </a:solidFill>
                <a:effectLst/>
                <a:latin typeface="inter-regular"/>
              </a:rPr>
              <a:t>    </a:t>
            </a:r>
            <a:r>
              <a:rPr lang="en-US" b="0" i="0" dirty="0" err="1">
                <a:solidFill>
                  <a:srgbClr val="000000"/>
                </a:solidFill>
                <a:effectLst/>
                <a:latin typeface="inter-regular"/>
              </a:rPr>
              <a:t>data_type</a:t>
            </a:r>
            <a:r>
              <a:rPr lang="en-US" b="0" i="0" dirty="0">
                <a:solidFill>
                  <a:srgbClr val="000000"/>
                </a:solidFill>
                <a:effectLst/>
                <a:latin typeface="inter-regular"/>
              </a:rPr>
              <a:t> member2;  </a:t>
            </a:r>
          </a:p>
          <a:p>
            <a:pPr marL="0" indent="0" algn="just">
              <a:buNone/>
            </a:pPr>
            <a:r>
              <a:rPr lang="en-US" b="0" i="0" dirty="0">
                <a:solidFill>
                  <a:srgbClr val="000000"/>
                </a:solidFill>
                <a:effectLst/>
                <a:latin typeface="inter-regular"/>
              </a:rPr>
              <a:t>   </a:t>
            </a:r>
            <a:r>
              <a:rPr lang="en-US" b="0" i="0" dirty="0" err="1">
                <a:solidFill>
                  <a:srgbClr val="000000"/>
                </a:solidFill>
                <a:effectLst/>
                <a:latin typeface="inter-regular"/>
              </a:rPr>
              <a:t>data_type</a:t>
            </a:r>
            <a:r>
              <a:rPr lang="en-US" b="0" i="0" dirty="0">
                <a:solidFill>
                  <a:srgbClr val="000000"/>
                </a:solidFill>
                <a:effectLst/>
                <a:latin typeface="inter-regular"/>
              </a:rPr>
              <a:t> </a:t>
            </a:r>
            <a:r>
              <a:rPr lang="en-US" b="0" i="0" dirty="0" err="1">
                <a:solidFill>
                  <a:srgbClr val="000000"/>
                </a:solidFill>
                <a:effectLst/>
                <a:latin typeface="inter-regular"/>
              </a:rPr>
              <a:t>memeberN</a:t>
            </a:r>
            <a:r>
              <a:rPr lang="en-US" b="0" i="0" dirty="0">
                <a:solidFill>
                  <a:srgbClr val="000000"/>
                </a:solidFill>
                <a:effectLst/>
                <a:latin typeface="inter-regular"/>
              </a:rPr>
              <a:t>;  </a:t>
            </a:r>
          </a:p>
          <a:p>
            <a:pPr marL="0" indent="0" algn="just">
              <a:buNone/>
            </a:pPr>
            <a:r>
              <a:rPr lang="en-US" b="0" i="0" dirty="0">
                <a:solidFill>
                  <a:srgbClr val="000000"/>
                </a:solidFill>
                <a:effectLst/>
                <a:latin typeface="inter-regular"/>
              </a:rPr>
              <a:t>};  </a:t>
            </a:r>
          </a:p>
          <a:p>
            <a:endParaRPr lang="en-IN" dirty="0"/>
          </a:p>
        </p:txBody>
      </p:sp>
    </p:spTree>
    <p:extLst>
      <p:ext uri="{BB962C8B-B14F-4D97-AF65-F5344CB8AC3E}">
        <p14:creationId xmlns:p14="http://schemas.microsoft.com/office/powerpoint/2010/main" val="233294581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 structure memory allocation">
            <a:extLst>
              <a:ext uri="{FF2B5EF4-FFF2-40B4-BE49-F238E27FC236}">
                <a16:creationId xmlns:a16="http://schemas.microsoft.com/office/drawing/2014/main" id="{E2EB65A5-1C16-0E13-10DF-AEC28FAEE91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60388" y="1424004"/>
            <a:ext cx="7724775" cy="3400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950871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84E98D1-ACC8-FCD2-84F7-3FFE53C03B11}"/>
              </a:ext>
            </a:extLst>
          </p:cNvPr>
          <p:cNvPicPr>
            <a:picLocks noGrp="1" noChangeAspect="1"/>
          </p:cNvPicPr>
          <p:nvPr>
            <p:ph idx="1"/>
          </p:nvPr>
        </p:nvPicPr>
        <p:blipFill>
          <a:blip r:embed="rId2"/>
          <a:stretch>
            <a:fillRect/>
          </a:stretch>
        </p:blipFill>
        <p:spPr>
          <a:xfrm>
            <a:off x="691023" y="1007707"/>
            <a:ext cx="5404977" cy="3798872"/>
          </a:xfrm>
          <a:prstGeom prst="rect">
            <a:avLst/>
          </a:prstGeom>
        </p:spPr>
      </p:pic>
      <p:pic>
        <p:nvPicPr>
          <p:cNvPr id="5" name="Picture 4">
            <a:extLst>
              <a:ext uri="{FF2B5EF4-FFF2-40B4-BE49-F238E27FC236}">
                <a16:creationId xmlns:a16="http://schemas.microsoft.com/office/drawing/2014/main" id="{0681C34A-64A5-4380-4F19-C1C932EFBF7D}"/>
              </a:ext>
            </a:extLst>
          </p:cNvPr>
          <p:cNvPicPr>
            <a:picLocks noChangeAspect="1"/>
          </p:cNvPicPr>
          <p:nvPr/>
        </p:nvPicPr>
        <p:blipFill>
          <a:blip r:embed="rId3"/>
          <a:stretch>
            <a:fillRect/>
          </a:stretch>
        </p:blipFill>
        <p:spPr>
          <a:xfrm>
            <a:off x="8901351" y="1795890"/>
            <a:ext cx="1632910" cy="2010520"/>
          </a:xfrm>
          <a:prstGeom prst="rect">
            <a:avLst/>
          </a:prstGeom>
        </p:spPr>
      </p:pic>
    </p:spTree>
    <p:extLst>
      <p:ext uri="{BB962C8B-B14F-4D97-AF65-F5344CB8AC3E}">
        <p14:creationId xmlns:p14="http://schemas.microsoft.com/office/powerpoint/2010/main" val="155980637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237134-18F5-895F-A091-A42E6858E3AC}"/>
              </a:ext>
            </a:extLst>
          </p:cNvPr>
          <p:cNvSpPr>
            <a:spLocks noGrp="1"/>
          </p:cNvSpPr>
          <p:nvPr>
            <p:ph idx="1"/>
          </p:nvPr>
        </p:nvSpPr>
        <p:spPr>
          <a:xfrm>
            <a:off x="1141412" y="522514"/>
            <a:ext cx="9905999" cy="5607698"/>
          </a:xfrm>
        </p:spPr>
        <p:txBody>
          <a:bodyPr>
            <a:normAutofit fontScale="85000" lnSpcReduction="20000"/>
          </a:bodyPr>
          <a:lstStyle/>
          <a:p>
            <a:pPr marL="0" indent="0" algn="just">
              <a:lnSpc>
                <a:spcPct val="160000"/>
              </a:lnSpc>
              <a:buNone/>
            </a:pPr>
            <a:r>
              <a:rPr lang="en-US" b="1" i="0" dirty="0">
                <a:solidFill>
                  <a:srgbClr val="7030A0"/>
                </a:solidFill>
                <a:effectLst/>
              </a:rPr>
              <a:t>Union in C</a:t>
            </a:r>
          </a:p>
          <a:p>
            <a:pPr algn="just">
              <a:lnSpc>
                <a:spcPct val="160000"/>
              </a:lnSpc>
            </a:pPr>
            <a:r>
              <a:rPr lang="en-US" b="1" i="0" dirty="0">
                <a:solidFill>
                  <a:srgbClr val="333333"/>
                </a:solidFill>
                <a:effectLst/>
              </a:rPr>
              <a:t>Union</a:t>
            </a:r>
            <a:r>
              <a:rPr lang="en-US" b="0" i="0" dirty="0">
                <a:solidFill>
                  <a:srgbClr val="333333"/>
                </a:solidFill>
                <a:effectLst/>
              </a:rPr>
              <a:t> can be defined as a user-defined data type which is a collection of different variables of different data types in the same memory location.</a:t>
            </a:r>
          </a:p>
          <a:p>
            <a:pPr algn="just">
              <a:lnSpc>
                <a:spcPct val="160000"/>
              </a:lnSpc>
            </a:pPr>
            <a:r>
              <a:rPr lang="en-US" b="0" i="0" dirty="0">
                <a:solidFill>
                  <a:srgbClr val="333333"/>
                </a:solidFill>
                <a:effectLst/>
              </a:rPr>
              <a:t>When we define the union, then we found that union is defined in the same way as the structure is defined but the difference is that union keyword is used for defining the union data type, whereas the struct keyword is used for defining the structure.</a:t>
            </a:r>
          </a:p>
          <a:p>
            <a:pPr algn="just">
              <a:lnSpc>
                <a:spcPct val="150000"/>
              </a:lnSpc>
            </a:pPr>
            <a:endParaRPr lang="en-US" b="0" i="0" dirty="0">
              <a:solidFill>
                <a:srgbClr val="333333"/>
              </a:solidFill>
              <a:effectLst/>
              <a:latin typeface="inter-regular"/>
            </a:endParaRPr>
          </a:p>
          <a:p>
            <a:pPr marL="0" indent="0" algn="just">
              <a:lnSpc>
                <a:spcPct val="150000"/>
              </a:lnSpc>
              <a:buNone/>
            </a:pPr>
            <a:br>
              <a:rPr lang="en-US" dirty="0"/>
            </a:br>
            <a:endParaRPr lang="en-IN" dirty="0"/>
          </a:p>
        </p:txBody>
      </p:sp>
    </p:spTree>
    <p:extLst>
      <p:ext uri="{BB962C8B-B14F-4D97-AF65-F5344CB8AC3E}">
        <p14:creationId xmlns:p14="http://schemas.microsoft.com/office/powerpoint/2010/main" val="225699591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AE7CA57-8DE6-1CE4-A917-5C91C5DC73D6}"/>
              </a:ext>
            </a:extLst>
          </p:cNvPr>
          <p:cNvPicPr>
            <a:picLocks noGrp="1" noChangeAspect="1"/>
          </p:cNvPicPr>
          <p:nvPr>
            <p:ph idx="1"/>
          </p:nvPr>
        </p:nvPicPr>
        <p:blipFill>
          <a:blip r:embed="rId2"/>
          <a:stretch>
            <a:fillRect/>
          </a:stretch>
        </p:blipFill>
        <p:spPr>
          <a:xfrm>
            <a:off x="682431" y="1240971"/>
            <a:ext cx="5413569" cy="3821344"/>
          </a:xfrm>
          <a:prstGeom prst="rect">
            <a:avLst/>
          </a:prstGeom>
        </p:spPr>
      </p:pic>
      <p:pic>
        <p:nvPicPr>
          <p:cNvPr id="5" name="Picture 4">
            <a:extLst>
              <a:ext uri="{FF2B5EF4-FFF2-40B4-BE49-F238E27FC236}">
                <a16:creationId xmlns:a16="http://schemas.microsoft.com/office/drawing/2014/main" id="{2850BDE3-1FFB-D37A-0D92-25BDE67243C3}"/>
              </a:ext>
            </a:extLst>
          </p:cNvPr>
          <p:cNvPicPr>
            <a:picLocks noChangeAspect="1"/>
          </p:cNvPicPr>
          <p:nvPr/>
        </p:nvPicPr>
        <p:blipFill>
          <a:blip r:embed="rId3"/>
          <a:stretch>
            <a:fillRect/>
          </a:stretch>
        </p:blipFill>
        <p:spPr>
          <a:xfrm>
            <a:off x="7239103" y="2308251"/>
            <a:ext cx="2994920" cy="1501270"/>
          </a:xfrm>
          <a:prstGeom prst="rect">
            <a:avLst/>
          </a:prstGeom>
        </p:spPr>
      </p:pic>
    </p:spTree>
    <p:extLst>
      <p:ext uri="{BB962C8B-B14F-4D97-AF65-F5344CB8AC3E}">
        <p14:creationId xmlns:p14="http://schemas.microsoft.com/office/powerpoint/2010/main" val="342257900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1339FB-8CF6-E5E1-8D75-C42F9B3CD8BC}"/>
              </a:ext>
            </a:extLst>
          </p:cNvPr>
          <p:cNvSpPr>
            <a:spLocks noGrp="1"/>
          </p:cNvSpPr>
          <p:nvPr>
            <p:ph idx="1"/>
          </p:nvPr>
        </p:nvSpPr>
        <p:spPr>
          <a:xfrm>
            <a:off x="838200" y="541176"/>
            <a:ext cx="10515600" cy="5635787"/>
          </a:xfrm>
        </p:spPr>
        <p:txBody>
          <a:bodyPr/>
          <a:lstStyle/>
          <a:p>
            <a:pPr marL="0" indent="0">
              <a:lnSpc>
                <a:spcPct val="150000"/>
              </a:lnSpc>
              <a:buNone/>
            </a:pPr>
            <a:r>
              <a:rPr lang="en-IN" b="1" i="0" dirty="0">
                <a:solidFill>
                  <a:srgbClr val="7030A0"/>
                </a:solidFill>
                <a:effectLst/>
              </a:rPr>
              <a:t>Enum in C</a:t>
            </a:r>
          </a:p>
          <a:p>
            <a:pPr>
              <a:lnSpc>
                <a:spcPct val="150000"/>
              </a:lnSpc>
            </a:pPr>
            <a:r>
              <a:rPr lang="en-US" b="0" i="0" dirty="0">
                <a:solidFill>
                  <a:srgbClr val="333333"/>
                </a:solidFill>
                <a:effectLst/>
              </a:rPr>
              <a:t>The </a:t>
            </a:r>
            <a:r>
              <a:rPr lang="en-US" b="0" i="0" dirty="0" err="1">
                <a:solidFill>
                  <a:srgbClr val="333333"/>
                </a:solidFill>
                <a:effectLst/>
              </a:rPr>
              <a:t>enum</a:t>
            </a:r>
            <a:r>
              <a:rPr lang="en-US" b="0" i="0" dirty="0">
                <a:solidFill>
                  <a:srgbClr val="333333"/>
                </a:solidFill>
                <a:effectLst/>
              </a:rPr>
              <a:t> in C is also known as the enumerated type.</a:t>
            </a:r>
          </a:p>
          <a:p>
            <a:pPr>
              <a:lnSpc>
                <a:spcPct val="150000"/>
              </a:lnSpc>
            </a:pPr>
            <a:r>
              <a:rPr lang="en-US" b="0" i="0" dirty="0">
                <a:solidFill>
                  <a:srgbClr val="333333"/>
                </a:solidFill>
                <a:effectLst/>
              </a:rPr>
              <a:t> It is a user-defined data type that consists of integer value.</a:t>
            </a:r>
          </a:p>
          <a:p>
            <a:pPr>
              <a:lnSpc>
                <a:spcPct val="150000"/>
              </a:lnSpc>
            </a:pPr>
            <a:r>
              <a:rPr lang="en-US" b="0" i="0" dirty="0">
                <a:solidFill>
                  <a:srgbClr val="333333"/>
                </a:solidFill>
                <a:effectLst/>
              </a:rPr>
              <a:t>It  provides meaningful names to these values.</a:t>
            </a:r>
          </a:p>
          <a:p>
            <a:pPr>
              <a:lnSpc>
                <a:spcPct val="150000"/>
              </a:lnSpc>
            </a:pPr>
            <a:r>
              <a:rPr lang="en-US" b="0" i="0" dirty="0">
                <a:solidFill>
                  <a:srgbClr val="333333"/>
                </a:solidFill>
                <a:effectLst/>
              </a:rPr>
              <a:t> The use of </a:t>
            </a:r>
            <a:r>
              <a:rPr lang="en-US" b="0" i="0" dirty="0" err="1">
                <a:solidFill>
                  <a:srgbClr val="333333"/>
                </a:solidFill>
                <a:effectLst/>
              </a:rPr>
              <a:t>enum</a:t>
            </a:r>
            <a:r>
              <a:rPr lang="en-US" b="0" i="0" dirty="0">
                <a:solidFill>
                  <a:srgbClr val="333333"/>
                </a:solidFill>
                <a:effectLst/>
              </a:rPr>
              <a:t> in C makes the program easy to understand and maintain.</a:t>
            </a:r>
          </a:p>
          <a:p>
            <a:pPr>
              <a:lnSpc>
                <a:spcPct val="150000"/>
              </a:lnSpc>
            </a:pPr>
            <a:r>
              <a:rPr lang="en-US" b="0" i="0" dirty="0">
                <a:solidFill>
                  <a:srgbClr val="333333"/>
                </a:solidFill>
                <a:effectLst/>
              </a:rPr>
              <a:t> The </a:t>
            </a:r>
            <a:r>
              <a:rPr lang="en-US" b="0" i="0" dirty="0" err="1">
                <a:solidFill>
                  <a:srgbClr val="333333"/>
                </a:solidFill>
                <a:effectLst/>
              </a:rPr>
              <a:t>enum</a:t>
            </a:r>
            <a:r>
              <a:rPr lang="en-US" b="0" i="0" dirty="0">
                <a:solidFill>
                  <a:srgbClr val="333333"/>
                </a:solidFill>
                <a:effectLst/>
              </a:rPr>
              <a:t> is defined by using the </a:t>
            </a:r>
            <a:r>
              <a:rPr lang="en-US" b="0" i="0" dirty="0" err="1">
                <a:solidFill>
                  <a:srgbClr val="333333"/>
                </a:solidFill>
                <a:effectLst/>
              </a:rPr>
              <a:t>enum</a:t>
            </a:r>
            <a:r>
              <a:rPr lang="en-US" b="0" i="0" dirty="0">
                <a:solidFill>
                  <a:srgbClr val="333333"/>
                </a:solidFill>
                <a:effectLst/>
              </a:rPr>
              <a:t> keyword.</a:t>
            </a:r>
            <a:endParaRPr lang="en-IN" dirty="0"/>
          </a:p>
        </p:txBody>
      </p:sp>
    </p:spTree>
    <p:extLst>
      <p:ext uri="{BB962C8B-B14F-4D97-AF65-F5344CB8AC3E}">
        <p14:creationId xmlns:p14="http://schemas.microsoft.com/office/powerpoint/2010/main" val="149858500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37FA20-1D99-1509-E482-43111A755C9A}"/>
              </a:ext>
            </a:extLst>
          </p:cNvPr>
          <p:cNvSpPr>
            <a:spLocks noGrp="1"/>
          </p:cNvSpPr>
          <p:nvPr>
            <p:ph idx="1"/>
          </p:nvPr>
        </p:nvSpPr>
        <p:spPr>
          <a:xfrm>
            <a:off x="838200" y="606490"/>
            <a:ext cx="10515600" cy="5570473"/>
          </a:xfrm>
        </p:spPr>
        <p:txBody>
          <a:bodyPr>
            <a:normAutofit lnSpcReduction="10000"/>
          </a:bodyPr>
          <a:lstStyle/>
          <a:p>
            <a:pPr marL="0" indent="0" algn="just">
              <a:buNone/>
            </a:pPr>
            <a:r>
              <a:rPr lang="en-US" b="1" i="0" dirty="0">
                <a:solidFill>
                  <a:srgbClr val="7030A0"/>
                </a:solidFill>
                <a:effectLst/>
              </a:rPr>
              <a:t>Enumerated type declaration</a:t>
            </a:r>
          </a:p>
          <a:p>
            <a:pPr algn="just"/>
            <a:r>
              <a:rPr lang="en-US" b="0" i="0" dirty="0">
                <a:solidFill>
                  <a:srgbClr val="333333"/>
                </a:solidFill>
                <a:effectLst/>
              </a:rPr>
              <a:t>We  need to declare the variable of a pre-defined type such as int, float, char, etc.</a:t>
            </a:r>
          </a:p>
          <a:p>
            <a:pPr algn="just"/>
            <a:r>
              <a:rPr lang="en-US" b="0" i="0" dirty="0">
                <a:solidFill>
                  <a:srgbClr val="333333"/>
                </a:solidFill>
                <a:effectLst/>
              </a:rPr>
              <a:t> Similarly, we can declare the variable of a user-defined data type, such as </a:t>
            </a:r>
            <a:r>
              <a:rPr lang="en-US" b="0" i="0" dirty="0" err="1">
                <a:solidFill>
                  <a:srgbClr val="333333"/>
                </a:solidFill>
                <a:effectLst/>
              </a:rPr>
              <a:t>enum</a:t>
            </a:r>
            <a:r>
              <a:rPr lang="en-US" b="0" i="0" dirty="0">
                <a:solidFill>
                  <a:srgbClr val="333333"/>
                </a:solidFill>
                <a:effectLst/>
              </a:rPr>
              <a:t>.</a:t>
            </a:r>
          </a:p>
          <a:p>
            <a:pPr algn="just"/>
            <a:r>
              <a:rPr lang="en-IN" b="1" i="0" dirty="0" err="1">
                <a:solidFill>
                  <a:srgbClr val="006699"/>
                </a:solidFill>
                <a:effectLst/>
              </a:rPr>
              <a:t>enum</a:t>
            </a:r>
            <a:r>
              <a:rPr lang="en-IN" b="0" i="0" dirty="0">
                <a:solidFill>
                  <a:srgbClr val="000000"/>
                </a:solidFill>
                <a:effectLst/>
              </a:rPr>
              <a:t> fruits{mango, apple, strawberry, papaya}; </a:t>
            </a:r>
            <a:endParaRPr lang="en-US" dirty="0">
              <a:solidFill>
                <a:srgbClr val="333333"/>
              </a:solidFill>
            </a:endParaRPr>
          </a:p>
          <a:p>
            <a:pPr marL="0" indent="0" algn="just">
              <a:buNone/>
            </a:pPr>
            <a:r>
              <a:rPr lang="en-IN" b="1" i="0" dirty="0" err="1">
                <a:solidFill>
                  <a:srgbClr val="006699"/>
                </a:solidFill>
                <a:effectLst/>
              </a:rPr>
              <a:t>enum</a:t>
            </a:r>
            <a:r>
              <a:rPr lang="en-IN" b="0" i="0" dirty="0">
                <a:solidFill>
                  <a:srgbClr val="000000"/>
                </a:solidFill>
                <a:effectLst/>
              </a:rPr>
              <a:t> fruits{  </a:t>
            </a:r>
          </a:p>
          <a:p>
            <a:pPr marL="0" indent="0" algn="just">
              <a:buNone/>
            </a:pPr>
            <a:r>
              <a:rPr lang="en-IN" b="0" i="0" dirty="0">
                <a:solidFill>
                  <a:srgbClr val="000000"/>
                </a:solidFill>
                <a:effectLst/>
              </a:rPr>
              <a:t>mango=2,  </a:t>
            </a:r>
          </a:p>
          <a:p>
            <a:pPr marL="0" indent="0" algn="just">
              <a:buNone/>
            </a:pPr>
            <a:r>
              <a:rPr lang="en-IN" b="0" i="0" dirty="0">
                <a:solidFill>
                  <a:srgbClr val="000000"/>
                </a:solidFill>
                <a:effectLst/>
              </a:rPr>
              <a:t>apple=1,  </a:t>
            </a:r>
          </a:p>
          <a:p>
            <a:pPr marL="0" indent="0" algn="just">
              <a:buNone/>
            </a:pPr>
            <a:r>
              <a:rPr lang="en-IN" b="0" i="0" dirty="0">
                <a:solidFill>
                  <a:srgbClr val="000000"/>
                </a:solidFill>
                <a:effectLst/>
              </a:rPr>
              <a:t>strawberry=5,  </a:t>
            </a:r>
          </a:p>
          <a:p>
            <a:pPr marL="0" indent="0" algn="just">
              <a:buNone/>
            </a:pPr>
            <a:r>
              <a:rPr lang="en-IN" b="0" i="0" dirty="0">
                <a:solidFill>
                  <a:srgbClr val="000000"/>
                </a:solidFill>
                <a:effectLst/>
              </a:rPr>
              <a:t>papaya=7,  </a:t>
            </a:r>
          </a:p>
          <a:p>
            <a:pPr marL="0" indent="0" algn="just">
              <a:buNone/>
            </a:pPr>
            <a:r>
              <a:rPr lang="en-IN" b="0" i="0" dirty="0">
                <a:solidFill>
                  <a:srgbClr val="000000"/>
                </a:solidFill>
                <a:effectLst/>
              </a:rPr>
              <a:t>};  </a:t>
            </a:r>
          </a:p>
          <a:p>
            <a:pPr algn="just"/>
            <a:endParaRPr lang="en-IN" dirty="0"/>
          </a:p>
        </p:txBody>
      </p:sp>
    </p:spTree>
    <p:extLst>
      <p:ext uri="{BB962C8B-B14F-4D97-AF65-F5344CB8AC3E}">
        <p14:creationId xmlns:p14="http://schemas.microsoft.com/office/powerpoint/2010/main" val="385084304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D8373A-FF31-E76C-9078-F066B85C9F6A}"/>
              </a:ext>
            </a:extLst>
          </p:cNvPr>
          <p:cNvSpPr>
            <a:spLocks noGrp="1"/>
          </p:cNvSpPr>
          <p:nvPr>
            <p:ph idx="1"/>
          </p:nvPr>
        </p:nvSpPr>
        <p:spPr>
          <a:xfrm>
            <a:off x="838200" y="531845"/>
            <a:ext cx="10515600" cy="5645118"/>
          </a:xfrm>
        </p:spPr>
        <p:txBody>
          <a:bodyPr/>
          <a:lstStyle/>
          <a:p>
            <a:pPr marL="0" indent="0">
              <a:buNone/>
            </a:pPr>
            <a:r>
              <a:rPr lang="en-IN" b="1" dirty="0">
                <a:solidFill>
                  <a:srgbClr val="7030A0"/>
                </a:solidFill>
              </a:rPr>
              <a:t>Example</a:t>
            </a:r>
          </a:p>
          <a:p>
            <a:pPr marL="0" indent="0" algn="just">
              <a:buNone/>
            </a:pPr>
            <a:r>
              <a:rPr lang="en-US" b="0" i="0" dirty="0">
                <a:solidFill>
                  <a:srgbClr val="0000FF"/>
                </a:solidFill>
                <a:effectLst/>
                <a:latin typeface="inter-regular"/>
              </a:rPr>
              <a:t>#include &lt;</a:t>
            </a:r>
            <a:r>
              <a:rPr lang="en-US" b="0" i="0" dirty="0" err="1">
                <a:solidFill>
                  <a:srgbClr val="0000FF"/>
                </a:solidFill>
                <a:effectLst/>
                <a:latin typeface="inter-regular"/>
              </a:rPr>
              <a:t>stdio.h</a:t>
            </a:r>
            <a:r>
              <a:rPr lang="en-US" b="0" i="0" dirty="0">
                <a:solidFill>
                  <a:srgbClr val="0000FF"/>
                </a:solidFill>
                <a:effectLst/>
                <a:latin typeface="inter-regular"/>
              </a:rPr>
              <a:t>&gt;</a:t>
            </a:r>
            <a:r>
              <a:rPr lang="en-US" b="0" i="0" dirty="0">
                <a:solidFill>
                  <a:srgbClr val="000000"/>
                </a:solidFill>
                <a:effectLst/>
                <a:latin typeface="inter-regular"/>
              </a:rPr>
              <a:t>  </a:t>
            </a:r>
          </a:p>
          <a:p>
            <a:pPr marL="0" indent="0" algn="just">
              <a:buNone/>
            </a:pPr>
            <a:r>
              <a:rPr lang="en-US" b="0" i="0" dirty="0">
                <a:solidFill>
                  <a:srgbClr val="000000"/>
                </a:solidFill>
                <a:effectLst/>
                <a:latin typeface="inter-regular"/>
              </a:rPr>
              <a:t> </a:t>
            </a:r>
            <a:r>
              <a:rPr lang="en-US" b="1" i="0" dirty="0" err="1">
                <a:solidFill>
                  <a:srgbClr val="006699"/>
                </a:solidFill>
                <a:effectLst/>
                <a:latin typeface="inter-regular"/>
              </a:rPr>
              <a:t>enum</a:t>
            </a:r>
            <a:r>
              <a:rPr lang="en-US" b="0" i="0" dirty="0">
                <a:solidFill>
                  <a:srgbClr val="000000"/>
                </a:solidFill>
                <a:effectLst/>
                <a:latin typeface="inter-regular"/>
              </a:rPr>
              <a:t> weekdays{Sunday=1, Monday, Tuesday, Wednesday, Thursday,</a:t>
            </a:r>
          </a:p>
          <a:p>
            <a:pPr marL="0" indent="0" algn="just">
              <a:buNone/>
            </a:pPr>
            <a:r>
              <a:rPr lang="en-US" b="0" i="0" dirty="0">
                <a:solidFill>
                  <a:srgbClr val="000000"/>
                </a:solidFill>
                <a:effectLst/>
                <a:latin typeface="inter-regular"/>
              </a:rPr>
              <a:t> Friday, Saturday};  </a:t>
            </a:r>
          </a:p>
          <a:p>
            <a:pPr marL="0" indent="0" algn="just">
              <a:buNone/>
            </a:pPr>
            <a:r>
              <a:rPr lang="en-US" b="0" i="0" dirty="0">
                <a:solidFill>
                  <a:srgbClr val="000000"/>
                </a:solidFill>
                <a:effectLst/>
                <a:latin typeface="inter-regular"/>
              </a:rPr>
              <a:t> </a:t>
            </a:r>
            <a:r>
              <a:rPr lang="en-US" b="1" i="0" dirty="0">
                <a:solidFill>
                  <a:srgbClr val="2E8B57"/>
                </a:solidFill>
                <a:effectLst/>
                <a:latin typeface="inter-regular"/>
              </a:rPr>
              <a:t>int</a:t>
            </a:r>
            <a:r>
              <a:rPr lang="en-US" b="0" i="0" dirty="0">
                <a:solidFill>
                  <a:srgbClr val="000000"/>
                </a:solidFill>
                <a:effectLst/>
                <a:latin typeface="inter-regular"/>
              </a:rPr>
              <a:t> main()  </a:t>
            </a:r>
          </a:p>
          <a:p>
            <a:pPr marL="0" indent="0" algn="just">
              <a:buNone/>
            </a:pPr>
            <a:r>
              <a:rPr lang="en-US" b="0" i="0" dirty="0">
                <a:solidFill>
                  <a:srgbClr val="000000"/>
                </a:solidFill>
                <a:effectLst/>
                <a:latin typeface="inter-regular"/>
              </a:rPr>
              <a:t>{  </a:t>
            </a:r>
          </a:p>
          <a:p>
            <a:pPr marL="0" indent="0" algn="just">
              <a:buNone/>
            </a:pPr>
            <a:r>
              <a:rPr lang="en-US" b="0" i="0" dirty="0">
                <a:solidFill>
                  <a:srgbClr val="000000"/>
                </a:solidFill>
                <a:effectLst/>
                <a:latin typeface="inter-regular"/>
              </a:rPr>
              <a:t> </a:t>
            </a:r>
            <a:r>
              <a:rPr lang="en-US" b="1" i="0" dirty="0" err="1">
                <a:solidFill>
                  <a:srgbClr val="006699"/>
                </a:solidFill>
                <a:effectLst/>
                <a:latin typeface="inter-regular"/>
              </a:rPr>
              <a:t>enum</a:t>
            </a:r>
            <a:r>
              <a:rPr lang="en-US" b="0" i="0" dirty="0">
                <a:solidFill>
                  <a:srgbClr val="000000"/>
                </a:solidFill>
                <a:effectLst/>
                <a:latin typeface="inter-regular"/>
              </a:rPr>
              <a:t> weekdays w; </a:t>
            </a:r>
            <a:r>
              <a:rPr lang="en-US" b="0" i="0" dirty="0">
                <a:solidFill>
                  <a:srgbClr val="008200"/>
                </a:solidFill>
                <a:effectLst/>
                <a:latin typeface="inter-regular"/>
              </a:rPr>
              <a:t>// variable declaration of weekdays type</a:t>
            </a:r>
            <a:r>
              <a:rPr lang="en-US" b="0" i="0" dirty="0">
                <a:solidFill>
                  <a:srgbClr val="000000"/>
                </a:solidFill>
                <a:effectLst/>
                <a:latin typeface="inter-regular"/>
              </a:rPr>
              <a:t>  </a:t>
            </a:r>
          </a:p>
          <a:p>
            <a:pPr marL="0" indent="0" algn="just">
              <a:buNone/>
            </a:pPr>
            <a:r>
              <a:rPr lang="en-US" b="0" i="0" dirty="0">
                <a:solidFill>
                  <a:srgbClr val="000000"/>
                </a:solidFill>
                <a:effectLst/>
                <a:latin typeface="inter-regular"/>
              </a:rPr>
              <a:t> w=Monday; </a:t>
            </a:r>
            <a:r>
              <a:rPr lang="en-US" b="0" i="0" dirty="0">
                <a:solidFill>
                  <a:srgbClr val="008200"/>
                </a:solidFill>
                <a:effectLst/>
                <a:latin typeface="inter-regular"/>
              </a:rPr>
              <a:t>// assigning value of Monday to w.</a:t>
            </a:r>
            <a:r>
              <a:rPr lang="en-US" b="0" i="0" dirty="0">
                <a:solidFill>
                  <a:srgbClr val="000000"/>
                </a:solidFill>
                <a:effectLst/>
                <a:latin typeface="inter-regular"/>
              </a:rPr>
              <a:t>  </a:t>
            </a:r>
          </a:p>
          <a:p>
            <a:pPr marL="0" indent="0" algn="just">
              <a:buNone/>
            </a:pPr>
            <a:r>
              <a:rPr lang="en-US" b="0" i="0" dirty="0">
                <a:solidFill>
                  <a:srgbClr val="000000"/>
                </a:solidFill>
                <a:effectLst/>
                <a:latin typeface="inter-regular"/>
              </a:rPr>
              <a:t> </a:t>
            </a:r>
            <a:r>
              <a:rPr lang="en-US" b="0" i="0" dirty="0" err="1">
                <a:solidFill>
                  <a:srgbClr val="000000"/>
                </a:solidFill>
                <a:effectLst/>
                <a:latin typeface="inter-regular"/>
              </a:rPr>
              <a:t>printf</a:t>
            </a:r>
            <a:r>
              <a:rPr lang="en-US" b="0" i="0" dirty="0">
                <a:solidFill>
                  <a:srgbClr val="000000"/>
                </a:solidFill>
                <a:effectLst/>
                <a:latin typeface="inter-regular"/>
              </a:rPr>
              <a:t>(</a:t>
            </a:r>
            <a:r>
              <a:rPr lang="en-US" b="0" i="0" dirty="0">
                <a:solidFill>
                  <a:srgbClr val="0000FF"/>
                </a:solidFill>
                <a:effectLst/>
                <a:latin typeface="inter-regular"/>
              </a:rPr>
              <a:t>"The value of w is %</a:t>
            </a:r>
            <a:r>
              <a:rPr lang="en-US" b="0" i="0" dirty="0" err="1">
                <a:solidFill>
                  <a:srgbClr val="0000FF"/>
                </a:solidFill>
                <a:effectLst/>
                <a:latin typeface="inter-regular"/>
              </a:rPr>
              <a:t>d"</a:t>
            </a:r>
            <a:r>
              <a:rPr lang="en-US" b="0" i="0" dirty="0" err="1">
                <a:solidFill>
                  <a:srgbClr val="000000"/>
                </a:solidFill>
                <a:effectLst/>
                <a:latin typeface="inter-regular"/>
              </a:rPr>
              <a:t>,w</a:t>
            </a:r>
            <a:r>
              <a:rPr lang="en-US" b="0" i="0" dirty="0">
                <a:solidFill>
                  <a:srgbClr val="000000"/>
                </a:solidFill>
                <a:effectLst/>
                <a:latin typeface="inter-regular"/>
              </a:rPr>
              <a:t>);  </a:t>
            </a:r>
          </a:p>
          <a:p>
            <a:pPr marL="0" indent="0" algn="just">
              <a:buNone/>
            </a:pPr>
            <a:r>
              <a:rPr lang="en-US" b="0" i="0" dirty="0">
                <a:solidFill>
                  <a:srgbClr val="000000"/>
                </a:solidFill>
                <a:effectLst/>
                <a:latin typeface="inter-regular"/>
              </a:rPr>
              <a:t>    </a:t>
            </a:r>
            <a:r>
              <a:rPr lang="en-US" b="1" i="0" dirty="0">
                <a:solidFill>
                  <a:srgbClr val="006699"/>
                </a:solidFill>
                <a:effectLst/>
                <a:latin typeface="inter-regular"/>
              </a:rPr>
              <a:t>return</a:t>
            </a:r>
            <a:r>
              <a:rPr lang="en-US" b="0" i="0" dirty="0">
                <a:solidFill>
                  <a:srgbClr val="000000"/>
                </a:solidFill>
                <a:effectLst/>
                <a:latin typeface="inter-regular"/>
              </a:rPr>
              <a:t> 0;  </a:t>
            </a:r>
          </a:p>
          <a:p>
            <a:pPr marL="0" indent="0" algn="just">
              <a:buNone/>
            </a:pPr>
            <a:r>
              <a:rPr lang="en-US" b="0" i="0" dirty="0">
                <a:solidFill>
                  <a:srgbClr val="000000"/>
                </a:solidFill>
                <a:effectLst/>
                <a:latin typeface="inter-regular"/>
              </a:rPr>
              <a:t>}  </a:t>
            </a:r>
          </a:p>
          <a:p>
            <a:endParaRPr lang="en-IN" dirty="0"/>
          </a:p>
        </p:txBody>
      </p:sp>
    </p:spTree>
    <p:extLst>
      <p:ext uri="{BB962C8B-B14F-4D97-AF65-F5344CB8AC3E}">
        <p14:creationId xmlns:p14="http://schemas.microsoft.com/office/powerpoint/2010/main" val="207866283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D6E9A8-2637-7FBB-83CA-F3726547F419}"/>
              </a:ext>
            </a:extLst>
          </p:cNvPr>
          <p:cNvSpPr>
            <a:spLocks noGrp="1"/>
          </p:cNvSpPr>
          <p:nvPr>
            <p:ph idx="1"/>
          </p:nvPr>
        </p:nvSpPr>
        <p:spPr>
          <a:xfrm>
            <a:off x="838200" y="522514"/>
            <a:ext cx="10515600" cy="5654449"/>
          </a:xfrm>
        </p:spPr>
        <p:txBody>
          <a:bodyPr>
            <a:normAutofit lnSpcReduction="10000"/>
          </a:bodyPr>
          <a:lstStyle/>
          <a:p>
            <a:pPr marL="0" indent="0" algn="just">
              <a:lnSpc>
                <a:spcPct val="150000"/>
              </a:lnSpc>
              <a:buNone/>
            </a:pPr>
            <a:r>
              <a:rPr lang="en-US" b="1" i="0" dirty="0">
                <a:solidFill>
                  <a:srgbClr val="7030A0"/>
                </a:solidFill>
                <a:effectLst/>
              </a:rPr>
              <a:t>typedef in C</a:t>
            </a:r>
          </a:p>
          <a:p>
            <a:pPr algn="just">
              <a:lnSpc>
                <a:spcPct val="150000"/>
              </a:lnSpc>
            </a:pPr>
            <a:r>
              <a:rPr lang="en-US" b="0" i="0" dirty="0">
                <a:solidFill>
                  <a:srgbClr val="333333"/>
                </a:solidFill>
                <a:effectLst/>
              </a:rPr>
              <a:t>The </a:t>
            </a:r>
            <a:r>
              <a:rPr lang="en-US" b="1" i="0" dirty="0">
                <a:solidFill>
                  <a:srgbClr val="333333"/>
                </a:solidFill>
                <a:effectLst/>
              </a:rPr>
              <a:t>typedef</a:t>
            </a:r>
            <a:r>
              <a:rPr lang="en-US" b="0" i="0" dirty="0">
                <a:solidFill>
                  <a:srgbClr val="333333"/>
                </a:solidFill>
                <a:effectLst/>
              </a:rPr>
              <a:t> is a keyword used in </a:t>
            </a:r>
            <a:r>
              <a:rPr lang="en-US" b="0" i="0" dirty="0">
                <a:solidFill>
                  <a:srgbClr val="7030A0"/>
                </a:solidFill>
                <a:effectLst/>
              </a:rPr>
              <a:t>C programming to provide some meaningful names to the already existing variable in the </a:t>
            </a:r>
            <a:r>
              <a:rPr lang="en-US" b="0" i="0" u="none" strike="noStrike" dirty="0">
                <a:solidFill>
                  <a:srgbClr val="7030A0"/>
                </a:solidFill>
                <a:effectLst/>
                <a:hlinkClick r:id="rId2">
                  <a:extLst>
                    <a:ext uri="{A12FA001-AC4F-418D-AE19-62706E023703}">
                      <ahyp:hlinkClr xmlns:ahyp="http://schemas.microsoft.com/office/drawing/2018/hyperlinkcolor" val="tx"/>
                    </a:ext>
                  </a:extLst>
                </a:hlinkClick>
              </a:rPr>
              <a:t>C program</a:t>
            </a:r>
            <a:r>
              <a:rPr lang="en-US" b="0" i="0" dirty="0">
                <a:solidFill>
                  <a:srgbClr val="7030A0"/>
                </a:solidFill>
                <a:effectLst/>
              </a:rPr>
              <a:t>.</a:t>
            </a:r>
          </a:p>
          <a:p>
            <a:pPr algn="just">
              <a:lnSpc>
                <a:spcPct val="150000"/>
              </a:lnSpc>
            </a:pPr>
            <a:r>
              <a:rPr lang="en-US" b="0" i="0" dirty="0">
                <a:solidFill>
                  <a:srgbClr val="333333"/>
                </a:solidFill>
                <a:effectLst/>
              </a:rPr>
              <a:t> It behaves similarly as we define the alias for the commands.</a:t>
            </a:r>
          </a:p>
          <a:p>
            <a:pPr algn="just">
              <a:lnSpc>
                <a:spcPct val="150000"/>
              </a:lnSpc>
            </a:pPr>
            <a:r>
              <a:rPr lang="en-US" b="0" i="0" dirty="0">
                <a:solidFill>
                  <a:srgbClr val="333333"/>
                </a:solidFill>
                <a:effectLst/>
              </a:rPr>
              <a:t> In short, we can say that this keyword is used to </a:t>
            </a:r>
            <a:r>
              <a:rPr lang="en-US" b="0" i="0" dirty="0">
                <a:solidFill>
                  <a:srgbClr val="7030A0"/>
                </a:solidFill>
                <a:effectLst/>
              </a:rPr>
              <a:t>redefine the name of an already existing variable.</a:t>
            </a:r>
          </a:p>
          <a:p>
            <a:pPr algn="just">
              <a:lnSpc>
                <a:spcPct val="150000"/>
              </a:lnSpc>
            </a:pPr>
            <a:r>
              <a:rPr lang="en-US" b="0" i="0" dirty="0">
                <a:solidFill>
                  <a:srgbClr val="610B4B"/>
                </a:solidFill>
                <a:effectLst/>
              </a:rPr>
              <a:t>Syntax of typedef</a:t>
            </a:r>
          </a:p>
          <a:p>
            <a:pPr marL="0" indent="0" algn="just">
              <a:lnSpc>
                <a:spcPct val="150000"/>
              </a:lnSpc>
              <a:buNone/>
            </a:pPr>
            <a:r>
              <a:rPr lang="en-US" i="0" dirty="0">
                <a:solidFill>
                  <a:srgbClr val="7030A0"/>
                </a:solidFill>
                <a:effectLst/>
              </a:rPr>
              <a:t>typedef &lt;</a:t>
            </a:r>
            <a:r>
              <a:rPr lang="en-US" i="0" dirty="0" err="1">
                <a:solidFill>
                  <a:srgbClr val="7030A0"/>
                </a:solidFill>
                <a:effectLst/>
              </a:rPr>
              <a:t>existing_name</a:t>
            </a:r>
            <a:r>
              <a:rPr lang="en-US" i="0" dirty="0">
                <a:solidFill>
                  <a:srgbClr val="7030A0"/>
                </a:solidFill>
                <a:effectLst/>
              </a:rPr>
              <a:t>&gt; &lt;</a:t>
            </a:r>
            <a:r>
              <a:rPr lang="en-US" i="0" dirty="0" err="1">
                <a:solidFill>
                  <a:srgbClr val="7030A0"/>
                </a:solidFill>
                <a:effectLst/>
              </a:rPr>
              <a:t>alias_name</a:t>
            </a:r>
            <a:r>
              <a:rPr lang="en-US" i="0" dirty="0">
                <a:solidFill>
                  <a:srgbClr val="7030A0"/>
                </a:solidFill>
                <a:effectLst/>
              </a:rPr>
              <a:t>&gt;  </a:t>
            </a:r>
          </a:p>
          <a:p>
            <a:endParaRPr lang="en-IN" dirty="0"/>
          </a:p>
        </p:txBody>
      </p:sp>
    </p:spTree>
    <p:extLst>
      <p:ext uri="{BB962C8B-B14F-4D97-AF65-F5344CB8AC3E}">
        <p14:creationId xmlns:p14="http://schemas.microsoft.com/office/powerpoint/2010/main" val="313872228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636FCC-E1E0-C91A-0E5F-C549D062940C}"/>
              </a:ext>
            </a:extLst>
          </p:cNvPr>
          <p:cNvSpPr>
            <a:spLocks noGrp="1"/>
          </p:cNvSpPr>
          <p:nvPr>
            <p:ph idx="1"/>
          </p:nvPr>
        </p:nvSpPr>
        <p:spPr>
          <a:xfrm>
            <a:off x="838200" y="382555"/>
            <a:ext cx="10515600" cy="5747755"/>
          </a:xfrm>
        </p:spPr>
        <p:txBody>
          <a:bodyPr>
            <a:normAutofit lnSpcReduction="10000"/>
          </a:bodyPr>
          <a:lstStyle/>
          <a:p>
            <a:pPr marL="0" indent="0">
              <a:buNone/>
            </a:pPr>
            <a:r>
              <a:rPr lang="en-IN" dirty="0"/>
              <a:t>Example</a:t>
            </a:r>
          </a:p>
          <a:p>
            <a:pPr marL="0" indent="0" algn="just">
              <a:buNone/>
            </a:pPr>
            <a:r>
              <a:rPr lang="en-US" b="0" i="0" dirty="0">
                <a:solidFill>
                  <a:srgbClr val="0000FF"/>
                </a:solidFill>
                <a:effectLst/>
                <a:latin typeface="inter-regular"/>
              </a:rPr>
              <a:t>#include &lt;</a:t>
            </a:r>
            <a:r>
              <a:rPr lang="en-US" b="0" i="0" dirty="0" err="1">
                <a:solidFill>
                  <a:srgbClr val="0000FF"/>
                </a:solidFill>
                <a:effectLst/>
                <a:latin typeface="inter-regular"/>
              </a:rPr>
              <a:t>stdio.h</a:t>
            </a:r>
            <a:r>
              <a:rPr lang="en-US" b="0" i="0" dirty="0">
                <a:solidFill>
                  <a:srgbClr val="0000FF"/>
                </a:solidFill>
                <a:effectLst/>
                <a:latin typeface="inter-regular"/>
              </a:rPr>
              <a:t>&gt;</a:t>
            </a:r>
            <a:r>
              <a:rPr lang="en-US" b="0" i="0" dirty="0">
                <a:solidFill>
                  <a:srgbClr val="000000"/>
                </a:solidFill>
                <a:effectLst/>
                <a:latin typeface="inter-regular"/>
              </a:rPr>
              <a:t>  </a:t>
            </a:r>
          </a:p>
          <a:p>
            <a:pPr marL="0" indent="0" algn="just">
              <a:buNone/>
            </a:pPr>
            <a:r>
              <a:rPr lang="en-US" b="1" i="0" dirty="0">
                <a:solidFill>
                  <a:srgbClr val="2E8B57"/>
                </a:solidFill>
                <a:effectLst/>
                <a:latin typeface="inter-regular"/>
              </a:rPr>
              <a:t>int</a:t>
            </a:r>
            <a:r>
              <a:rPr lang="en-US" b="0" i="0" dirty="0">
                <a:solidFill>
                  <a:srgbClr val="000000"/>
                </a:solidFill>
                <a:effectLst/>
                <a:latin typeface="inter-regular"/>
              </a:rPr>
              <a:t> main()  </a:t>
            </a:r>
          </a:p>
          <a:p>
            <a:pPr marL="0" indent="0" algn="just">
              <a:buNone/>
            </a:pPr>
            <a:r>
              <a:rPr lang="en-US" b="0" i="0" dirty="0">
                <a:solidFill>
                  <a:srgbClr val="000000"/>
                </a:solidFill>
                <a:effectLst/>
                <a:latin typeface="inter-regular"/>
              </a:rPr>
              <a:t>{  </a:t>
            </a:r>
          </a:p>
          <a:p>
            <a:pPr marL="0" indent="0" algn="just">
              <a:buNone/>
            </a:pPr>
            <a:r>
              <a:rPr lang="en-US" b="1" i="0" dirty="0">
                <a:solidFill>
                  <a:srgbClr val="006699"/>
                </a:solidFill>
                <a:effectLst/>
                <a:latin typeface="inter-regular"/>
              </a:rPr>
              <a:t>typedef</a:t>
            </a:r>
            <a:r>
              <a:rPr lang="en-US" b="0" i="0" dirty="0">
                <a:solidFill>
                  <a:srgbClr val="000000"/>
                </a:solidFill>
                <a:effectLst/>
                <a:latin typeface="inter-regular"/>
              </a:rPr>
              <a:t> unsigned </a:t>
            </a:r>
            <a:r>
              <a:rPr lang="en-US" b="1" i="0" dirty="0">
                <a:solidFill>
                  <a:srgbClr val="2E8B57"/>
                </a:solidFill>
                <a:effectLst/>
                <a:latin typeface="inter-regular"/>
              </a:rPr>
              <a:t>int</a:t>
            </a:r>
            <a:r>
              <a:rPr lang="en-US" b="0" i="0" dirty="0">
                <a:solidFill>
                  <a:srgbClr val="000000"/>
                </a:solidFill>
                <a:effectLst/>
                <a:latin typeface="inter-regular"/>
              </a:rPr>
              <a:t> unit;  </a:t>
            </a:r>
          </a:p>
          <a:p>
            <a:pPr marL="0" indent="0" algn="just">
              <a:buNone/>
            </a:pPr>
            <a:r>
              <a:rPr lang="en-US" b="0" i="0" dirty="0">
                <a:solidFill>
                  <a:srgbClr val="000000"/>
                </a:solidFill>
                <a:effectLst/>
                <a:latin typeface="inter-regular"/>
              </a:rPr>
              <a:t>unit </a:t>
            </a:r>
            <a:r>
              <a:rPr lang="en-US" b="0" i="0" dirty="0" err="1">
                <a:solidFill>
                  <a:srgbClr val="000000"/>
                </a:solidFill>
                <a:effectLst/>
                <a:latin typeface="inter-regular"/>
              </a:rPr>
              <a:t>i,j</a:t>
            </a:r>
            <a:r>
              <a:rPr lang="en-US" b="0" i="0" dirty="0">
                <a:solidFill>
                  <a:srgbClr val="000000"/>
                </a:solidFill>
                <a:effectLst/>
                <a:latin typeface="inter-regular"/>
              </a:rPr>
              <a:t>;  </a:t>
            </a:r>
          </a:p>
          <a:p>
            <a:pPr marL="0" indent="0" algn="just">
              <a:buNone/>
            </a:pPr>
            <a:r>
              <a:rPr lang="en-US" b="0" i="0" dirty="0" err="1">
                <a:solidFill>
                  <a:srgbClr val="000000"/>
                </a:solidFill>
                <a:effectLst/>
                <a:latin typeface="inter-regular"/>
              </a:rPr>
              <a:t>i</a:t>
            </a:r>
            <a:r>
              <a:rPr lang="en-US" b="0" i="0" dirty="0">
                <a:solidFill>
                  <a:srgbClr val="000000"/>
                </a:solidFill>
                <a:effectLst/>
                <a:latin typeface="inter-regular"/>
              </a:rPr>
              <a:t>=10;  </a:t>
            </a:r>
          </a:p>
          <a:p>
            <a:pPr marL="0" indent="0" algn="just">
              <a:buNone/>
            </a:pPr>
            <a:r>
              <a:rPr lang="en-US" b="0" i="0" dirty="0">
                <a:solidFill>
                  <a:srgbClr val="000000"/>
                </a:solidFill>
                <a:effectLst/>
                <a:latin typeface="inter-regular"/>
              </a:rPr>
              <a:t>j=20;  </a:t>
            </a:r>
          </a:p>
          <a:p>
            <a:pPr marL="0" indent="0" algn="just">
              <a:buNone/>
            </a:pPr>
            <a:r>
              <a:rPr lang="en-US" b="0" i="0" dirty="0" err="1">
                <a:solidFill>
                  <a:srgbClr val="000000"/>
                </a:solidFill>
                <a:effectLst/>
                <a:latin typeface="inter-regular"/>
              </a:rPr>
              <a:t>printf</a:t>
            </a:r>
            <a:r>
              <a:rPr lang="en-US" b="0" i="0" dirty="0">
                <a:solidFill>
                  <a:srgbClr val="000000"/>
                </a:solidFill>
                <a:effectLst/>
                <a:latin typeface="inter-regular"/>
              </a:rPr>
              <a:t>(</a:t>
            </a:r>
            <a:r>
              <a:rPr lang="en-US" b="0" i="0" dirty="0">
                <a:solidFill>
                  <a:srgbClr val="0000FF"/>
                </a:solidFill>
                <a:effectLst/>
                <a:latin typeface="inter-regular"/>
              </a:rPr>
              <a:t>"Value of </a:t>
            </a:r>
            <a:r>
              <a:rPr lang="en-US" b="0" i="0" dirty="0" err="1">
                <a:solidFill>
                  <a:srgbClr val="0000FF"/>
                </a:solidFill>
                <a:effectLst/>
                <a:latin typeface="inter-regular"/>
              </a:rPr>
              <a:t>i</a:t>
            </a:r>
            <a:r>
              <a:rPr lang="en-US" b="0" i="0" dirty="0">
                <a:solidFill>
                  <a:srgbClr val="0000FF"/>
                </a:solidFill>
                <a:effectLst/>
                <a:latin typeface="inter-regular"/>
              </a:rPr>
              <a:t> is :%d"</a:t>
            </a:r>
            <a:r>
              <a:rPr lang="en-US" b="0" i="0" dirty="0">
                <a:solidFill>
                  <a:srgbClr val="000000"/>
                </a:solidFill>
                <a:effectLst/>
                <a:latin typeface="inter-regular"/>
              </a:rPr>
              <a:t>,</a:t>
            </a:r>
            <a:r>
              <a:rPr lang="en-US" b="0" i="0" dirty="0" err="1">
                <a:solidFill>
                  <a:srgbClr val="000000"/>
                </a:solidFill>
                <a:effectLst/>
                <a:latin typeface="inter-regular"/>
              </a:rPr>
              <a:t>i</a:t>
            </a:r>
            <a:r>
              <a:rPr lang="en-US" b="0" i="0" dirty="0">
                <a:solidFill>
                  <a:srgbClr val="000000"/>
                </a:solidFill>
                <a:effectLst/>
                <a:latin typeface="inter-regular"/>
              </a:rPr>
              <a:t>);  </a:t>
            </a:r>
          </a:p>
          <a:p>
            <a:pPr marL="0" indent="0" algn="just">
              <a:buNone/>
            </a:pPr>
            <a:r>
              <a:rPr lang="en-US" b="0" i="0" dirty="0" err="1">
                <a:solidFill>
                  <a:srgbClr val="000000"/>
                </a:solidFill>
                <a:effectLst/>
                <a:latin typeface="inter-regular"/>
              </a:rPr>
              <a:t>printf</a:t>
            </a:r>
            <a:r>
              <a:rPr lang="en-US" b="0" i="0" dirty="0">
                <a:solidFill>
                  <a:srgbClr val="000000"/>
                </a:solidFill>
                <a:effectLst/>
                <a:latin typeface="inter-regular"/>
              </a:rPr>
              <a:t>(</a:t>
            </a:r>
            <a:r>
              <a:rPr lang="en-US" b="0" i="0" dirty="0">
                <a:solidFill>
                  <a:srgbClr val="0000FF"/>
                </a:solidFill>
                <a:effectLst/>
                <a:latin typeface="inter-regular"/>
              </a:rPr>
              <a:t>"\</a:t>
            </a:r>
            <a:r>
              <a:rPr lang="en-US" b="0" i="0" dirty="0" err="1">
                <a:solidFill>
                  <a:srgbClr val="0000FF"/>
                </a:solidFill>
                <a:effectLst/>
                <a:latin typeface="inter-regular"/>
              </a:rPr>
              <a:t>nValue</a:t>
            </a:r>
            <a:r>
              <a:rPr lang="en-US" b="0" i="0" dirty="0">
                <a:solidFill>
                  <a:srgbClr val="0000FF"/>
                </a:solidFill>
                <a:effectLst/>
                <a:latin typeface="inter-regular"/>
              </a:rPr>
              <a:t> of j is :%</a:t>
            </a:r>
            <a:r>
              <a:rPr lang="en-US" b="0" i="0" dirty="0" err="1">
                <a:solidFill>
                  <a:srgbClr val="0000FF"/>
                </a:solidFill>
                <a:effectLst/>
                <a:latin typeface="inter-regular"/>
              </a:rPr>
              <a:t>d"</a:t>
            </a:r>
            <a:r>
              <a:rPr lang="en-US" b="0" i="0" dirty="0" err="1">
                <a:solidFill>
                  <a:srgbClr val="000000"/>
                </a:solidFill>
                <a:effectLst/>
                <a:latin typeface="inter-regular"/>
              </a:rPr>
              <a:t>,j</a:t>
            </a:r>
            <a:r>
              <a:rPr lang="en-US" b="0" i="0" dirty="0">
                <a:solidFill>
                  <a:srgbClr val="000000"/>
                </a:solidFill>
                <a:effectLst/>
                <a:latin typeface="inter-regular"/>
              </a:rPr>
              <a:t>);  </a:t>
            </a:r>
          </a:p>
          <a:p>
            <a:pPr marL="0" indent="0" algn="just">
              <a:buNone/>
            </a:pPr>
            <a:r>
              <a:rPr lang="en-US" b="1" i="0" dirty="0">
                <a:solidFill>
                  <a:srgbClr val="006699"/>
                </a:solidFill>
                <a:effectLst/>
                <a:latin typeface="inter-regular"/>
              </a:rPr>
              <a:t>return</a:t>
            </a:r>
            <a:r>
              <a:rPr lang="en-US" b="0" i="0" dirty="0">
                <a:solidFill>
                  <a:srgbClr val="000000"/>
                </a:solidFill>
                <a:effectLst/>
                <a:latin typeface="inter-regular"/>
              </a:rPr>
              <a:t> 0;  </a:t>
            </a:r>
          </a:p>
          <a:p>
            <a:pPr marL="0" indent="0" algn="just">
              <a:buNone/>
            </a:pPr>
            <a:r>
              <a:rPr lang="en-US" b="0" i="0" dirty="0">
                <a:solidFill>
                  <a:srgbClr val="000000"/>
                </a:solidFill>
                <a:effectLst/>
                <a:latin typeface="inter-regular"/>
              </a:rPr>
              <a:t>}  </a:t>
            </a:r>
          </a:p>
          <a:p>
            <a:endParaRPr lang="en-IN" dirty="0"/>
          </a:p>
        </p:txBody>
      </p:sp>
    </p:spTree>
    <p:extLst>
      <p:ext uri="{BB962C8B-B14F-4D97-AF65-F5344CB8AC3E}">
        <p14:creationId xmlns:p14="http://schemas.microsoft.com/office/powerpoint/2010/main" val="189874221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B0597F-B91A-8A5D-AD00-47D293E11357}"/>
              </a:ext>
            </a:extLst>
          </p:cNvPr>
          <p:cNvSpPr>
            <a:spLocks noGrp="1"/>
          </p:cNvSpPr>
          <p:nvPr>
            <p:ph idx="1"/>
          </p:nvPr>
        </p:nvSpPr>
        <p:spPr>
          <a:xfrm>
            <a:off x="838200" y="494522"/>
            <a:ext cx="10515600" cy="5738424"/>
          </a:xfrm>
        </p:spPr>
        <p:txBody>
          <a:bodyPr/>
          <a:lstStyle/>
          <a:p>
            <a:pPr marL="0" indent="0" algn="just">
              <a:lnSpc>
                <a:spcPct val="150000"/>
              </a:lnSpc>
              <a:buNone/>
            </a:pPr>
            <a:r>
              <a:rPr lang="en-US" b="1" i="0" dirty="0">
                <a:solidFill>
                  <a:srgbClr val="7030A0"/>
                </a:solidFill>
                <a:effectLst/>
              </a:rPr>
              <a:t>C Preprocessor Directives</a:t>
            </a:r>
          </a:p>
          <a:p>
            <a:pPr algn="just">
              <a:lnSpc>
                <a:spcPct val="150000"/>
              </a:lnSpc>
            </a:pPr>
            <a:r>
              <a:rPr lang="en-US" b="0" i="0" dirty="0">
                <a:solidFill>
                  <a:srgbClr val="333333"/>
                </a:solidFill>
                <a:effectLst/>
              </a:rPr>
              <a:t>The C preprocessor is a micro processor that is used by compiler to transform your code before compilation.</a:t>
            </a:r>
          </a:p>
          <a:p>
            <a:pPr algn="just">
              <a:lnSpc>
                <a:spcPct val="150000"/>
              </a:lnSpc>
            </a:pPr>
            <a:r>
              <a:rPr lang="en-US" b="0" i="0" dirty="0">
                <a:solidFill>
                  <a:srgbClr val="333333"/>
                </a:solidFill>
                <a:effectLst/>
              </a:rPr>
              <a:t> It is called micro preprocessor because it allows us to add macros.</a:t>
            </a:r>
          </a:p>
          <a:p>
            <a:endParaRPr lang="en-IN" dirty="0"/>
          </a:p>
        </p:txBody>
      </p:sp>
    </p:spTree>
    <p:extLst>
      <p:ext uri="{BB962C8B-B14F-4D97-AF65-F5344CB8AC3E}">
        <p14:creationId xmlns:p14="http://schemas.microsoft.com/office/powerpoint/2010/main" val="88124260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0515A1-A934-227B-86E1-47C3C18B8F43}"/>
              </a:ext>
            </a:extLst>
          </p:cNvPr>
          <p:cNvSpPr>
            <a:spLocks noGrp="1"/>
          </p:cNvSpPr>
          <p:nvPr>
            <p:ph idx="1"/>
          </p:nvPr>
        </p:nvSpPr>
        <p:spPr>
          <a:xfrm>
            <a:off x="838200" y="569167"/>
            <a:ext cx="10515600" cy="5840963"/>
          </a:xfrm>
        </p:spPr>
        <p:txBody>
          <a:bodyPr>
            <a:normAutofit fontScale="92500" lnSpcReduction="10000"/>
          </a:bodyPr>
          <a:lstStyle/>
          <a:p>
            <a:pPr marL="0" indent="0" algn="just">
              <a:buNone/>
            </a:pPr>
            <a:r>
              <a:rPr lang="en-US" b="1" i="0" dirty="0">
                <a:solidFill>
                  <a:srgbClr val="7030A0"/>
                </a:solidFill>
                <a:effectLst/>
                <a:latin typeface="inter-regular"/>
              </a:rPr>
              <a:t>All preprocessor directives starts with hash # symbol.</a:t>
            </a:r>
          </a:p>
          <a:p>
            <a:pPr algn="just"/>
            <a:r>
              <a:rPr lang="en-US" b="0" i="0" dirty="0">
                <a:solidFill>
                  <a:srgbClr val="333333"/>
                </a:solidFill>
                <a:effectLst/>
                <a:latin typeface="inter-regular"/>
              </a:rPr>
              <a:t>Let's see a list of preprocessor directives.</a:t>
            </a:r>
          </a:p>
          <a:p>
            <a:pPr algn="just">
              <a:buFont typeface="Arial" panose="020B0604020202020204" pitchFamily="34" charset="0"/>
              <a:buChar char="•"/>
            </a:pPr>
            <a:r>
              <a:rPr lang="en-US" b="0" i="0" dirty="0">
                <a:solidFill>
                  <a:srgbClr val="000000"/>
                </a:solidFill>
                <a:effectLst/>
                <a:latin typeface="inter-regular"/>
              </a:rPr>
              <a:t>#include</a:t>
            </a:r>
          </a:p>
          <a:p>
            <a:pPr algn="just">
              <a:buFont typeface="Arial" panose="020B0604020202020204" pitchFamily="34" charset="0"/>
              <a:buChar char="•"/>
            </a:pPr>
            <a:r>
              <a:rPr lang="en-US" b="0" i="0" dirty="0">
                <a:solidFill>
                  <a:srgbClr val="000000"/>
                </a:solidFill>
                <a:effectLst/>
                <a:latin typeface="inter-regular"/>
              </a:rPr>
              <a:t>#define</a:t>
            </a:r>
          </a:p>
          <a:p>
            <a:pPr algn="just">
              <a:buFont typeface="Arial" panose="020B0604020202020204" pitchFamily="34" charset="0"/>
              <a:buChar char="•"/>
            </a:pPr>
            <a:r>
              <a:rPr lang="en-US" b="0" i="0" dirty="0">
                <a:solidFill>
                  <a:srgbClr val="000000"/>
                </a:solidFill>
                <a:effectLst/>
                <a:latin typeface="inter-regular"/>
              </a:rPr>
              <a:t>#undef</a:t>
            </a:r>
          </a:p>
          <a:p>
            <a:pPr algn="just">
              <a:buFont typeface="Arial" panose="020B0604020202020204" pitchFamily="34" charset="0"/>
              <a:buChar char="•"/>
            </a:pPr>
            <a:r>
              <a:rPr lang="en-US" b="0" i="0" dirty="0">
                <a:solidFill>
                  <a:srgbClr val="000000"/>
                </a:solidFill>
                <a:effectLst/>
                <a:latin typeface="inter-regular"/>
              </a:rPr>
              <a:t>#ifdef</a:t>
            </a:r>
          </a:p>
          <a:p>
            <a:pPr algn="just">
              <a:buFont typeface="Arial" panose="020B0604020202020204" pitchFamily="34" charset="0"/>
              <a:buChar char="•"/>
            </a:pPr>
            <a:r>
              <a:rPr lang="en-US" b="0" i="0" dirty="0">
                <a:solidFill>
                  <a:srgbClr val="000000"/>
                </a:solidFill>
                <a:effectLst/>
                <a:latin typeface="inter-regular"/>
              </a:rPr>
              <a:t>#ifndef</a:t>
            </a:r>
          </a:p>
          <a:p>
            <a:pPr algn="just">
              <a:buFont typeface="Arial" panose="020B0604020202020204" pitchFamily="34" charset="0"/>
              <a:buChar char="•"/>
            </a:pPr>
            <a:r>
              <a:rPr lang="en-US" b="0" i="0" dirty="0">
                <a:solidFill>
                  <a:srgbClr val="000000"/>
                </a:solidFill>
                <a:effectLst/>
                <a:latin typeface="inter-regular"/>
              </a:rPr>
              <a:t>#if</a:t>
            </a:r>
          </a:p>
          <a:p>
            <a:pPr algn="just">
              <a:buFont typeface="Arial" panose="020B0604020202020204" pitchFamily="34" charset="0"/>
              <a:buChar char="•"/>
            </a:pPr>
            <a:r>
              <a:rPr lang="en-US" b="0" i="0" dirty="0">
                <a:solidFill>
                  <a:srgbClr val="000000"/>
                </a:solidFill>
                <a:effectLst/>
                <a:latin typeface="inter-regular"/>
              </a:rPr>
              <a:t>#else</a:t>
            </a:r>
          </a:p>
          <a:p>
            <a:pPr algn="just">
              <a:buFont typeface="Arial" panose="020B0604020202020204" pitchFamily="34" charset="0"/>
              <a:buChar char="•"/>
            </a:pPr>
            <a:r>
              <a:rPr lang="en-US" b="0" i="0" dirty="0">
                <a:solidFill>
                  <a:srgbClr val="000000"/>
                </a:solidFill>
                <a:effectLst/>
                <a:latin typeface="inter-regular"/>
              </a:rPr>
              <a:t>#elif</a:t>
            </a:r>
          </a:p>
          <a:p>
            <a:pPr algn="just">
              <a:buFont typeface="Arial" panose="020B0604020202020204" pitchFamily="34" charset="0"/>
              <a:buChar char="•"/>
            </a:pPr>
            <a:r>
              <a:rPr lang="en-US" b="0" i="0" dirty="0">
                <a:solidFill>
                  <a:srgbClr val="000000"/>
                </a:solidFill>
                <a:effectLst/>
                <a:latin typeface="inter-regular"/>
              </a:rPr>
              <a:t>#endif</a:t>
            </a:r>
          </a:p>
          <a:p>
            <a:pPr algn="just">
              <a:buFont typeface="Arial" panose="020B0604020202020204" pitchFamily="34" charset="0"/>
              <a:buChar char="•"/>
            </a:pPr>
            <a:r>
              <a:rPr lang="en-US" b="0" i="0" dirty="0">
                <a:solidFill>
                  <a:srgbClr val="000000"/>
                </a:solidFill>
                <a:effectLst/>
                <a:latin typeface="inter-regular"/>
              </a:rPr>
              <a:t>#error</a:t>
            </a:r>
          </a:p>
          <a:p>
            <a:pPr algn="just">
              <a:buFont typeface="Arial" panose="020B0604020202020204" pitchFamily="34" charset="0"/>
              <a:buChar char="•"/>
            </a:pPr>
            <a:r>
              <a:rPr lang="en-US" b="0" i="0" dirty="0">
                <a:solidFill>
                  <a:srgbClr val="000000"/>
                </a:solidFill>
                <a:effectLst/>
                <a:latin typeface="inter-regular"/>
              </a:rPr>
              <a:t>#pragma</a:t>
            </a:r>
          </a:p>
        </p:txBody>
      </p:sp>
    </p:spTree>
    <p:extLst>
      <p:ext uri="{BB962C8B-B14F-4D97-AF65-F5344CB8AC3E}">
        <p14:creationId xmlns:p14="http://schemas.microsoft.com/office/powerpoint/2010/main" val="105595228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B4A988-0FDF-C500-A2AA-B3119BBEF207}"/>
              </a:ext>
            </a:extLst>
          </p:cNvPr>
          <p:cNvSpPr>
            <a:spLocks noGrp="1"/>
          </p:cNvSpPr>
          <p:nvPr>
            <p:ph idx="1"/>
          </p:nvPr>
        </p:nvSpPr>
        <p:spPr>
          <a:xfrm>
            <a:off x="838200" y="634482"/>
            <a:ext cx="10515600" cy="5542481"/>
          </a:xfrm>
        </p:spPr>
        <p:txBody>
          <a:bodyPr>
            <a:normAutofit fontScale="92500" lnSpcReduction="10000"/>
          </a:bodyPr>
          <a:lstStyle/>
          <a:p>
            <a:pPr marL="0" indent="0">
              <a:lnSpc>
                <a:spcPct val="150000"/>
              </a:lnSpc>
              <a:buNone/>
            </a:pPr>
            <a:r>
              <a:rPr lang="en-IN" b="1" i="0" dirty="0">
                <a:solidFill>
                  <a:srgbClr val="7030A0"/>
                </a:solidFill>
                <a:effectLst/>
              </a:rPr>
              <a:t>#include</a:t>
            </a:r>
            <a:endParaRPr lang="en-US" b="1" i="0" dirty="0">
              <a:solidFill>
                <a:srgbClr val="7030A0"/>
              </a:solidFill>
              <a:effectLst/>
            </a:endParaRPr>
          </a:p>
          <a:p>
            <a:pPr>
              <a:lnSpc>
                <a:spcPct val="150000"/>
              </a:lnSpc>
            </a:pPr>
            <a:r>
              <a:rPr lang="en-US" b="0" i="0" dirty="0">
                <a:solidFill>
                  <a:srgbClr val="333333"/>
                </a:solidFill>
                <a:effectLst/>
              </a:rPr>
              <a:t>the use of #include directive, we provide information to the preprocessor where to look for the header files. There are two variants to use #include directive.</a:t>
            </a:r>
          </a:p>
          <a:p>
            <a:pPr marL="0" indent="0">
              <a:lnSpc>
                <a:spcPct val="150000"/>
              </a:lnSpc>
              <a:buNone/>
            </a:pPr>
            <a:r>
              <a:rPr lang="en-IN" b="1" i="0" dirty="0">
                <a:solidFill>
                  <a:srgbClr val="7030A0"/>
                </a:solidFill>
                <a:effectLst/>
              </a:rPr>
              <a:t>#include directive example</a:t>
            </a:r>
          </a:p>
          <a:p>
            <a:pPr marL="0" indent="0" algn="just">
              <a:buNone/>
            </a:pPr>
            <a:r>
              <a:rPr lang="en-US" b="0" i="0" dirty="0">
                <a:solidFill>
                  <a:srgbClr val="0000FF"/>
                </a:solidFill>
                <a:effectLst/>
              </a:rPr>
              <a:t>#include&lt;stdio.h&gt;</a:t>
            </a:r>
            <a:r>
              <a:rPr lang="en-US" b="0" i="0" dirty="0">
                <a:solidFill>
                  <a:srgbClr val="000000"/>
                </a:solidFill>
                <a:effectLst/>
              </a:rPr>
              <a:t>  </a:t>
            </a:r>
          </a:p>
          <a:p>
            <a:pPr marL="0" indent="0" algn="just">
              <a:buNone/>
            </a:pPr>
            <a:r>
              <a:rPr lang="en-US" b="0" i="0" dirty="0">
                <a:solidFill>
                  <a:srgbClr val="000000"/>
                </a:solidFill>
                <a:effectLst/>
              </a:rPr>
              <a:t> </a:t>
            </a:r>
            <a:r>
              <a:rPr lang="en-US" b="1" i="0" dirty="0">
                <a:solidFill>
                  <a:srgbClr val="2E8B57"/>
                </a:solidFill>
                <a:effectLst/>
              </a:rPr>
              <a:t>int</a:t>
            </a:r>
            <a:r>
              <a:rPr lang="en-US" b="0" i="0" dirty="0">
                <a:solidFill>
                  <a:srgbClr val="000000"/>
                </a:solidFill>
                <a:effectLst/>
              </a:rPr>
              <a:t> main(){    </a:t>
            </a:r>
          </a:p>
          <a:p>
            <a:pPr marL="0" indent="0" algn="just">
              <a:buNone/>
            </a:pPr>
            <a:r>
              <a:rPr lang="en-US" b="0" i="0" dirty="0">
                <a:solidFill>
                  <a:srgbClr val="000000"/>
                </a:solidFill>
                <a:effectLst/>
              </a:rPr>
              <a:t>   </a:t>
            </a:r>
            <a:r>
              <a:rPr lang="en-US" b="0" i="0" dirty="0" err="1">
                <a:solidFill>
                  <a:srgbClr val="000000"/>
                </a:solidFill>
                <a:effectLst/>
              </a:rPr>
              <a:t>printf</a:t>
            </a:r>
            <a:r>
              <a:rPr lang="en-US" b="0" i="0" dirty="0">
                <a:solidFill>
                  <a:srgbClr val="000000"/>
                </a:solidFill>
                <a:effectLst/>
              </a:rPr>
              <a:t>(</a:t>
            </a:r>
            <a:r>
              <a:rPr lang="en-US" b="0" i="0" dirty="0">
                <a:solidFill>
                  <a:srgbClr val="0000FF"/>
                </a:solidFill>
                <a:effectLst/>
              </a:rPr>
              <a:t>"Hello C"</a:t>
            </a:r>
            <a:r>
              <a:rPr lang="en-US" b="0" i="0" dirty="0">
                <a:solidFill>
                  <a:srgbClr val="000000"/>
                </a:solidFill>
                <a:effectLst/>
              </a:rPr>
              <a:t>);      </a:t>
            </a:r>
          </a:p>
          <a:p>
            <a:pPr marL="0" indent="0" algn="just">
              <a:buNone/>
            </a:pPr>
            <a:r>
              <a:rPr lang="en-US" b="0" i="0" dirty="0">
                <a:solidFill>
                  <a:srgbClr val="000000"/>
                </a:solidFill>
                <a:effectLst/>
              </a:rPr>
              <a:t>   </a:t>
            </a:r>
            <a:r>
              <a:rPr lang="en-US" b="1" i="0" dirty="0">
                <a:solidFill>
                  <a:srgbClr val="006699"/>
                </a:solidFill>
                <a:effectLst/>
              </a:rPr>
              <a:t>return</a:t>
            </a:r>
            <a:r>
              <a:rPr lang="en-US" b="0" i="0" dirty="0">
                <a:solidFill>
                  <a:srgbClr val="000000"/>
                </a:solidFill>
                <a:effectLst/>
              </a:rPr>
              <a:t> 0;  </a:t>
            </a:r>
          </a:p>
          <a:p>
            <a:pPr marL="0" indent="0" algn="just">
              <a:buNone/>
            </a:pPr>
            <a:r>
              <a:rPr lang="en-US" b="0" i="0" dirty="0">
                <a:solidFill>
                  <a:srgbClr val="000000"/>
                </a:solidFill>
                <a:effectLst/>
              </a:rPr>
              <a:t> }   </a:t>
            </a:r>
          </a:p>
          <a:p>
            <a:pPr>
              <a:lnSpc>
                <a:spcPct val="150000"/>
              </a:lnSpc>
            </a:pPr>
            <a:endParaRPr lang="en-IN" dirty="0"/>
          </a:p>
        </p:txBody>
      </p:sp>
    </p:spTree>
    <p:extLst>
      <p:ext uri="{BB962C8B-B14F-4D97-AF65-F5344CB8AC3E}">
        <p14:creationId xmlns:p14="http://schemas.microsoft.com/office/powerpoint/2010/main" val="231634894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465749-8A74-2037-5C68-6EC7ED253D45}"/>
              </a:ext>
            </a:extLst>
          </p:cNvPr>
          <p:cNvSpPr>
            <a:spLocks noGrp="1"/>
          </p:cNvSpPr>
          <p:nvPr>
            <p:ph idx="1"/>
          </p:nvPr>
        </p:nvSpPr>
        <p:spPr>
          <a:xfrm>
            <a:off x="838200" y="597159"/>
            <a:ext cx="10515600" cy="5579804"/>
          </a:xfrm>
        </p:spPr>
        <p:txBody>
          <a:bodyPr/>
          <a:lstStyle/>
          <a:p>
            <a:pPr marL="0" indent="0" algn="just">
              <a:buNone/>
            </a:pPr>
            <a:r>
              <a:rPr lang="en-US" b="1" i="0" dirty="0">
                <a:solidFill>
                  <a:srgbClr val="7030A0"/>
                </a:solidFill>
                <a:effectLst/>
              </a:rPr>
              <a:t> #define</a:t>
            </a:r>
          </a:p>
          <a:p>
            <a:pPr algn="just"/>
            <a:r>
              <a:rPr lang="en-US" b="0" i="0" dirty="0">
                <a:solidFill>
                  <a:srgbClr val="333333"/>
                </a:solidFill>
                <a:effectLst/>
              </a:rPr>
              <a:t>The #define preprocessor directive is used to define constant or micro substitution. It can use any basic data type.</a:t>
            </a:r>
          </a:p>
          <a:p>
            <a:pPr algn="just"/>
            <a:r>
              <a:rPr lang="en-US" b="0" i="0" dirty="0">
                <a:solidFill>
                  <a:srgbClr val="333333"/>
                </a:solidFill>
                <a:effectLst/>
              </a:rPr>
              <a:t>Syntax:</a:t>
            </a:r>
          </a:p>
          <a:p>
            <a:pPr marL="0" indent="0" algn="just">
              <a:buNone/>
            </a:pPr>
            <a:r>
              <a:rPr lang="en-US" b="0" i="0" dirty="0">
                <a:solidFill>
                  <a:srgbClr val="0000FF"/>
                </a:solidFill>
                <a:effectLst/>
              </a:rPr>
              <a:t>#define token value</a:t>
            </a:r>
            <a:r>
              <a:rPr lang="en-US" b="0" i="0" dirty="0">
                <a:solidFill>
                  <a:srgbClr val="000000"/>
                </a:solidFill>
                <a:effectLst/>
              </a:rPr>
              <a:t>  </a:t>
            </a:r>
          </a:p>
          <a:p>
            <a:pPr algn="just"/>
            <a:r>
              <a:rPr lang="en-US" b="0" i="0" dirty="0">
                <a:solidFill>
                  <a:srgbClr val="333333"/>
                </a:solidFill>
                <a:effectLst/>
              </a:rPr>
              <a:t>Let's see an example of #define to define a constant.</a:t>
            </a:r>
          </a:p>
          <a:p>
            <a:pPr marL="0" indent="0" algn="just">
              <a:buNone/>
            </a:pPr>
            <a:r>
              <a:rPr lang="en-US" b="0" i="0" dirty="0">
                <a:solidFill>
                  <a:srgbClr val="0000FF"/>
                </a:solidFill>
                <a:effectLst/>
              </a:rPr>
              <a:t>#include &lt;</a:t>
            </a:r>
            <a:r>
              <a:rPr lang="en-US" b="0" i="0" dirty="0" err="1">
                <a:solidFill>
                  <a:srgbClr val="0000FF"/>
                </a:solidFill>
                <a:effectLst/>
              </a:rPr>
              <a:t>stdio.h</a:t>
            </a:r>
            <a:r>
              <a:rPr lang="en-US" b="0" i="0" dirty="0">
                <a:solidFill>
                  <a:srgbClr val="0000FF"/>
                </a:solidFill>
                <a:effectLst/>
              </a:rPr>
              <a:t>&gt;</a:t>
            </a:r>
            <a:r>
              <a:rPr lang="en-US" b="0" i="0" dirty="0">
                <a:solidFill>
                  <a:srgbClr val="000000"/>
                </a:solidFill>
                <a:effectLst/>
              </a:rPr>
              <a:t>  </a:t>
            </a:r>
          </a:p>
          <a:p>
            <a:pPr marL="0" indent="0" algn="just">
              <a:buNone/>
            </a:pPr>
            <a:r>
              <a:rPr lang="en-US" b="0" i="0" dirty="0">
                <a:solidFill>
                  <a:srgbClr val="0000FF"/>
                </a:solidFill>
                <a:effectLst/>
              </a:rPr>
              <a:t>#define PI 3.14</a:t>
            </a:r>
            <a:r>
              <a:rPr lang="en-US" b="0" i="0" dirty="0">
                <a:solidFill>
                  <a:srgbClr val="000000"/>
                </a:solidFill>
                <a:effectLst/>
              </a:rPr>
              <a:t>  </a:t>
            </a:r>
          </a:p>
          <a:p>
            <a:pPr marL="0" indent="0" algn="just">
              <a:buNone/>
            </a:pPr>
            <a:r>
              <a:rPr lang="en-US" b="0" i="0" dirty="0">
                <a:solidFill>
                  <a:srgbClr val="000000"/>
                </a:solidFill>
                <a:effectLst/>
              </a:rPr>
              <a:t>main() {  </a:t>
            </a:r>
          </a:p>
          <a:p>
            <a:pPr marL="0" indent="0" algn="just">
              <a:buNone/>
            </a:pPr>
            <a:r>
              <a:rPr lang="en-US" b="0" i="0" dirty="0">
                <a:solidFill>
                  <a:srgbClr val="000000"/>
                </a:solidFill>
                <a:effectLst/>
              </a:rPr>
              <a:t>   </a:t>
            </a:r>
            <a:r>
              <a:rPr lang="en-US" b="0" i="0" dirty="0" err="1">
                <a:solidFill>
                  <a:srgbClr val="000000"/>
                </a:solidFill>
                <a:effectLst/>
              </a:rPr>
              <a:t>printf</a:t>
            </a:r>
            <a:r>
              <a:rPr lang="en-US" b="0" i="0" dirty="0">
                <a:solidFill>
                  <a:srgbClr val="000000"/>
                </a:solidFill>
                <a:effectLst/>
              </a:rPr>
              <a:t>(</a:t>
            </a:r>
            <a:r>
              <a:rPr lang="en-US" b="0" i="0" dirty="0">
                <a:solidFill>
                  <a:srgbClr val="0000FF"/>
                </a:solidFill>
                <a:effectLst/>
              </a:rPr>
              <a:t>"%</a:t>
            </a:r>
            <a:r>
              <a:rPr lang="en-US" b="0" i="0" dirty="0" err="1">
                <a:solidFill>
                  <a:srgbClr val="0000FF"/>
                </a:solidFill>
                <a:effectLst/>
              </a:rPr>
              <a:t>f"</a:t>
            </a:r>
            <a:r>
              <a:rPr lang="en-US" b="0" i="0" dirty="0" err="1">
                <a:solidFill>
                  <a:srgbClr val="000000"/>
                </a:solidFill>
                <a:effectLst/>
              </a:rPr>
              <a:t>,PI</a:t>
            </a:r>
            <a:r>
              <a:rPr lang="en-US" b="0" i="0" dirty="0">
                <a:solidFill>
                  <a:srgbClr val="000000"/>
                </a:solidFill>
                <a:effectLst/>
              </a:rPr>
              <a:t>);  </a:t>
            </a:r>
          </a:p>
          <a:p>
            <a:pPr marL="0" indent="0" algn="just">
              <a:buNone/>
            </a:pPr>
            <a:r>
              <a:rPr lang="en-US" b="0" i="0" dirty="0">
                <a:solidFill>
                  <a:srgbClr val="000000"/>
                </a:solidFill>
                <a:effectLst/>
              </a:rPr>
              <a:t>}  </a:t>
            </a:r>
          </a:p>
          <a:p>
            <a:endParaRPr lang="en-IN" dirty="0"/>
          </a:p>
        </p:txBody>
      </p:sp>
    </p:spTree>
    <p:extLst>
      <p:ext uri="{BB962C8B-B14F-4D97-AF65-F5344CB8AC3E}">
        <p14:creationId xmlns:p14="http://schemas.microsoft.com/office/powerpoint/2010/main" val="68169170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5A59AB-1D77-FA3C-9529-6565E9767665}"/>
              </a:ext>
            </a:extLst>
          </p:cNvPr>
          <p:cNvSpPr>
            <a:spLocks noGrp="1"/>
          </p:cNvSpPr>
          <p:nvPr>
            <p:ph idx="1"/>
          </p:nvPr>
        </p:nvSpPr>
        <p:spPr>
          <a:xfrm>
            <a:off x="838200" y="391886"/>
            <a:ext cx="10515600" cy="5785077"/>
          </a:xfrm>
        </p:spPr>
        <p:txBody>
          <a:bodyPr>
            <a:normAutofit lnSpcReduction="10000"/>
          </a:bodyPr>
          <a:lstStyle/>
          <a:p>
            <a:pPr marL="0" indent="0" algn="just">
              <a:buNone/>
            </a:pPr>
            <a:r>
              <a:rPr lang="en-IN" b="1" i="0" dirty="0">
                <a:solidFill>
                  <a:srgbClr val="7030A0"/>
                </a:solidFill>
                <a:effectLst/>
              </a:rPr>
              <a:t>#undef</a:t>
            </a:r>
          </a:p>
          <a:p>
            <a:pPr algn="just"/>
            <a:r>
              <a:rPr lang="en-IN" b="0" i="0" dirty="0">
                <a:solidFill>
                  <a:srgbClr val="333333"/>
                </a:solidFill>
                <a:effectLst/>
              </a:rPr>
              <a:t>The #undef </a:t>
            </a:r>
            <a:r>
              <a:rPr lang="en-IN" b="0" i="0" dirty="0" err="1">
                <a:solidFill>
                  <a:srgbClr val="333333"/>
                </a:solidFill>
                <a:effectLst/>
              </a:rPr>
              <a:t>preprocessor</a:t>
            </a:r>
            <a:r>
              <a:rPr lang="en-IN" b="0" i="0" dirty="0">
                <a:solidFill>
                  <a:srgbClr val="333333"/>
                </a:solidFill>
                <a:effectLst/>
              </a:rPr>
              <a:t> directive is used to undefine the constant or macro defined by #define.</a:t>
            </a:r>
          </a:p>
          <a:p>
            <a:pPr algn="just"/>
            <a:r>
              <a:rPr lang="en-IN" b="0" i="0" dirty="0">
                <a:solidFill>
                  <a:srgbClr val="333333"/>
                </a:solidFill>
                <a:effectLst/>
              </a:rPr>
              <a:t>Syntax:</a:t>
            </a:r>
          </a:p>
          <a:p>
            <a:pPr marL="0" indent="0" algn="just">
              <a:buNone/>
            </a:pPr>
            <a:r>
              <a:rPr lang="en-IN" b="0" i="0" dirty="0">
                <a:solidFill>
                  <a:srgbClr val="0000FF"/>
                </a:solidFill>
                <a:effectLst/>
              </a:rPr>
              <a:t>#undef token</a:t>
            </a:r>
            <a:r>
              <a:rPr lang="en-IN" b="0" i="0" dirty="0">
                <a:solidFill>
                  <a:srgbClr val="000000"/>
                </a:solidFill>
                <a:effectLst/>
              </a:rPr>
              <a:t>  </a:t>
            </a:r>
          </a:p>
          <a:p>
            <a:pPr algn="just"/>
            <a:r>
              <a:rPr lang="en-IN" b="0" i="0" dirty="0">
                <a:solidFill>
                  <a:srgbClr val="333333"/>
                </a:solidFill>
                <a:effectLst/>
              </a:rPr>
              <a:t>Let's see a simple example to define and undefine a constant.</a:t>
            </a:r>
          </a:p>
          <a:p>
            <a:pPr marL="0" indent="0" algn="just">
              <a:buNone/>
            </a:pPr>
            <a:r>
              <a:rPr lang="en-IN" b="0" i="0" dirty="0">
                <a:solidFill>
                  <a:srgbClr val="0000FF"/>
                </a:solidFill>
                <a:effectLst/>
              </a:rPr>
              <a:t>#include &lt;</a:t>
            </a:r>
            <a:r>
              <a:rPr lang="en-IN" b="0" i="0" dirty="0" err="1">
                <a:solidFill>
                  <a:srgbClr val="0000FF"/>
                </a:solidFill>
                <a:effectLst/>
              </a:rPr>
              <a:t>stdio.h</a:t>
            </a:r>
            <a:r>
              <a:rPr lang="en-IN" b="0" i="0" dirty="0">
                <a:solidFill>
                  <a:srgbClr val="0000FF"/>
                </a:solidFill>
                <a:effectLst/>
              </a:rPr>
              <a:t>&gt;</a:t>
            </a:r>
            <a:r>
              <a:rPr lang="en-IN" b="0" i="0" dirty="0">
                <a:solidFill>
                  <a:srgbClr val="000000"/>
                </a:solidFill>
                <a:effectLst/>
              </a:rPr>
              <a:t>  </a:t>
            </a:r>
          </a:p>
          <a:p>
            <a:pPr marL="0" indent="0" algn="just">
              <a:buNone/>
            </a:pPr>
            <a:r>
              <a:rPr lang="en-IN" b="0" i="0" dirty="0">
                <a:solidFill>
                  <a:srgbClr val="0000FF"/>
                </a:solidFill>
                <a:effectLst/>
              </a:rPr>
              <a:t>#define PI 3.14</a:t>
            </a:r>
            <a:r>
              <a:rPr lang="en-IN" b="0" i="0" dirty="0">
                <a:solidFill>
                  <a:srgbClr val="000000"/>
                </a:solidFill>
                <a:effectLst/>
              </a:rPr>
              <a:t>  </a:t>
            </a:r>
          </a:p>
          <a:p>
            <a:pPr marL="0" indent="0" algn="just">
              <a:buNone/>
            </a:pPr>
            <a:r>
              <a:rPr lang="en-IN" b="0" i="0" dirty="0">
                <a:solidFill>
                  <a:srgbClr val="0000FF"/>
                </a:solidFill>
                <a:effectLst/>
              </a:rPr>
              <a:t>#undef PI</a:t>
            </a:r>
            <a:r>
              <a:rPr lang="en-IN" b="0" i="0" dirty="0">
                <a:solidFill>
                  <a:srgbClr val="000000"/>
                </a:solidFill>
                <a:effectLst/>
              </a:rPr>
              <a:t>  </a:t>
            </a:r>
          </a:p>
          <a:p>
            <a:pPr marL="0" indent="0" algn="just">
              <a:buNone/>
            </a:pPr>
            <a:r>
              <a:rPr lang="en-IN" b="0" i="0" dirty="0">
                <a:solidFill>
                  <a:srgbClr val="000000"/>
                </a:solidFill>
                <a:effectLst/>
              </a:rPr>
              <a:t>main() {  </a:t>
            </a:r>
          </a:p>
          <a:p>
            <a:pPr marL="0" indent="0" algn="just">
              <a:buNone/>
            </a:pPr>
            <a:r>
              <a:rPr lang="en-IN" b="0" i="0" dirty="0">
                <a:solidFill>
                  <a:srgbClr val="000000"/>
                </a:solidFill>
                <a:effectLst/>
              </a:rPr>
              <a:t>   </a:t>
            </a:r>
            <a:r>
              <a:rPr lang="en-IN" b="0" i="0" dirty="0" err="1">
                <a:solidFill>
                  <a:srgbClr val="000000"/>
                </a:solidFill>
                <a:effectLst/>
              </a:rPr>
              <a:t>printf</a:t>
            </a:r>
            <a:r>
              <a:rPr lang="en-IN" b="0" i="0" dirty="0">
                <a:solidFill>
                  <a:srgbClr val="000000"/>
                </a:solidFill>
                <a:effectLst/>
              </a:rPr>
              <a:t>(</a:t>
            </a:r>
            <a:r>
              <a:rPr lang="en-IN" b="0" i="0" dirty="0">
                <a:solidFill>
                  <a:srgbClr val="0000FF"/>
                </a:solidFill>
                <a:effectLst/>
              </a:rPr>
              <a:t>"%</a:t>
            </a:r>
            <a:r>
              <a:rPr lang="en-IN" b="0" i="0" dirty="0" err="1">
                <a:solidFill>
                  <a:srgbClr val="0000FF"/>
                </a:solidFill>
                <a:effectLst/>
              </a:rPr>
              <a:t>f"</a:t>
            </a:r>
            <a:r>
              <a:rPr lang="en-IN" b="0" i="0" dirty="0" err="1">
                <a:solidFill>
                  <a:srgbClr val="000000"/>
                </a:solidFill>
                <a:effectLst/>
              </a:rPr>
              <a:t>,PI</a:t>
            </a:r>
            <a:r>
              <a:rPr lang="en-IN" b="0" i="0" dirty="0">
                <a:solidFill>
                  <a:srgbClr val="000000"/>
                </a:solidFill>
                <a:effectLst/>
              </a:rPr>
              <a:t>);  </a:t>
            </a:r>
          </a:p>
          <a:p>
            <a:pPr marL="0" indent="0" algn="just">
              <a:buNone/>
            </a:pPr>
            <a:r>
              <a:rPr lang="en-IN" b="0" i="0" dirty="0">
                <a:solidFill>
                  <a:srgbClr val="000000"/>
                </a:solidFill>
                <a:effectLst/>
              </a:rPr>
              <a:t>}  </a:t>
            </a:r>
          </a:p>
          <a:p>
            <a:endParaRPr lang="en-IN" dirty="0"/>
          </a:p>
        </p:txBody>
      </p:sp>
    </p:spTree>
    <p:extLst>
      <p:ext uri="{BB962C8B-B14F-4D97-AF65-F5344CB8AC3E}">
        <p14:creationId xmlns:p14="http://schemas.microsoft.com/office/powerpoint/2010/main" val="318620280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96822D-5A2D-BCC5-6D2A-C1A7885C4D94}"/>
              </a:ext>
            </a:extLst>
          </p:cNvPr>
          <p:cNvSpPr>
            <a:spLocks noGrp="1"/>
          </p:cNvSpPr>
          <p:nvPr>
            <p:ph idx="1"/>
          </p:nvPr>
        </p:nvSpPr>
        <p:spPr>
          <a:xfrm>
            <a:off x="838200" y="615820"/>
            <a:ext cx="10515600" cy="5561143"/>
          </a:xfrm>
        </p:spPr>
        <p:txBody>
          <a:bodyPr/>
          <a:lstStyle/>
          <a:p>
            <a:pPr marL="0" indent="0" algn="just">
              <a:buNone/>
            </a:pPr>
            <a:r>
              <a:rPr lang="en-US" b="0" i="0" dirty="0">
                <a:solidFill>
                  <a:srgbClr val="610B38"/>
                </a:solidFill>
                <a:effectLst/>
                <a:latin typeface="erdana"/>
              </a:rPr>
              <a:t> </a:t>
            </a:r>
            <a:r>
              <a:rPr lang="en-US" b="1" i="0" dirty="0">
                <a:solidFill>
                  <a:srgbClr val="7030A0"/>
                </a:solidFill>
                <a:effectLst/>
              </a:rPr>
              <a:t>#ifdef</a:t>
            </a:r>
          </a:p>
          <a:p>
            <a:pPr algn="just"/>
            <a:r>
              <a:rPr lang="en-US" b="0" i="0" dirty="0">
                <a:solidFill>
                  <a:srgbClr val="333333"/>
                </a:solidFill>
                <a:effectLst/>
              </a:rPr>
              <a:t>The #ifdef preprocessor directive checks if macro is defined by #define. If yes, it executes the code otherwise #else code is executed, if present.</a:t>
            </a:r>
          </a:p>
          <a:p>
            <a:pPr algn="just"/>
            <a:r>
              <a:rPr lang="en-US" b="0" i="0" dirty="0">
                <a:solidFill>
                  <a:srgbClr val="333333"/>
                </a:solidFill>
                <a:effectLst/>
              </a:rPr>
              <a:t>Syntax:</a:t>
            </a:r>
          </a:p>
          <a:p>
            <a:pPr marL="0" indent="0" algn="just">
              <a:buNone/>
            </a:pPr>
            <a:r>
              <a:rPr lang="en-US" b="0" i="0" dirty="0">
                <a:solidFill>
                  <a:srgbClr val="0000FF"/>
                </a:solidFill>
                <a:effectLst/>
              </a:rPr>
              <a:t>#ifdef MACRO</a:t>
            </a:r>
            <a:r>
              <a:rPr lang="en-US" b="0" i="0" dirty="0">
                <a:solidFill>
                  <a:srgbClr val="000000"/>
                </a:solidFill>
                <a:effectLst/>
              </a:rPr>
              <a:t>  </a:t>
            </a:r>
          </a:p>
          <a:p>
            <a:pPr marL="0" indent="0" algn="just">
              <a:buNone/>
            </a:pPr>
            <a:r>
              <a:rPr lang="en-US" b="0" i="0" dirty="0">
                <a:solidFill>
                  <a:srgbClr val="008200"/>
                </a:solidFill>
                <a:effectLst/>
              </a:rPr>
              <a:t>//code</a:t>
            </a:r>
            <a:r>
              <a:rPr lang="en-US" b="0" i="0" dirty="0">
                <a:solidFill>
                  <a:srgbClr val="000000"/>
                </a:solidFill>
                <a:effectLst/>
              </a:rPr>
              <a:t>  </a:t>
            </a:r>
          </a:p>
          <a:p>
            <a:pPr marL="0" indent="0" algn="just">
              <a:buNone/>
            </a:pPr>
            <a:r>
              <a:rPr lang="en-US" b="0" i="0" dirty="0">
                <a:solidFill>
                  <a:srgbClr val="0000FF"/>
                </a:solidFill>
                <a:effectLst/>
              </a:rPr>
              <a:t>#endif</a:t>
            </a:r>
            <a:r>
              <a:rPr lang="en-US" b="0" i="0" dirty="0">
                <a:solidFill>
                  <a:srgbClr val="000000"/>
                </a:solidFill>
                <a:effectLst/>
              </a:rPr>
              <a:t> </a:t>
            </a:r>
          </a:p>
          <a:p>
            <a:endParaRPr lang="en-IN" dirty="0"/>
          </a:p>
        </p:txBody>
      </p:sp>
    </p:spTree>
    <p:extLst>
      <p:ext uri="{BB962C8B-B14F-4D97-AF65-F5344CB8AC3E}">
        <p14:creationId xmlns:p14="http://schemas.microsoft.com/office/powerpoint/2010/main" val="12391062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2129</TotalTime>
  <Words>4928</Words>
  <Application>Microsoft Office PowerPoint</Application>
  <PresentationFormat>Widescreen</PresentationFormat>
  <Paragraphs>749</Paragraphs>
  <Slides>113</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113</vt:i4>
      </vt:variant>
    </vt:vector>
  </HeadingPairs>
  <TitlesOfParts>
    <vt:vector size="126" baseType="lpstr">
      <vt:lpstr>Arial</vt:lpstr>
      <vt:lpstr>Arial</vt:lpstr>
      <vt:lpstr>Arial MT</vt:lpstr>
      <vt:lpstr>Calibri</vt:lpstr>
      <vt:lpstr>Calibri Light</vt:lpstr>
      <vt:lpstr>Carlito</vt:lpstr>
      <vt:lpstr>Consolas</vt:lpstr>
      <vt:lpstr>erdana</vt:lpstr>
      <vt:lpstr>Google Sans</vt:lpstr>
      <vt:lpstr>inter-bold</vt:lpstr>
      <vt:lpstr>inter-regular</vt:lpstr>
      <vt:lpstr>Wingdings</vt:lpstr>
      <vt:lpstr>Office Theme</vt:lpstr>
      <vt:lpstr>C programming</vt:lpstr>
      <vt:lpstr>PROGRAMMING LANGUAGE</vt:lpstr>
      <vt:lpstr>PowerPoint Presentation</vt:lpstr>
      <vt:lpstr>Types of languages: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Control statements</vt:lpstr>
      <vt:lpstr>Flow  of control</vt:lpstr>
      <vt:lpstr>Control statements </vt:lpstr>
      <vt:lpstr>PowerPoint Presentation</vt:lpstr>
      <vt:lpstr>PowerPoint Presentation</vt:lpstr>
      <vt:lpstr>PowerPoint Presentation</vt:lpstr>
      <vt:lpstr>PowerPoint Presentation</vt:lpstr>
      <vt:lpstr>PowerPoint Presentation</vt:lpstr>
      <vt:lpstr>Loop/Iterative/Repeatation statements</vt:lpstr>
      <vt:lpstr>Types of loops</vt:lpstr>
      <vt:lpstr>PowerPoint Presentation</vt:lpstr>
      <vt:lpstr>PowerPoint Presentation</vt:lpstr>
      <vt:lpstr>PowerPoint Presentation</vt:lpstr>
      <vt:lpstr>PowerPoint Presentation</vt:lpstr>
      <vt:lpstr>PowerPoint Presentation</vt:lpstr>
      <vt:lpstr>Transfer or Jumping Statements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Functions in c</vt:lpstr>
      <vt:lpstr>What is Functions?</vt:lpstr>
      <vt:lpstr>Why Functions?</vt:lpstr>
      <vt:lpstr>PowerPoint Presentation</vt:lpstr>
      <vt:lpstr>Types of Functions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else{          printf("The strings are not equal\n");     }      printf("The reversed string is..%s\n",strrev(s));     printf("The lower string is %s\n",strlwr(s));     printf("The upper string is %s\n",strupr(s));     char *sub;     char a[25]="I love my family";     sub=strstr(a,"my");     printf("the sub string is..%s",sub); }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Structure in 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programming</dc:title>
  <dc:creator>maheswari janarthanan</dc:creator>
  <cp:lastModifiedBy>Sasikumar Janarthanan</cp:lastModifiedBy>
  <cp:revision>52</cp:revision>
  <dcterms:created xsi:type="dcterms:W3CDTF">2023-04-15T12:28:06Z</dcterms:created>
  <dcterms:modified xsi:type="dcterms:W3CDTF">2026-04-24T08:04:52Z</dcterms:modified>
</cp:coreProperties>
</file>